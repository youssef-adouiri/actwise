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90b5a34-cff4-61e3-9a8d-485c7f21be17}">
          <p14:sldIdLst>
            <p14:sldId id="256"/>
            <p14:sldId id="257"/>
            <p14:sldId id="258"/>
          </p14:sldIdLst>
        </p14:section>
        <p14:section name="Data" id="{9bf2c686-58a5-07ae-dc9d-b2c324847cfd}">
          <p14:sldIdLst>
            <p14:sldId id="259"/>
            <p14:sldId id="260"/>
            <p14:sldId id="261"/>
            <p14:sldId id="262"/>
          </p14:sldIdLst>
        </p14:section>
        <p14:section name="Retrieval and generation" id="{7d605abd-5a4e-028c-fa5e-aa8bc0ab4163}">
          <p14:sldIdLst>
            <p14:sldId id="263"/>
            <p14:sldId id="264"/>
            <p14:sldId id="265"/>
            <p14:sldId id="266"/>
            <p14:sldId id="267"/>
          </p14:sldIdLst>
        </p14:section>
        <p14:section name="Serving" id="{292154ca-3535-499c-47ad-268d60636152}">
          <p14:sldIdLst>
            <p14:sldId id="268"/>
          </p14:sldIdLst>
        </p14:section>
        <p14:section name="Quality" id="{5e08f0d8-79de-acd6-025e-118742a62097}">
          <p14:sldIdLst>
            <p14:sldId id="269"/>
            <p14:sldId id="270"/>
            <p14:sldId id="271"/>
          </p14:sldIdLst>
        </p14:section>
        <p14:section name="Operations" id="{a58d6a12-cb75-1f84-5f10-0f1c87187faf}">
          <p14:sldIdLst>
            <p14:sldId id="272"/>
            <p14:sldId id="273"/>
            <p14:sldId id="274"/>
          </p14:sldIdLst>
        </p14:section>
        <p14:section name="Walkthroughs" id="{c3306e1c-212d-2bcc-67a0-e91d0fb21b45}">
          <p14:sldIdLst>
            <p14:sldId id="275"/>
            <p14:sldId id="276"/>
          </p14:sldIdLst>
        </p14:section>
        <p14:section name="Status and glossary" id="{cd6a9646-a181-60c8-44b9-5ae18bcd7344}">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ActWise from raw legal text to a cited answer, one stage at a time. Each stage slide has a diagram, what it does, and why it is built that way. Green boxes are built today; dashed boxes are planned. It is the companion to the project review deck, which tracks progress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The top lane runs offline, once per version of the law: it turns EUR-Lex pages into searchable indexes. The middle lane runs for each request: a client calls the API, which retrieves passages and asks an LLM, then checks every citation. The bottom lane holds what keeps the system honest and alive: evaluation, the fine-tuned embedder, deployment and observability. Gold numbers point to the stage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use ActWise. Asking a question runs a fixed pipeline: one retrieval, one LLM call, one citation check, so cost and latency are predictable. Classifying a system runs an agent: the model decides what to search for, possibly several times, then submits a structured verdict that is validated before anyone sees it. Both paths reuse the same retriever, gateway and ID scheme, so improvements to one lift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is built and tested. Four pages are saved from EUR-Lex and committed, so the pipeline is reproducible offline. html_to_text strips markup. normalise_lines repairs the places where EUR-Lex splits a marker from its text. parse_regulation reads lines, not CSS classes, so it survives markup changes. chunk_units makes one chunk per paragraph and cuts paragraphs longer than 150 words into overlapping windows. The corpus test checks every official count in both languages on each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the repo. On the left, the lines html_to_text produces for Article 6: note that point markers like (a) sit on their own line. The parser groups lines into a unit with numbered paragraphs; points stay inside their paragraph. Paragraph 2 becomes one chunk with the ID AIA-Art6-2. The French page produces a chunk with the same ID, stored under the key AIA-Art6-2@fr.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 is the contract between modules. It encodes the law, the unit, the number, the paragraph and the window part, and nothing else. Because it has no language, a French question is scored against the same gold article as an English one. Each module derives what it needs from it: the article level for metrics, a storage key with the language for databases, a human label for the UI, and the bracketed form the model must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chunk's embed_text, the header plus the text, is embedded. Locally that is BGE-M3, a strong multilingual model. In the cloud it is our fine-tuned MiniLM exported to int8 ONNX, so the container needs no PyTorch. Vectors go to a Qdrant collection, and a NumPy copy ships inside the image so search keeps working if the free Qdrant cluster is suspended. BM25 is built in memory from the same text, with no extra service. Point IDs are a UUID of the storage key, so re-indexing overwrites rather than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query goes two ways at once. The dense side embeds it and finds passages with similar meaning, which handles paraphrases and French wording. The sparse side, BM25, rewards exact words, which matters for references like Annex III or Article 50. Reciprocal rank fusion merges the two ranked lists using only ranks, so there are no weights to tune. A cross-encoder reranker can reorder the top 20; it is measured as an ablation first because it costs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talks to a model goes through one chat function with a provider-neutral message format. The outer layer is a disk cache: re-running an evaluation costs zero API calls. Inside, a fallback chain tries Gemini first, then Groq, then a local Ollama model. Each remote provider is wrapped in a retry layer that waits and retries on rate limits. Gemini, Groq and Ollama all speak the OpenAI protocol, so one adapter serves three. The Anthropic adapter is written and tested with a fake client, and runs live only with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first passes cheap guardrails: personal data is redacted before anything is logged, and obvious injections are flagged. Retrieval returns five passages, each tagged with its ID in the prompt. The model answers at temperature zero and must cite an ID after each rule, or reply NOT_COVERED. A NOT_COVERED reply becomes a polite refusal in the user's language. Otherwise every cited ID is checked against the retrieved set; invented ones are stripped as exact tokens and logged, and valid ones become human-readable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is a tool-calling loop. The model gets the system description and an ordered list of checks. It can call search_corpus as often as it likes; every returned ID is added to a seen set. It finishes only by calling submit_classification. The arguments are validated against a Pydantic schema, and every cited ID must be one it actually retrieved. If not, the error goes back to the model as a tool result and it tries again. A plain-text reply gets one nudge, and a step budget of eight stops endless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encodes the legal order of analysis. First, is it a prohibited practice under Article 5, like social scoring or emotion recognition at work? If not, is it high risk, either as a safety component of a regulated product under Annex I, or as a listed use case in Annex III, like ranking job applicants? If not, does Article 50 impose transparency duties, as for chatbots or generated images? Otherwise it is minimal risk. If the description lacks the facts a rule needs, the answer is needs_more_info with follow-up questions. The JSON on the right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service exposes five endpoints. Only ask, classify and upload call an LLM, and those sit behind a daily cap that returns 429 after 200 requests, which keeps a public demo inside free quotas. Search makes no LLM call, so load tests use it. The Streamlit UI, the Slack command and the MCP server are thin clients of this API. Each classification appends a row to a Google Sheets register with a hash of the description, never the text itself, and a Sheets outage never breaks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starts by splitting articles, not chunks, into train, dev and test, so neighbouring text cannot leak from training into the reported numbers. The golden set mixes hand-written and reviewed synthetic questions, a third in French. One runner scores retrieval with no LLM call, cheap enough for every pull request, and generation with an LLM judge, run weekly in slices from the cache. The judge is trusted only after it agrees with my own labels: Cohen's kappa of 0.6 or more, otherwise the judge prompt is rewritten.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the review deck tracks. Retrieval metrics are computed at article level, so five windows of one article count as one hit. Faithfulness and citation precision come from the calibrated judge. Invented citations shown to users is a hard guardrail with a target of zero. Classifier accuracy is measured on forty scenarios whose labels I checked against the text, with ambiguous cases scored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fine-tuning stage teaches a small multilingual model what compliance questions about these laws look like. An LLM writes one English and one French question for each sampled train chunk; I review a sample and drop bad pairs. A leakage test guarantees no dev or test article is in the pairs. Training uses the multiple negatives ranking loss, where every other passage in the batch is a negative, so no hard-negative mining is needed. The model is scored with our own harness against the base model, then exported to ONNX and quantised to int8; the quantised model must lose one point of Recall@5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runs on every push: ruff, mypy and pytest with an 80 percent coverage gate. Pull requests that touch retrieval also run the retrieval evaluation and fail on a two-point drop. When main is green, the deploy workflow authenticates to Google Cloud with workload identity federation, so no key file sits in GitHub. It builds a small image without PyTorch, pushes it to Artifact Registry and deploys it with no traffic under a candidate tag. Only if the smoke test passes on the candidate URL does traffic move; otherwise the old revision keeps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leaves two records. A Langfuse trace shows each span: guardrails, retrieval and each LLM call with its tokens and latency. A JSON line on stdout becomes a structured Cloud Logging entry with the same headline fields. From token counts and a provider's public price we compute what a request would cost on a paid plan, even though the bill is zero. Personal data is redacted before anything is traced, and classify inputs are not captured at all. The timings shown are illustrative, based on the example log line in the project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map for the whole pipeline. Free tiers run out, clusters get suspended, models invent things and users try injections. For each case the design names what takes over and what the user sees, and a test pins the behaviour. Three of these become live drills before release: exhausting the cap, removing the Gemini key, and stopping Qdrant.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Q&amp;A path as one story. A French question arrives with lang set to fr. Guards check the key and the daily cap, and redact personal data for the logs. Hybrid retrieval should bring back Article 5 paragraph 1, which the French corpus splits into seven windows. The model sees five tagged sources and answers in French with bracketed IDs. The verifier keeps only IDs that were retrieved and turns them into French labels. The response and one log line close the request. Retrieval results here are the expected gold article, not a measured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diagram shows who talks to whom during one classification. The API hands the description to the agent. The agent first searches the prohibited practices, finds nothing that matches, then searches the employment use cases and finds Annex III point 4 and Article 6 paragraph 2. It submits high risk citing those two IDs; the validator accepts because both were retrieved. The API logs a hashed row to the Sheets register and returns the verdict with its disclaimer. The exact searches the model makes will vary; this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come from content.json, so this slide changes as stages land. Today the ingestion stage is built and verified, CI exists but its green badge is not yet confirmed, and every other stage is planned. The next stage to build is the measured baseline and hybrid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for non-specialists.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0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188720"/>
          </a:xfrm>
          <a:prstGeom prst="rect">
            <a:avLst/>
          </a:prstGeom>
          <a:noFill/>
          <a:ln/>
        </p:spPr>
        <p:txBody>
          <a:bodyPr wrap="square" rtlCol="0"/>
          <a:lstStyle>
            <a:lvl1pPr algn="l" indent="0" marL="0">
              <a:buNone/>
              <a:defRPr lang="en-US" sz="6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3154680"/>
            <a:ext cx="6766560" cy="914400"/>
          </a:xfrm>
          <a:prstGeom prst="rect">
            <a:avLst/>
          </a:prstGeom>
          <a:noFill/>
          <a:ln/>
        </p:spPr>
        <p:txBody>
          <a:bodyPr wrap="square" rtlCol="0"/>
          <a:lstStyle>
            <a:lvl1pPr algn="l" indent="0" marL="0">
              <a:buNone/>
              <a:defRPr lang="en-US" sz="2400" dirty="0">
                <a:solidFill>
                  <a:srgbClr val="CBD3E1"/>
                </a:solidFill>
              </a:defRPr>
            </a:lvl1pPr>
          </a:lstStyle>
          <a:p>
            <a:pPr algn="l" indent="0" marL="0">
              <a:buNone/>
            </a:pPr>
            <a:endParaRPr lang="en-US" sz="2400" dirty="0"/>
          </a:p>
        </p:txBody>
      </p:sp>
      <p:sp>
        <p:nvSpPr>
          <p:cNvPr id="4" name="Text 0"/>
          <p:cNvSpPr/>
          <p:nvPr>
            <p:ph idx="102" type="body" hasCustomPrompt="1"/>
          </p:nvPr>
        </p:nvSpPr>
        <p:spPr>
          <a:xfrm>
            <a:off x="731520" y="5074920"/>
            <a:ext cx="6766560" cy="914400"/>
          </a:xfrm>
          <a:prstGeom prst="rect">
            <a:avLst/>
          </a:prstGeom>
          <a:noFill/>
          <a:ln/>
        </p:spPr>
        <p:txBody>
          <a:bodyPr wrap="square" rtlCol="0"/>
          <a:lstStyle>
            <a:lvl1pPr algn="l" indent="0" marL="0">
              <a:buNone/>
              <a:defRPr lang="en-US" sz="1400" dirty="0">
                <a:solidFill>
                  <a:srgbClr val="AEB9CC"/>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rtlCol="0"/>
          <a:lstStyle>
            <a:lvl1pPr algn="l" indent="0" marL="0">
              <a:buNone/>
              <a:defRPr lang="en-US" sz="1200" b="1" dirty="0">
                <a:solidFill>
                  <a:srgbClr val="9A6A0B"/>
                </a:solidFill>
              </a:defRPr>
            </a:lvl1pPr>
          </a:lstStyle>
          <a:p>
            <a:pPr algn="l" indent="0" marL="0">
              <a:buNone/>
            </a:pP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rtlCol="0"/>
          <a:lstStyle>
            <a:lvl1pPr algn="l" indent="0" marL="0">
              <a:buNone/>
              <a:defRPr lang="en-US" sz="3400" b="1" dirty="0">
                <a:solidFill>
                  <a:srgbClr val="13203A"/>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rtlCol="0"/>
          <a:lstStyle>
            <a:lvl1pPr algn="l" indent="0" marL="0">
              <a:buNone/>
              <a:defRPr lang="en-US" sz="1600" dirty="0">
                <a:solidFill>
                  <a:srgbClr val="5B6B82"/>
                </a:solidFill>
              </a:defRPr>
            </a:lvl1pPr>
          </a:lstStyle>
          <a:p>
            <a:pPr algn="l" indent="0" marL="0">
              <a:buNone/>
            </a:pPr>
            <a:endParaRPr lang="en-US" sz="1600" dirty="0"/>
          </a:p>
        </p:txBody>
      </p:sp>
      <p:sp>
        <p:nvSpPr>
          <p:cNvPr id="5"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82"/>
                </a:solidFill>
              </a:rPr>
              <a:t>ActWise  ·  End-to-end pipeline  ·  2026-10-04</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188720"/>
          </a:xfrm>
          <a:prstGeom prst="rect">
            <a:avLst/>
          </a:prstGeom>
          <a:noFill/>
          <a:ln/>
        </p:spPr>
        <p:txBody>
          <a:bodyPr wrap="square" lIns="0" tIns="0" rIns="0" bIns="0" rtlCol="0" anchor="b"/>
          <a:lstStyle/>
          <a:p>
            <a:pPr algn="l" indent="0" marL="0">
              <a:buNone/>
            </a:pPr>
            <a:r>
              <a:rPr lang="en-US" sz="6000" b="1" dirty="0">
                <a:solidFill>
                  <a:srgbClr val="FFFFFF"/>
                </a:solidFill>
                <a:latin typeface="Cambria" pitchFamily="34" charset="0"/>
                <a:ea typeface="Cambria" pitchFamily="34" charset="-122"/>
                <a:cs typeface="Cambria" pitchFamily="34" charset="-120"/>
              </a:rPr>
              <a:t>ActWise, end to end</a:t>
            </a:r>
            <a:endParaRPr lang="en-US" sz="6000" dirty="0"/>
          </a:p>
        </p:txBody>
      </p:sp>
      <p:sp>
        <p:nvSpPr>
          <p:cNvPr id="3" name="Text 0"/>
          <p:cNvSpPr/>
          <p:nvPr>
            <p:ph idx="101" type="body" hasCustomPrompt="1"/>
          </p:nvPr>
        </p:nvSpPr>
        <p:spPr>
          <a:xfrm>
            <a:off x="731520" y="3154680"/>
            <a:ext cx="6766560" cy="914400"/>
          </a:xfrm>
          <a:prstGeom prst="rect">
            <a:avLst/>
          </a:prstGeom>
          <a:noFill/>
          <a:ln/>
        </p:spPr>
        <p:txBody>
          <a:bodyPr wrap="square" lIns="0" tIns="0" rIns="0" bIns="0" rtlCol="0" anchor="t"/>
          <a:lstStyle/>
          <a:p>
            <a:pPr algn="l" indent="0" marL="0">
              <a:buNone/>
            </a:pPr>
            <a:r>
              <a:rPr lang="en-US" sz="2400" dirty="0">
                <a:solidFill>
                  <a:srgbClr val="CBD3E1"/>
                </a:solidFill>
              </a:rPr>
              <a:t>How a legal question becomes a cited answer: every stage of the pipeline, with diagrams</a:t>
            </a:r>
            <a:endParaRPr lang="en-US" sz="2400" dirty="0"/>
          </a:p>
        </p:txBody>
      </p:sp>
      <p:sp>
        <p:nvSpPr>
          <p:cNvPr id="4" name="Text 0"/>
          <p:cNvSpPr/>
          <p:nvPr>
            <p:ph idx="102" type="body" hasCustomPrompt="1"/>
          </p:nvPr>
        </p:nvSpPr>
        <p:spPr>
          <a:xfrm>
            <a:off x="731520" y="5074920"/>
            <a:ext cx="6766560" cy="914400"/>
          </a:xfrm>
          <a:prstGeom prst="rect">
            <a:avLst/>
          </a:prstGeom>
          <a:noFill/>
          <a:ln/>
        </p:spPr>
        <p:txBody>
          <a:bodyPr wrap="square" lIns="0" tIns="0" rIns="0" bIns="0" rtlCol="0" anchor="t"/>
          <a:lstStyle/>
          <a:p>
            <a:pPr algn="l" indent="0" marL="0">
              <a:buNone/>
            </a:pPr>
            <a:r>
              <a:rPr lang="en-US" sz="1400" dirty="0">
                <a:solidFill>
                  <a:srgbClr val="AEB9CC"/>
                </a:solidFill>
              </a:rPr>
              <a:t>Youssef ADOUIRI ALAOUI  ·  Product Data Scientist &amp; AI Engineer</a:t>
            </a:r>
            <a:endParaRPr lang="en-US" sz="1400" dirty="0"/>
          </a:p>
          <a:p>
            <a:pPr algn="l" indent="0" marL="0">
              <a:buNone/>
            </a:pPr>
            <a:r>
              <a:rPr lang="en-US" sz="1400" dirty="0">
                <a:solidFill>
                  <a:srgbClr val="AEB9CC"/>
                </a:solidFill>
              </a:rPr>
              <a:t>2026-10-04  ·  companion to the project review deck</a:t>
            </a:r>
            <a:endParaRPr lang="en-US" sz="1400" dirty="0"/>
          </a:p>
        </p:txBody>
      </p:sp>
      <p:sp>
        <p:nvSpPr>
          <p:cNvPr id="5" name="chain-chip-1"/>
          <p:cNvSpPr txBox="1"/>
          <p:nvPr/>
        </p:nvSpPr>
        <p:spPr>
          <a:xfrm>
            <a:off x="8412480" y="822960"/>
            <a:ext cx="2743200" cy="420624"/>
          </a:xfrm>
          <a:prstGeom prst="roundRect">
            <a:avLst>
              <a:gd name="adj" fmla="val 26087"/>
            </a:avLst>
          </a:prstGeom>
          <a:solidFill>
            <a:srgbClr val="1F2E4D"/>
          </a:solidFill>
          <a:ln w="12700">
            <a:solidFill>
              <a:srgbClr val="3A4B6B"/>
            </a:solidFill>
          </a:ln>
        </p:spPr>
        <p:txBody>
          <a:bodyPr wrap="square" lIns="0" tIns="0" rIns="0" bIns="0" rtlCol="0" anchor="ctr"/>
          <a:lstStyle/>
          <a:p>
            <a:pPr algn="ctr" indent="0" marL="0">
              <a:buNone/>
            </a:pPr>
            <a:r>
              <a:rPr lang="en-US" sz="1400" b="1" dirty="0">
                <a:solidFill>
                  <a:srgbClr val="CBD3E1"/>
                </a:solidFill>
              </a:rPr>
              <a:t>EUR-Lex HTML</a:t>
            </a:r>
            <a:endParaRPr lang="en-US" sz="1400" dirty="0"/>
          </a:p>
        </p:txBody>
      </p:sp>
      <p:sp>
        <p:nvSpPr>
          <p:cNvPr id="6" name="chain-2"/>
          <p:cNvSpPr/>
          <p:nvPr/>
        </p:nvSpPr>
        <p:spPr>
          <a:xfrm>
            <a:off x="9784080" y="1243584"/>
            <a:ext cx="0" cy="329184"/>
          </a:xfrm>
          <a:prstGeom prst="line">
            <a:avLst/>
          </a:prstGeom>
          <a:noFill/>
          <a:ln w="19050">
            <a:solidFill>
              <a:srgbClr val="3A4B6B"/>
            </a:solidFill>
            <a:prstDash val="solid"/>
          </a:ln>
        </p:spPr>
      </p:sp>
      <p:sp>
        <p:nvSpPr>
          <p:cNvPr id="7" name="chain-chip-3"/>
          <p:cNvSpPr txBox="1"/>
          <p:nvPr/>
        </p:nvSpPr>
        <p:spPr>
          <a:xfrm>
            <a:off x="8412480" y="1572768"/>
            <a:ext cx="2743200" cy="420624"/>
          </a:xfrm>
          <a:prstGeom prst="roundRect">
            <a:avLst>
              <a:gd name="adj" fmla="val 26087"/>
            </a:avLst>
          </a:prstGeom>
          <a:solidFill>
            <a:srgbClr val="1F2E4D"/>
          </a:solidFill>
          <a:ln w="12700">
            <a:solidFill>
              <a:srgbClr val="3A4B6B"/>
            </a:solidFill>
          </a:ln>
        </p:spPr>
        <p:txBody>
          <a:bodyPr wrap="square" lIns="0" tIns="0" rIns="0" bIns="0" rtlCol="0" anchor="ctr"/>
          <a:lstStyle/>
          <a:p>
            <a:pPr algn="ctr" indent="0" marL="0">
              <a:buNone/>
            </a:pPr>
            <a:r>
              <a:rPr lang="en-US" sz="1400" b="1" dirty="0">
                <a:solidFill>
                  <a:srgbClr val="CBD3E1"/>
                </a:solidFill>
              </a:rPr>
              <a:t>Parse + chunk</a:t>
            </a:r>
            <a:endParaRPr lang="en-US" sz="1400" dirty="0"/>
          </a:p>
        </p:txBody>
      </p:sp>
      <p:sp>
        <p:nvSpPr>
          <p:cNvPr id="8" name="chain-4"/>
          <p:cNvSpPr/>
          <p:nvPr/>
        </p:nvSpPr>
        <p:spPr>
          <a:xfrm>
            <a:off x="9784080" y="1993392"/>
            <a:ext cx="0" cy="329184"/>
          </a:xfrm>
          <a:prstGeom prst="line">
            <a:avLst/>
          </a:prstGeom>
          <a:noFill/>
          <a:ln w="19050">
            <a:solidFill>
              <a:srgbClr val="3A4B6B"/>
            </a:solidFill>
            <a:prstDash val="solid"/>
          </a:ln>
        </p:spPr>
      </p:sp>
      <p:sp>
        <p:nvSpPr>
          <p:cNvPr id="9" name="chain-chip-5"/>
          <p:cNvSpPr txBox="1"/>
          <p:nvPr/>
        </p:nvSpPr>
        <p:spPr>
          <a:xfrm>
            <a:off x="8412480" y="2322576"/>
            <a:ext cx="2743200" cy="420624"/>
          </a:xfrm>
          <a:prstGeom prst="roundRect">
            <a:avLst>
              <a:gd name="adj" fmla="val 26087"/>
            </a:avLst>
          </a:prstGeom>
          <a:solidFill>
            <a:srgbClr val="1F2E4D"/>
          </a:solidFill>
          <a:ln w="12700">
            <a:solidFill>
              <a:srgbClr val="3A4B6B"/>
            </a:solidFill>
          </a:ln>
        </p:spPr>
        <p:txBody>
          <a:bodyPr wrap="square" lIns="0" tIns="0" rIns="0" bIns="0" rtlCol="0" anchor="ctr"/>
          <a:lstStyle/>
          <a:p>
            <a:pPr algn="ctr" indent="0" marL="0">
              <a:buNone/>
            </a:pPr>
            <a:r>
              <a:rPr lang="en-US" sz="1400" b="1" dirty="0">
                <a:solidFill>
                  <a:srgbClr val="CBD3E1"/>
                </a:solidFill>
              </a:rPr>
              <a:t>Embed + index</a:t>
            </a:r>
            <a:endParaRPr lang="en-US" sz="1400" dirty="0"/>
          </a:p>
        </p:txBody>
      </p:sp>
      <p:sp>
        <p:nvSpPr>
          <p:cNvPr id="10" name="chain-6"/>
          <p:cNvSpPr/>
          <p:nvPr/>
        </p:nvSpPr>
        <p:spPr>
          <a:xfrm>
            <a:off x="9784080" y="2743200"/>
            <a:ext cx="0" cy="329184"/>
          </a:xfrm>
          <a:prstGeom prst="line">
            <a:avLst/>
          </a:prstGeom>
          <a:noFill/>
          <a:ln w="19050">
            <a:solidFill>
              <a:srgbClr val="3A4B6B"/>
            </a:solidFill>
            <a:prstDash val="solid"/>
          </a:ln>
        </p:spPr>
      </p:sp>
      <p:sp>
        <p:nvSpPr>
          <p:cNvPr id="11" name="chain-chip-7"/>
          <p:cNvSpPr txBox="1"/>
          <p:nvPr/>
        </p:nvSpPr>
        <p:spPr>
          <a:xfrm>
            <a:off x="8412480" y="3072384"/>
            <a:ext cx="2743200" cy="420624"/>
          </a:xfrm>
          <a:prstGeom prst="roundRect">
            <a:avLst>
              <a:gd name="adj" fmla="val 26087"/>
            </a:avLst>
          </a:prstGeom>
          <a:solidFill>
            <a:srgbClr val="1F2E4D"/>
          </a:solidFill>
          <a:ln w="12700">
            <a:solidFill>
              <a:srgbClr val="3A4B6B"/>
            </a:solidFill>
          </a:ln>
        </p:spPr>
        <p:txBody>
          <a:bodyPr wrap="square" lIns="0" tIns="0" rIns="0" bIns="0" rtlCol="0" anchor="ctr"/>
          <a:lstStyle/>
          <a:p>
            <a:pPr algn="ctr" indent="0" marL="0">
              <a:buNone/>
            </a:pPr>
            <a:r>
              <a:rPr lang="en-US" sz="1400" b="1" dirty="0">
                <a:solidFill>
                  <a:srgbClr val="CBD3E1"/>
                </a:solidFill>
              </a:rPr>
              <a:t>Hybrid retrieval</a:t>
            </a:r>
            <a:endParaRPr lang="en-US" sz="1400" dirty="0"/>
          </a:p>
        </p:txBody>
      </p:sp>
      <p:sp>
        <p:nvSpPr>
          <p:cNvPr id="12" name="chain-8"/>
          <p:cNvSpPr/>
          <p:nvPr/>
        </p:nvSpPr>
        <p:spPr>
          <a:xfrm>
            <a:off x="9784080" y="3493008"/>
            <a:ext cx="0" cy="329184"/>
          </a:xfrm>
          <a:prstGeom prst="line">
            <a:avLst/>
          </a:prstGeom>
          <a:noFill/>
          <a:ln w="19050">
            <a:solidFill>
              <a:srgbClr val="3A4B6B"/>
            </a:solidFill>
            <a:prstDash val="solid"/>
          </a:ln>
        </p:spPr>
      </p:sp>
      <p:sp>
        <p:nvSpPr>
          <p:cNvPr id="13" name="chain-chip-9"/>
          <p:cNvSpPr txBox="1"/>
          <p:nvPr/>
        </p:nvSpPr>
        <p:spPr>
          <a:xfrm>
            <a:off x="8412480" y="3822192"/>
            <a:ext cx="2743200" cy="420624"/>
          </a:xfrm>
          <a:prstGeom prst="roundRect">
            <a:avLst>
              <a:gd name="adj" fmla="val 26087"/>
            </a:avLst>
          </a:prstGeom>
          <a:solidFill>
            <a:srgbClr val="1F2E4D"/>
          </a:solidFill>
          <a:ln w="12700">
            <a:solidFill>
              <a:srgbClr val="3A4B6B"/>
            </a:solidFill>
          </a:ln>
        </p:spPr>
        <p:txBody>
          <a:bodyPr wrap="square" lIns="0" tIns="0" rIns="0" bIns="0" rtlCol="0" anchor="ctr"/>
          <a:lstStyle/>
          <a:p>
            <a:pPr algn="ctr" indent="0" marL="0">
              <a:buNone/>
            </a:pPr>
            <a:r>
              <a:rPr lang="en-US" sz="1400" b="1" dirty="0">
                <a:solidFill>
                  <a:srgbClr val="CBD3E1"/>
                </a:solidFill>
              </a:rPr>
              <a:t>LLM gateway</a:t>
            </a:r>
            <a:endParaRPr lang="en-US" sz="1400" dirty="0"/>
          </a:p>
        </p:txBody>
      </p:sp>
      <p:sp>
        <p:nvSpPr>
          <p:cNvPr id="14" name="chain-10"/>
          <p:cNvSpPr/>
          <p:nvPr/>
        </p:nvSpPr>
        <p:spPr>
          <a:xfrm>
            <a:off x="9784080" y="4242816"/>
            <a:ext cx="0" cy="329184"/>
          </a:xfrm>
          <a:prstGeom prst="line">
            <a:avLst/>
          </a:prstGeom>
          <a:noFill/>
          <a:ln w="19050">
            <a:solidFill>
              <a:srgbClr val="3A4B6B"/>
            </a:solidFill>
            <a:prstDash val="solid"/>
          </a:ln>
        </p:spPr>
      </p:sp>
      <p:sp>
        <p:nvSpPr>
          <p:cNvPr id="15" name="chain-chip-11"/>
          <p:cNvSpPr txBox="1"/>
          <p:nvPr/>
        </p:nvSpPr>
        <p:spPr>
          <a:xfrm>
            <a:off x="8412480" y="4572000"/>
            <a:ext cx="2743200" cy="420624"/>
          </a:xfrm>
          <a:prstGeom prst="roundRect">
            <a:avLst>
              <a:gd name="adj" fmla="val 26087"/>
            </a:avLst>
          </a:prstGeom>
          <a:solidFill>
            <a:srgbClr val="1F2E4D"/>
          </a:solidFill>
          <a:ln w="12700">
            <a:solidFill>
              <a:srgbClr val="3A4B6B"/>
            </a:solidFill>
          </a:ln>
        </p:spPr>
        <p:txBody>
          <a:bodyPr wrap="square" lIns="0" tIns="0" rIns="0" bIns="0" rtlCol="0" anchor="ctr"/>
          <a:lstStyle/>
          <a:p>
            <a:pPr algn="ctr" indent="0" marL="0">
              <a:buNone/>
            </a:pPr>
            <a:r>
              <a:rPr lang="en-US" sz="1400" b="1" dirty="0">
                <a:solidFill>
                  <a:srgbClr val="CBD3E1"/>
                </a:solidFill>
              </a:rPr>
              <a:t>Verify citations</a:t>
            </a:r>
            <a:endParaRPr lang="en-US" sz="1400" dirty="0"/>
          </a:p>
        </p:txBody>
      </p:sp>
      <p:sp>
        <p:nvSpPr>
          <p:cNvPr id="16" name="chain-12"/>
          <p:cNvSpPr/>
          <p:nvPr/>
        </p:nvSpPr>
        <p:spPr>
          <a:xfrm>
            <a:off x="9784080" y="4992624"/>
            <a:ext cx="0" cy="329184"/>
          </a:xfrm>
          <a:prstGeom prst="line">
            <a:avLst/>
          </a:prstGeom>
          <a:noFill/>
          <a:ln w="19050">
            <a:solidFill>
              <a:srgbClr val="3A4B6B"/>
            </a:solidFill>
            <a:prstDash val="solid"/>
          </a:ln>
        </p:spPr>
      </p:sp>
      <p:sp>
        <p:nvSpPr>
          <p:cNvPr id="17" name="chain-chip-13"/>
          <p:cNvSpPr txBox="1"/>
          <p:nvPr/>
        </p:nvSpPr>
        <p:spPr>
          <a:xfrm>
            <a:off x="8412480" y="5321808"/>
            <a:ext cx="2743200" cy="420624"/>
          </a:xfrm>
          <a:prstGeom prst="roundRect">
            <a:avLst>
              <a:gd name="adj" fmla="val 26087"/>
            </a:avLst>
          </a:prstGeom>
          <a:solidFill>
            <a:srgbClr val="E3A21A"/>
          </a:solidFill>
          <a:ln w="12700">
            <a:solidFill>
              <a:srgbClr val="E3A21A"/>
            </a:solidFill>
          </a:ln>
        </p:spPr>
        <p:txBody>
          <a:bodyPr wrap="square" lIns="0" tIns="0" rIns="0" bIns="0" rtlCol="0" anchor="ctr"/>
          <a:lstStyle/>
          <a:p>
            <a:pPr algn="ctr" indent="0" marL="0">
              <a:buNone/>
            </a:pPr>
            <a:r>
              <a:rPr lang="en-US" sz="1500" b="1" dirty="0">
                <a:solidFill>
                  <a:srgbClr val="13203A"/>
                </a:solidFill>
                <a:latin typeface="Courier New" pitchFamily="34" charset="0"/>
                <a:ea typeface="Courier New" pitchFamily="34" charset="-122"/>
                <a:cs typeface="Courier New" pitchFamily="34" charset="-120"/>
              </a:rPr>
              <a:t>[AIA-Art6-2]</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OVERVIEW</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The pipeline on one page</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Build the index once, answer every request from it, and measure and ship around both.</a:t>
            </a:r>
            <a:endParaRPr lang="en-US" sz="1600" dirty="0"/>
          </a:p>
        </p:txBody>
      </p:sp>
      <p:sp>
        <p:nvSpPr>
          <p:cNvPr id="6" name="chip-14"/>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15"/>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16"/>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lane-17"/>
          <p:cNvSpPr/>
          <p:nvPr/>
        </p:nvSpPr>
        <p:spPr>
          <a:xfrm>
            <a:off x="548640" y="1938528"/>
            <a:ext cx="11094415" cy="1188720"/>
          </a:xfrm>
          <a:prstGeom prst="rect">
            <a:avLst/>
          </a:prstGeom>
          <a:solidFill>
            <a:srgbClr val="F6F8FB"/>
          </a:solidFill>
          <a:ln/>
        </p:spPr>
      </p:sp>
      <p:sp>
        <p:nvSpPr>
          <p:cNvPr id="10" name="text-18"/>
          <p:cNvSpPr txBox="1"/>
          <p:nvPr/>
        </p:nvSpPr>
        <p:spPr>
          <a:xfrm>
            <a:off x="685800" y="2286000"/>
            <a:ext cx="1463040" cy="274320"/>
          </a:xfrm>
          <a:prstGeom prst="rect">
            <a:avLst/>
          </a:prstGeom>
          <a:noFill/>
          <a:ln/>
        </p:spPr>
        <p:txBody>
          <a:bodyPr wrap="square" lIns="0" tIns="0" rIns="0" bIns="0" rtlCol="0" anchor="t"/>
          <a:lstStyle/>
          <a:p>
            <a:pPr indent="0" marL="0">
              <a:buNone/>
            </a:pPr>
            <a:r>
              <a:rPr lang="en-US" sz="1500" b="1" dirty="0">
                <a:solidFill>
                  <a:srgbClr val="13203A"/>
                </a:solidFill>
              </a:rPr>
              <a:t>Offline</a:t>
            </a:r>
            <a:endParaRPr lang="en-US" sz="1500" dirty="0"/>
          </a:p>
        </p:txBody>
      </p:sp>
      <p:sp>
        <p:nvSpPr>
          <p:cNvPr id="11" name="text-19"/>
          <p:cNvSpPr txBox="1"/>
          <p:nvPr/>
        </p:nvSpPr>
        <p:spPr>
          <a:xfrm>
            <a:off x="685800" y="2560320"/>
            <a:ext cx="1463040" cy="274320"/>
          </a:xfrm>
          <a:prstGeom prst="rect">
            <a:avLst/>
          </a:prstGeom>
          <a:noFill/>
          <a:ln/>
        </p:spPr>
        <p:txBody>
          <a:bodyPr wrap="square" lIns="0" tIns="0" rIns="0" bIns="0" rtlCol="0" anchor="t"/>
          <a:lstStyle/>
          <a:p>
            <a:pPr indent="0" marL="0">
              <a:buNone/>
            </a:pPr>
            <a:r>
              <a:rPr lang="en-US" sz="1100" dirty="0">
                <a:solidFill>
                  <a:srgbClr val="5B6B82"/>
                </a:solidFill>
              </a:rPr>
              <a:t>once per corpus version</a:t>
            </a:r>
            <a:endParaRPr lang="en-US" sz="1100" dirty="0"/>
          </a:p>
        </p:txBody>
      </p:sp>
      <p:sp>
        <p:nvSpPr>
          <p:cNvPr id="12" name="lane-20"/>
          <p:cNvSpPr/>
          <p:nvPr/>
        </p:nvSpPr>
        <p:spPr>
          <a:xfrm>
            <a:off x="548640" y="3337560"/>
            <a:ext cx="11094415" cy="1188720"/>
          </a:xfrm>
          <a:prstGeom prst="rect">
            <a:avLst/>
          </a:prstGeom>
          <a:solidFill>
            <a:srgbClr val="F6F8FB"/>
          </a:solidFill>
          <a:ln/>
        </p:spPr>
      </p:sp>
      <p:sp>
        <p:nvSpPr>
          <p:cNvPr id="13" name="text-21"/>
          <p:cNvSpPr txBox="1"/>
          <p:nvPr/>
        </p:nvSpPr>
        <p:spPr>
          <a:xfrm>
            <a:off x="685800" y="3685032"/>
            <a:ext cx="1463040" cy="274320"/>
          </a:xfrm>
          <a:prstGeom prst="rect">
            <a:avLst/>
          </a:prstGeom>
          <a:noFill/>
          <a:ln/>
        </p:spPr>
        <p:txBody>
          <a:bodyPr wrap="square" lIns="0" tIns="0" rIns="0" bIns="0" rtlCol="0" anchor="t"/>
          <a:lstStyle/>
          <a:p>
            <a:pPr indent="0" marL="0">
              <a:buNone/>
            </a:pPr>
            <a:r>
              <a:rPr lang="en-US" sz="1500" b="1" dirty="0">
                <a:solidFill>
                  <a:srgbClr val="13203A"/>
                </a:solidFill>
              </a:rPr>
              <a:t>Per request</a:t>
            </a:r>
            <a:endParaRPr lang="en-US" sz="1500" dirty="0"/>
          </a:p>
        </p:txBody>
      </p:sp>
      <p:sp>
        <p:nvSpPr>
          <p:cNvPr id="14" name="text-22"/>
          <p:cNvSpPr txBox="1"/>
          <p:nvPr/>
        </p:nvSpPr>
        <p:spPr>
          <a:xfrm>
            <a:off x="685800" y="3959352"/>
            <a:ext cx="1463040" cy="274320"/>
          </a:xfrm>
          <a:prstGeom prst="rect">
            <a:avLst/>
          </a:prstGeom>
          <a:noFill/>
          <a:ln/>
        </p:spPr>
        <p:txBody>
          <a:bodyPr wrap="square" lIns="0" tIns="0" rIns="0" bIns="0" rtlCol="0" anchor="t"/>
          <a:lstStyle/>
          <a:p>
            <a:pPr indent="0" marL="0">
              <a:buNone/>
            </a:pPr>
            <a:r>
              <a:rPr lang="en-US" sz="1100" dirty="0">
                <a:solidFill>
                  <a:srgbClr val="5B6B82"/>
                </a:solidFill>
              </a:rPr>
              <a:t>every question</a:t>
            </a:r>
            <a:endParaRPr lang="en-US" sz="1100" dirty="0"/>
          </a:p>
        </p:txBody>
      </p:sp>
      <p:sp>
        <p:nvSpPr>
          <p:cNvPr id="15" name="lane-23"/>
          <p:cNvSpPr/>
          <p:nvPr/>
        </p:nvSpPr>
        <p:spPr>
          <a:xfrm>
            <a:off x="548640" y="4736592"/>
            <a:ext cx="11094415" cy="1188720"/>
          </a:xfrm>
          <a:prstGeom prst="rect">
            <a:avLst/>
          </a:prstGeom>
          <a:solidFill>
            <a:srgbClr val="F6F8FB"/>
          </a:solidFill>
          <a:ln/>
        </p:spPr>
      </p:sp>
      <p:sp>
        <p:nvSpPr>
          <p:cNvPr id="16" name="text-24"/>
          <p:cNvSpPr txBox="1"/>
          <p:nvPr/>
        </p:nvSpPr>
        <p:spPr>
          <a:xfrm>
            <a:off x="685800" y="5084064"/>
            <a:ext cx="1463040" cy="274320"/>
          </a:xfrm>
          <a:prstGeom prst="rect">
            <a:avLst/>
          </a:prstGeom>
          <a:noFill/>
          <a:ln/>
        </p:spPr>
        <p:txBody>
          <a:bodyPr wrap="square" lIns="0" tIns="0" rIns="0" bIns="0" rtlCol="0" anchor="t"/>
          <a:lstStyle/>
          <a:p>
            <a:pPr indent="0" marL="0">
              <a:buNone/>
            </a:pPr>
            <a:r>
              <a:rPr lang="en-US" sz="1500" b="1" dirty="0">
                <a:solidFill>
                  <a:srgbClr val="13203A"/>
                </a:solidFill>
              </a:rPr>
              <a:t>Around it</a:t>
            </a:r>
            <a:endParaRPr lang="en-US" sz="1500" dirty="0"/>
          </a:p>
        </p:txBody>
      </p:sp>
      <p:sp>
        <p:nvSpPr>
          <p:cNvPr id="17" name="text-25"/>
          <p:cNvSpPr txBox="1"/>
          <p:nvPr/>
        </p:nvSpPr>
        <p:spPr>
          <a:xfrm>
            <a:off x="685800" y="5358384"/>
            <a:ext cx="1463040" cy="274320"/>
          </a:xfrm>
          <a:prstGeom prst="rect">
            <a:avLst/>
          </a:prstGeom>
          <a:noFill/>
          <a:ln/>
        </p:spPr>
        <p:txBody>
          <a:bodyPr wrap="square" lIns="0" tIns="0" rIns="0" bIns="0" rtlCol="0" anchor="t"/>
          <a:lstStyle/>
          <a:p>
            <a:pPr indent="0" marL="0">
              <a:buNone/>
            </a:pPr>
            <a:r>
              <a:rPr lang="en-US" sz="1100" dirty="0">
                <a:solidFill>
                  <a:srgbClr val="5B6B82"/>
                </a:solidFill>
              </a:rPr>
              <a:t>quality and operations</a:t>
            </a:r>
            <a:endParaRPr lang="en-US" sz="1100" dirty="0"/>
          </a:p>
        </p:txBody>
      </p:sp>
      <p:sp>
        <p:nvSpPr>
          <p:cNvPr id="18" name="node-step-26"/>
          <p:cNvSpPr txBox="1"/>
          <p:nvPr/>
        </p:nvSpPr>
        <p:spPr>
          <a:xfrm>
            <a:off x="2194560" y="2167128"/>
            <a:ext cx="1600200" cy="731520"/>
          </a:xfrm>
          <a:prstGeom prst="roundRect">
            <a:avLst>
              <a:gd name="adj" fmla="val 8750"/>
            </a:avLst>
          </a:prstGeom>
          <a:solidFill>
            <a:srgbClr val="14917F"/>
          </a:solidFill>
          <a:ln/>
        </p:spPr>
        <p:txBody>
          <a:bodyPr wrap="square" lIns="381" tIns="889" rIns="889" bIns="381" rtlCol="0" anchor="ctr"/>
          <a:lstStyle/>
          <a:p>
            <a:pPr algn="ctr" indent="0" marL="0">
              <a:buNone/>
            </a:pPr>
            <a:r>
              <a:rPr lang="en-US" sz="1300" b="1" dirty="0">
                <a:solidFill>
                  <a:srgbClr val="FFFFFF"/>
                </a:solidFill>
              </a:rPr>
              <a:t>EUR-Lex HTML</a:t>
            </a:r>
            <a:endParaRPr lang="en-US" sz="1300" dirty="0"/>
          </a:p>
          <a:p>
            <a:pPr algn="ctr" indent="0" marL="0">
              <a:buNone/>
            </a:pPr>
            <a:r>
              <a:rPr lang="en-US" sz="1100" dirty="0">
                <a:solidFill>
                  <a:srgbClr val="FFFFFF"/>
                </a:solidFill>
              </a:rPr>
              <a:t>AI Act + GDPR, EN/FR</a:t>
            </a:r>
            <a:endParaRPr lang="en-US" sz="1300" dirty="0"/>
          </a:p>
        </p:txBody>
      </p:sp>
      <p:sp>
        <p:nvSpPr>
          <p:cNvPr id="19" name="badge-27"/>
          <p:cNvSpPr txBox="1"/>
          <p:nvPr/>
        </p:nvSpPr>
        <p:spPr>
          <a:xfrm>
            <a:off x="2084832" y="2048256"/>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1</a:t>
            </a:r>
            <a:endParaRPr lang="en-US" sz="1100" dirty="0"/>
          </a:p>
        </p:txBody>
      </p:sp>
      <p:sp>
        <p:nvSpPr>
          <p:cNvPr id="20" name="arrow-28"/>
          <p:cNvSpPr/>
          <p:nvPr/>
        </p:nvSpPr>
        <p:spPr>
          <a:xfrm>
            <a:off x="3794760" y="2532888"/>
            <a:ext cx="361874" cy="0"/>
          </a:xfrm>
          <a:prstGeom prst="line">
            <a:avLst/>
          </a:prstGeom>
          <a:noFill/>
          <a:ln w="19050">
            <a:solidFill>
              <a:srgbClr val="5B6B82"/>
            </a:solidFill>
            <a:prstDash val="solid"/>
            <a:tailEnd type="triangle"/>
          </a:ln>
        </p:spPr>
      </p:sp>
      <p:sp>
        <p:nvSpPr>
          <p:cNvPr id="21" name="node-step-29"/>
          <p:cNvSpPr txBox="1"/>
          <p:nvPr/>
        </p:nvSpPr>
        <p:spPr>
          <a:xfrm>
            <a:off x="4156634" y="2167128"/>
            <a:ext cx="1600200" cy="731520"/>
          </a:xfrm>
          <a:prstGeom prst="roundRect">
            <a:avLst>
              <a:gd name="adj" fmla="val 8750"/>
            </a:avLst>
          </a:prstGeom>
          <a:solidFill>
            <a:srgbClr val="14917F"/>
          </a:solidFill>
          <a:ln/>
        </p:spPr>
        <p:txBody>
          <a:bodyPr wrap="square" lIns="381" tIns="889" rIns="889" bIns="381" rtlCol="0" anchor="ctr"/>
          <a:lstStyle/>
          <a:p>
            <a:pPr algn="ctr" indent="0" marL="0">
              <a:buNone/>
            </a:pPr>
            <a:r>
              <a:rPr lang="en-US" sz="1300" b="1" dirty="0">
                <a:solidFill>
                  <a:srgbClr val="FFFFFF"/>
                </a:solidFill>
              </a:rPr>
              <a:t>Parse + chunk</a:t>
            </a:r>
            <a:endParaRPr lang="en-US" sz="1300" dirty="0"/>
          </a:p>
          <a:p>
            <a:pPr algn="ctr" indent="0" marL="0">
              <a:buNone/>
            </a:pPr>
            <a:r>
              <a:rPr lang="en-US" sz="1100" dirty="0">
                <a:solidFill>
                  <a:srgbClr val="FFFFFF"/>
                </a:solidFill>
              </a:rPr>
              <a:t>articles → paragraphs</a:t>
            </a:r>
            <a:endParaRPr lang="en-US" sz="1300" dirty="0"/>
          </a:p>
        </p:txBody>
      </p:sp>
      <p:sp>
        <p:nvSpPr>
          <p:cNvPr id="22" name="badge-30"/>
          <p:cNvSpPr txBox="1"/>
          <p:nvPr/>
        </p:nvSpPr>
        <p:spPr>
          <a:xfrm>
            <a:off x="4046906" y="2048256"/>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1</a:t>
            </a:r>
            <a:endParaRPr lang="en-US" sz="1100" dirty="0"/>
          </a:p>
        </p:txBody>
      </p:sp>
      <p:sp>
        <p:nvSpPr>
          <p:cNvPr id="23" name="arrow-31"/>
          <p:cNvSpPr/>
          <p:nvPr/>
        </p:nvSpPr>
        <p:spPr>
          <a:xfrm>
            <a:off x="5756834" y="2532888"/>
            <a:ext cx="361874" cy="0"/>
          </a:xfrm>
          <a:prstGeom prst="line">
            <a:avLst/>
          </a:prstGeom>
          <a:noFill/>
          <a:ln w="19050">
            <a:solidFill>
              <a:srgbClr val="5B6B82"/>
            </a:solidFill>
            <a:prstDash val="solid"/>
            <a:tailEnd type="triangle"/>
          </a:ln>
        </p:spPr>
      </p:sp>
      <p:sp>
        <p:nvSpPr>
          <p:cNvPr id="24" name="node-store-32"/>
          <p:cNvSpPr txBox="1"/>
          <p:nvPr/>
        </p:nvSpPr>
        <p:spPr>
          <a:xfrm>
            <a:off x="6118708" y="2167128"/>
            <a:ext cx="1600200" cy="731520"/>
          </a:xfrm>
          <a:prstGeom prst="can">
            <a:avLst/>
          </a:prstGeom>
          <a:solidFill>
            <a:srgbClr val="14917F"/>
          </a:solidFill>
          <a:ln/>
        </p:spPr>
        <p:txBody>
          <a:bodyPr wrap="square" lIns="381" tIns="889" rIns="889" bIns="381" rtlCol="0" anchor="ctr"/>
          <a:lstStyle/>
          <a:p>
            <a:pPr algn="ctr" indent="0" marL="0">
              <a:buNone/>
            </a:pPr>
            <a:r>
              <a:rPr lang="en-US" sz="1300" b="1" dirty="0">
                <a:solidFill>
                  <a:srgbClr val="FFFFFF"/>
                </a:solidFill>
              </a:rPr>
              <a:t>chunks.jsonl</a:t>
            </a:r>
            <a:endParaRPr lang="en-US" sz="1300" dirty="0"/>
          </a:p>
          <a:p>
            <a:pPr algn="ctr" indent="0" marL="0">
              <a:buNone/>
            </a:pPr>
            <a:r>
              <a:rPr lang="en-US" sz="1100" dirty="0">
                <a:solidFill>
                  <a:srgbClr val="FFFFFF"/>
                </a:solidFill>
              </a:rPr>
              <a:t>3,799 chunks</a:t>
            </a:r>
            <a:endParaRPr lang="en-US" sz="1300" dirty="0"/>
          </a:p>
        </p:txBody>
      </p:sp>
      <p:sp>
        <p:nvSpPr>
          <p:cNvPr id="25" name="badge-33"/>
          <p:cNvSpPr txBox="1"/>
          <p:nvPr/>
        </p:nvSpPr>
        <p:spPr>
          <a:xfrm>
            <a:off x="6008980" y="2048256"/>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1</a:t>
            </a:r>
            <a:endParaRPr lang="en-US" sz="1100" dirty="0"/>
          </a:p>
        </p:txBody>
      </p:sp>
      <p:sp>
        <p:nvSpPr>
          <p:cNvPr id="26" name="arrow-34"/>
          <p:cNvSpPr/>
          <p:nvPr/>
        </p:nvSpPr>
        <p:spPr>
          <a:xfrm>
            <a:off x="7718908" y="2532888"/>
            <a:ext cx="361874" cy="0"/>
          </a:xfrm>
          <a:prstGeom prst="line">
            <a:avLst/>
          </a:prstGeom>
          <a:noFill/>
          <a:ln w="19050">
            <a:solidFill>
              <a:srgbClr val="5B6B82"/>
            </a:solidFill>
            <a:prstDash val="solid"/>
            <a:tailEnd type="triangle"/>
          </a:ln>
        </p:spPr>
      </p:sp>
      <p:sp>
        <p:nvSpPr>
          <p:cNvPr id="27" name="node-step-35"/>
          <p:cNvSpPr txBox="1"/>
          <p:nvPr/>
        </p:nvSpPr>
        <p:spPr>
          <a:xfrm>
            <a:off x="8080781" y="2167128"/>
            <a:ext cx="160020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Embed</a:t>
            </a:r>
            <a:endParaRPr lang="en-US" sz="1300" dirty="0"/>
          </a:p>
          <a:p>
            <a:pPr algn="ctr" indent="0" marL="0">
              <a:buNone/>
            </a:pPr>
            <a:r>
              <a:rPr lang="en-US" sz="1100" dirty="0">
                <a:solidFill>
                  <a:srgbClr val="2B3A55"/>
                </a:solidFill>
              </a:rPr>
              <a:t>BGE-M3 / MiniLM int8</a:t>
            </a:r>
            <a:endParaRPr lang="en-US" sz="1300" dirty="0"/>
          </a:p>
        </p:txBody>
      </p:sp>
      <p:sp>
        <p:nvSpPr>
          <p:cNvPr id="28" name="badge-36"/>
          <p:cNvSpPr txBox="1"/>
          <p:nvPr/>
        </p:nvSpPr>
        <p:spPr>
          <a:xfrm>
            <a:off x="7971053" y="2048256"/>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2</a:t>
            </a:r>
            <a:endParaRPr lang="en-US" sz="1100" dirty="0"/>
          </a:p>
        </p:txBody>
      </p:sp>
      <p:sp>
        <p:nvSpPr>
          <p:cNvPr id="29" name="arrow-37"/>
          <p:cNvSpPr/>
          <p:nvPr/>
        </p:nvSpPr>
        <p:spPr>
          <a:xfrm>
            <a:off x="9680981" y="2532888"/>
            <a:ext cx="361874" cy="0"/>
          </a:xfrm>
          <a:prstGeom prst="line">
            <a:avLst/>
          </a:prstGeom>
          <a:noFill/>
          <a:ln w="19050">
            <a:solidFill>
              <a:srgbClr val="5B6B82"/>
            </a:solidFill>
            <a:prstDash val="solid"/>
            <a:tailEnd type="triangle"/>
          </a:ln>
        </p:spPr>
      </p:sp>
      <p:sp>
        <p:nvSpPr>
          <p:cNvPr id="30" name="node-store-38"/>
          <p:cNvSpPr txBox="1"/>
          <p:nvPr/>
        </p:nvSpPr>
        <p:spPr>
          <a:xfrm>
            <a:off x="10042855" y="2167128"/>
            <a:ext cx="1600200" cy="731520"/>
          </a:xfrm>
          <a:prstGeom prst="can">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Indexes</a:t>
            </a:r>
            <a:endParaRPr lang="en-US" sz="1300" dirty="0"/>
          </a:p>
          <a:p>
            <a:pPr algn="ctr" indent="0" marL="0">
              <a:buNone/>
            </a:pPr>
            <a:r>
              <a:rPr lang="en-US" sz="1100" dirty="0">
                <a:solidFill>
                  <a:srgbClr val="2B3A55"/>
                </a:solidFill>
              </a:rPr>
              <a:t>Qdrant · NumPy · BM25</a:t>
            </a:r>
            <a:endParaRPr lang="en-US" sz="1300" dirty="0"/>
          </a:p>
        </p:txBody>
      </p:sp>
      <p:sp>
        <p:nvSpPr>
          <p:cNvPr id="31" name="badge-39"/>
          <p:cNvSpPr txBox="1"/>
          <p:nvPr/>
        </p:nvSpPr>
        <p:spPr>
          <a:xfrm>
            <a:off x="9933127" y="2048256"/>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2</a:t>
            </a:r>
            <a:endParaRPr lang="en-US" sz="1100" dirty="0"/>
          </a:p>
        </p:txBody>
      </p:sp>
      <p:sp>
        <p:nvSpPr>
          <p:cNvPr id="32" name="node-io-40"/>
          <p:cNvSpPr txBox="1"/>
          <p:nvPr/>
        </p:nvSpPr>
        <p:spPr>
          <a:xfrm>
            <a:off x="2194560" y="3566160"/>
            <a:ext cx="1600200" cy="731520"/>
          </a:xfrm>
          <a:prstGeom prst="roundRect">
            <a:avLst>
              <a:gd name="adj" fmla="val 8750"/>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Clients</a:t>
            </a:r>
            <a:endParaRPr lang="en-US" sz="1300" dirty="0"/>
          </a:p>
          <a:p>
            <a:pPr algn="ctr" indent="0" marL="0">
              <a:buNone/>
            </a:pPr>
            <a:r>
              <a:rPr lang="en-US" sz="1100" dirty="0">
                <a:solidFill>
                  <a:srgbClr val="FFFFFF"/>
                </a:solidFill>
              </a:rPr>
              <a:t>UI · Slack · MCP · HTTP</a:t>
            </a:r>
            <a:endParaRPr lang="en-US" sz="1300" dirty="0"/>
          </a:p>
        </p:txBody>
      </p:sp>
      <p:sp>
        <p:nvSpPr>
          <p:cNvPr id="33" name="badge-41"/>
          <p:cNvSpPr txBox="1"/>
          <p:nvPr/>
        </p:nvSpPr>
        <p:spPr>
          <a:xfrm>
            <a:off x="2084832" y="3447288"/>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7</a:t>
            </a:r>
            <a:endParaRPr lang="en-US" sz="1100" dirty="0"/>
          </a:p>
        </p:txBody>
      </p:sp>
      <p:sp>
        <p:nvSpPr>
          <p:cNvPr id="34" name="arrow-42"/>
          <p:cNvSpPr/>
          <p:nvPr/>
        </p:nvSpPr>
        <p:spPr>
          <a:xfrm>
            <a:off x="3794760" y="3931920"/>
            <a:ext cx="361874" cy="0"/>
          </a:xfrm>
          <a:prstGeom prst="line">
            <a:avLst/>
          </a:prstGeom>
          <a:noFill/>
          <a:ln w="19050">
            <a:solidFill>
              <a:srgbClr val="5B6B82"/>
            </a:solidFill>
            <a:prstDash val="solid"/>
            <a:tailEnd type="triangle"/>
          </a:ln>
        </p:spPr>
      </p:sp>
      <p:sp>
        <p:nvSpPr>
          <p:cNvPr id="35" name="node-step-43"/>
          <p:cNvSpPr txBox="1"/>
          <p:nvPr/>
        </p:nvSpPr>
        <p:spPr>
          <a:xfrm>
            <a:off x="4156634" y="3566160"/>
            <a:ext cx="160020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FastAPI + guards</a:t>
            </a:r>
            <a:endParaRPr lang="en-US" sz="1300" dirty="0"/>
          </a:p>
          <a:p>
            <a:pPr algn="ctr" indent="0" marL="0">
              <a:buNone/>
            </a:pPr>
            <a:r>
              <a:rPr lang="en-US" sz="1100" dirty="0">
                <a:solidFill>
                  <a:srgbClr val="2B3A55"/>
                </a:solidFill>
              </a:rPr>
              <a:t>API key · daily cap</a:t>
            </a:r>
            <a:endParaRPr lang="en-US" sz="1300" dirty="0"/>
          </a:p>
        </p:txBody>
      </p:sp>
      <p:sp>
        <p:nvSpPr>
          <p:cNvPr id="36" name="badge-44"/>
          <p:cNvSpPr txBox="1"/>
          <p:nvPr/>
        </p:nvSpPr>
        <p:spPr>
          <a:xfrm>
            <a:off x="4046906" y="3447288"/>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7</a:t>
            </a:r>
            <a:endParaRPr lang="en-US" sz="1100" dirty="0"/>
          </a:p>
        </p:txBody>
      </p:sp>
      <p:sp>
        <p:nvSpPr>
          <p:cNvPr id="37" name="arrow-45"/>
          <p:cNvSpPr/>
          <p:nvPr/>
        </p:nvSpPr>
        <p:spPr>
          <a:xfrm>
            <a:off x="5756834" y="3931920"/>
            <a:ext cx="361874" cy="0"/>
          </a:xfrm>
          <a:prstGeom prst="line">
            <a:avLst/>
          </a:prstGeom>
          <a:noFill/>
          <a:ln w="19050">
            <a:solidFill>
              <a:srgbClr val="5B6B82"/>
            </a:solidFill>
            <a:prstDash val="solid"/>
            <a:tailEnd type="triangle"/>
          </a:ln>
        </p:spPr>
      </p:sp>
      <p:sp>
        <p:nvSpPr>
          <p:cNvPr id="38" name="node-step-46"/>
          <p:cNvSpPr txBox="1"/>
          <p:nvPr/>
        </p:nvSpPr>
        <p:spPr>
          <a:xfrm>
            <a:off x="6118708" y="3566160"/>
            <a:ext cx="160020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Hybrid retrieval</a:t>
            </a:r>
            <a:endParaRPr lang="en-US" sz="1300" dirty="0"/>
          </a:p>
          <a:p>
            <a:pPr algn="ctr" indent="0" marL="0">
              <a:buNone/>
            </a:pPr>
            <a:r>
              <a:rPr lang="en-US" sz="1100" dirty="0">
                <a:solidFill>
                  <a:srgbClr val="2B3A55"/>
                </a:solidFill>
              </a:rPr>
              <a:t>dense + BM25 + RRF</a:t>
            </a:r>
            <a:endParaRPr lang="en-US" sz="1300" dirty="0"/>
          </a:p>
        </p:txBody>
      </p:sp>
      <p:sp>
        <p:nvSpPr>
          <p:cNvPr id="39" name="badge-47"/>
          <p:cNvSpPr txBox="1"/>
          <p:nvPr/>
        </p:nvSpPr>
        <p:spPr>
          <a:xfrm>
            <a:off x="6008980" y="3447288"/>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3</a:t>
            </a:r>
            <a:endParaRPr lang="en-US" sz="1100" dirty="0"/>
          </a:p>
        </p:txBody>
      </p:sp>
      <p:sp>
        <p:nvSpPr>
          <p:cNvPr id="40" name="arrow-48"/>
          <p:cNvSpPr/>
          <p:nvPr/>
        </p:nvSpPr>
        <p:spPr>
          <a:xfrm>
            <a:off x="7718908" y="3931920"/>
            <a:ext cx="361874" cy="0"/>
          </a:xfrm>
          <a:prstGeom prst="line">
            <a:avLst/>
          </a:prstGeom>
          <a:noFill/>
          <a:ln w="19050">
            <a:solidFill>
              <a:srgbClr val="5B6B82"/>
            </a:solidFill>
            <a:prstDash val="solid"/>
            <a:tailEnd type="triangle"/>
          </a:ln>
        </p:spPr>
      </p:sp>
      <p:sp>
        <p:nvSpPr>
          <p:cNvPr id="41" name="node-step-49"/>
          <p:cNvSpPr txBox="1"/>
          <p:nvPr/>
        </p:nvSpPr>
        <p:spPr>
          <a:xfrm>
            <a:off x="8080781" y="3566160"/>
            <a:ext cx="160020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LLM gateway</a:t>
            </a:r>
            <a:endParaRPr lang="en-US" sz="1300" dirty="0"/>
          </a:p>
          <a:p>
            <a:pPr algn="ctr" indent="0" marL="0">
              <a:buNone/>
            </a:pPr>
            <a:r>
              <a:rPr lang="en-US" sz="1100" dirty="0">
                <a:solidFill>
                  <a:srgbClr val="2B3A55"/>
                </a:solidFill>
              </a:rPr>
              <a:t>cache · retry · fallback</a:t>
            </a:r>
            <a:endParaRPr lang="en-US" sz="1300" dirty="0"/>
          </a:p>
        </p:txBody>
      </p:sp>
      <p:sp>
        <p:nvSpPr>
          <p:cNvPr id="42" name="badge-50"/>
          <p:cNvSpPr txBox="1"/>
          <p:nvPr/>
        </p:nvSpPr>
        <p:spPr>
          <a:xfrm>
            <a:off x="7971053" y="3447288"/>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4</a:t>
            </a:r>
            <a:endParaRPr lang="en-US" sz="1100" dirty="0"/>
          </a:p>
        </p:txBody>
      </p:sp>
      <p:sp>
        <p:nvSpPr>
          <p:cNvPr id="43" name="arrow-51"/>
          <p:cNvSpPr/>
          <p:nvPr/>
        </p:nvSpPr>
        <p:spPr>
          <a:xfrm>
            <a:off x="9680981" y="3931920"/>
            <a:ext cx="361874" cy="0"/>
          </a:xfrm>
          <a:prstGeom prst="line">
            <a:avLst/>
          </a:prstGeom>
          <a:noFill/>
          <a:ln w="19050">
            <a:solidFill>
              <a:srgbClr val="5B6B82"/>
            </a:solidFill>
            <a:prstDash val="solid"/>
            <a:tailEnd type="triangle"/>
          </a:ln>
        </p:spPr>
      </p:sp>
      <p:sp>
        <p:nvSpPr>
          <p:cNvPr id="44" name="node-step-52"/>
          <p:cNvSpPr txBox="1"/>
          <p:nvPr/>
        </p:nvSpPr>
        <p:spPr>
          <a:xfrm>
            <a:off x="10042855" y="3566160"/>
            <a:ext cx="160020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Answer or verdict</a:t>
            </a:r>
            <a:endParaRPr lang="en-US" sz="1300" dirty="0"/>
          </a:p>
          <a:p>
            <a:pPr algn="ctr" indent="0" marL="0">
              <a:buNone/>
            </a:pPr>
            <a:r>
              <a:rPr lang="en-US" sz="1100" dirty="0">
                <a:solidFill>
                  <a:srgbClr val="2B3A55"/>
                </a:solidFill>
              </a:rPr>
              <a:t>citations verified</a:t>
            </a:r>
            <a:endParaRPr lang="en-US" sz="1300" dirty="0"/>
          </a:p>
        </p:txBody>
      </p:sp>
      <p:sp>
        <p:nvSpPr>
          <p:cNvPr id="45" name="badge-53"/>
          <p:cNvSpPr txBox="1"/>
          <p:nvPr/>
        </p:nvSpPr>
        <p:spPr>
          <a:xfrm>
            <a:off x="9933127" y="3447288"/>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5</a:t>
            </a:r>
            <a:endParaRPr lang="en-US" sz="1100" dirty="0"/>
          </a:p>
        </p:txBody>
      </p:sp>
      <p:sp>
        <p:nvSpPr>
          <p:cNvPr id="46" name="arrow-54"/>
          <p:cNvSpPr/>
          <p:nvPr/>
        </p:nvSpPr>
        <p:spPr>
          <a:xfrm>
            <a:off x="10842955" y="2898648"/>
            <a:ext cx="0" cy="333756"/>
          </a:xfrm>
          <a:prstGeom prst="line">
            <a:avLst/>
          </a:prstGeom>
          <a:noFill/>
          <a:ln w="22225">
            <a:solidFill>
              <a:srgbClr val="E3A21A"/>
            </a:solidFill>
            <a:prstDash val="solid"/>
          </a:ln>
        </p:spPr>
      </p:sp>
      <p:sp>
        <p:nvSpPr>
          <p:cNvPr id="47" name="arrow-55"/>
          <p:cNvSpPr/>
          <p:nvPr/>
        </p:nvSpPr>
        <p:spPr>
          <a:xfrm flipH="1">
            <a:off x="6918808" y="3232404"/>
            <a:ext cx="3924148" cy="0"/>
          </a:xfrm>
          <a:prstGeom prst="line">
            <a:avLst/>
          </a:prstGeom>
          <a:noFill/>
          <a:ln w="22225">
            <a:solidFill>
              <a:srgbClr val="E3A21A"/>
            </a:solidFill>
            <a:prstDash val="solid"/>
          </a:ln>
        </p:spPr>
      </p:sp>
      <p:sp>
        <p:nvSpPr>
          <p:cNvPr id="48" name="arrow-56"/>
          <p:cNvSpPr/>
          <p:nvPr/>
        </p:nvSpPr>
        <p:spPr>
          <a:xfrm>
            <a:off x="6918808" y="3232404"/>
            <a:ext cx="0" cy="333756"/>
          </a:xfrm>
          <a:prstGeom prst="line">
            <a:avLst/>
          </a:prstGeom>
          <a:noFill/>
          <a:ln w="22225">
            <a:solidFill>
              <a:srgbClr val="E3A21A"/>
            </a:solidFill>
            <a:prstDash val="solid"/>
            <a:tailEnd type="triangle"/>
          </a:ln>
        </p:spPr>
      </p:sp>
      <p:sp>
        <p:nvSpPr>
          <p:cNvPr id="49" name="text-57"/>
          <p:cNvSpPr txBox="1"/>
          <p:nvPr/>
        </p:nvSpPr>
        <p:spPr>
          <a:xfrm>
            <a:off x="7010248" y="3003804"/>
            <a:ext cx="2926080" cy="219456"/>
          </a:xfrm>
          <a:prstGeom prst="rect">
            <a:avLst/>
          </a:prstGeom>
          <a:noFill/>
          <a:ln/>
        </p:spPr>
        <p:txBody>
          <a:bodyPr wrap="square" lIns="0" tIns="0" rIns="0" bIns="0" rtlCol="0" anchor="ctr"/>
          <a:lstStyle/>
          <a:p>
            <a:pPr algn="l" indent="0" marL="0">
              <a:buNone/>
            </a:pPr>
            <a:r>
              <a:rPr lang="en-US" sz="1050" i="1" dirty="0">
                <a:solidFill>
                  <a:srgbClr val="5B6B82"/>
                </a:solidFill>
              </a:rPr>
              <a:t>the same indexes serve every request</a:t>
            </a:r>
            <a:endParaRPr lang="en-US" sz="1050" dirty="0"/>
          </a:p>
        </p:txBody>
      </p:sp>
      <p:sp>
        <p:nvSpPr>
          <p:cNvPr id="50" name="node-step-58"/>
          <p:cNvSpPr txBox="1"/>
          <p:nvPr/>
        </p:nvSpPr>
        <p:spPr>
          <a:xfrm>
            <a:off x="2194560" y="4965192"/>
            <a:ext cx="21488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Evaluation harness</a:t>
            </a:r>
            <a:endParaRPr lang="en-US" sz="1300" dirty="0"/>
          </a:p>
          <a:p>
            <a:pPr algn="ctr" indent="0" marL="0">
              <a:buNone/>
            </a:pPr>
            <a:r>
              <a:rPr lang="en-US" sz="1100" dirty="0">
                <a:solidFill>
                  <a:srgbClr val="2B3A55"/>
                </a:solidFill>
              </a:rPr>
              <a:t>scores retrieval and answers</a:t>
            </a:r>
            <a:endParaRPr lang="en-US" sz="1300" dirty="0"/>
          </a:p>
        </p:txBody>
      </p:sp>
      <p:sp>
        <p:nvSpPr>
          <p:cNvPr id="51" name="badge-59"/>
          <p:cNvSpPr txBox="1"/>
          <p:nvPr/>
        </p:nvSpPr>
        <p:spPr>
          <a:xfrm>
            <a:off x="2084832" y="4846320"/>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8</a:t>
            </a:r>
            <a:endParaRPr lang="en-US" sz="1100" dirty="0"/>
          </a:p>
        </p:txBody>
      </p:sp>
      <p:sp>
        <p:nvSpPr>
          <p:cNvPr id="52" name="node-step-60"/>
          <p:cNvSpPr txBox="1"/>
          <p:nvPr/>
        </p:nvSpPr>
        <p:spPr>
          <a:xfrm>
            <a:off x="4627778" y="4965192"/>
            <a:ext cx="21488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Fine-tuned embedder</a:t>
            </a:r>
            <a:endParaRPr lang="en-US" sz="1300" dirty="0"/>
          </a:p>
          <a:p>
            <a:pPr algn="ctr" indent="0" marL="0">
              <a:buNone/>
            </a:pPr>
            <a:r>
              <a:rPr lang="en-US" sz="1100" dirty="0">
                <a:solidFill>
                  <a:srgbClr val="2B3A55"/>
                </a:solidFill>
              </a:rPr>
              <a:t>feeds the Embed step</a:t>
            </a:r>
            <a:endParaRPr lang="en-US" sz="1300" dirty="0"/>
          </a:p>
        </p:txBody>
      </p:sp>
      <p:sp>
        <p:nvSpPr>
          <p:cNvPr id="53" name="badge-61"/>
          <p:cNvSpPr txBox="1"/>
          <p:nvPr/>
        </p:nvSpPr>
        <p:spPr>
          <a:xfrm>
            <a:off x="4518050" y="4846320"/>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9</a:t>
            </a:r>
            <a:endParaRPr lang="en-US" sz="1100" dirty="0"/>
          </a:p>
        </p:txBody>
      </p:sp>
      <p:sp>
        <p:nvSpPr>
          <p:cNvPr id="54" name="node-step-62"/>
          <p:cNvSpPr txBox="1"/>
          <p:nvPr/>
        </p:nvSpPr>
        <p:spPr>
          <a:xfrm>
            <a:off x="7060997" y="4965192"/>
            <a:ext cx="21488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CI/CD + Cloud Run</a:t>
            </a:r>
            <a:endParaRPr lang="en-US" sz="1300" dirty="0"/>
          </a:p>
          <a:p>
            <a:pPr algn="ctr" indent="0" marL="0">
              <a:buNone/>
            </a:pPr>
            <a:r>
              <a:rPr lang="en-US" sz="1100" dirty="0">
                <a:solidFill>
                  <a:srgbClr val="2B3A55"/>
                </a:solidFill>
              </a:rPr>
              <a:t>ships the API at EUR 0</a:t>
            </a:r>
            <a:endParaRPr lang="en-US" sz="1300" dirty="0"/>
          </a:p>
        </p:txBody>
      </p:sp>
      <p:sp>
        <p:nvSpPr>
          <p:cNvPr id="55" name="badge-63"/>
          <p:cNvSpPr txBox="1"/>
          <p:nvPr/>
        </p:nvSpPr>
        <p:spPr>
          <a:xfrm>
            <a:off x="6951269" y="4846320"/>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10</a:t>
            </a:r>
            <a:endParaRPr lang="en-US" sz="1100" dirty="0"/>
          </a:p>
        </p:txBody>
      </p:sp>
      <p:sp>
        <p:nvSpPr>
          <p:cNvPr id="56" name="node-step-64"/>
          <p:cNvSpPr txBox="1"/>
          <p:nvPr/>
        </p:nvSpPr>
        <p:spPr>
          <a:xfrm>
            <a:off x="9494215" y="4965192"/>
            <a:ext cx="21488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Observability</a:t>
            </a:r>
            <a:endParaRPr lang="en-US" sz="1300" dirty="0"/>
          </a:p>
          <a:p>
            <a:pPr algn="ctr" indent="0" marL="0">
              <a:buNone/>
            </a:pPr>
            <a:r>
              <a:rPr lang="en-US" sz="1100" dirty="0">
                <a:solidFill>
                  <a:srgbClr val="2B3A55"/>
                </a:solidFill>
              </a:rPr>
              <a:t>traces, logs, cost</a:t>
            </a:r>
            <a:endParaRPr lang="en-US" sz="1300" dirty="0"/>
          </a:p>
        </p:txBody>
      </p:sp>
      <p:sp>
        <p:nvSpPr>
          <p:cNvPr id="57" name="badge-65"/>
          <p:cNvSpPr txBox="1"/>
          <p:nvPr/>
        </p:nvSpPr>
        <p:spPr>
          <a:xfrm>
            <a:off x="9384487" y="4846320"/>
            <a:ext cx="292608" cy="292608"/>
          </a:xfrm>
          <a:prstGeom prst="ellipse">
            <a:avLst/>
          </a:prstGeom>
          <a:solidFill>
            <a:srgbClr val="E3A21A"/>
          </a:solidFill>
          <a:ln/>
        </p:spPr>
        <p:txBody>
          <a:bodyPr wrap="square" lIns="0" tIns="0" rIns="0" bIns="0" rtlCol="0" anchor="ctr"/>
          <a:lstStyle/>
          <a:p>
            <a:pPr algn="ctr" indent="0" marL="0">
              <a:buNone/>
            </a:pPr>
            <a:r>
              <a:rPr lang="en-US" sz="1100" b="1" dirty="0">
                <a:solidFill>
                  <a:srgbClr val="13203A"/>
                </a:solidFill>
                <a:latin typeface="Cambria" pitchFamily="34" charset="0"/>
                <a:ea typeface="Cambria" pitchFamily="34" charset="-122"/>
                <a:cs typeface="Cambria" pitchFamily="34" charset="-120"/>
              </a:rPr>
              <a:t>11</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OVERVIEW</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Two request paths, one shared core</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Q&amp;A is a fixed pipeline. Classification is an agent loop. Both use the same retriever and LLM gateway.</a:t>
            </a:r>
            <a:endParaRPr lang="en-US" sz="1600" dirty="0"/>
          </a:p>
        </p:txBody>
      </p:sp>
      <p:sp>
        <p:nvSpPr>
          <p:cNvPr id="6" name="chip-66"/>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67"/>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68"/>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io-69"/>
          <p:cNvSpPr txBox="1"/>
          <p:nvPr/>
        </p:nvSpPr>
        <p:spPr>
          <a:xfrm>
            <a:off x="548640" y="3154680"/>
            <a:ext cx="1325880" cy="822960"/>
          </a:xfrm>
          <a:prstGeom prst="roundRect">
            <a:avLst>
              <a:gd name="adj" fmla="val 7778"/>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Client</a:t>
            </a:r>
            <a:endParaRPr lang="en-US" sz="1300" dirty="0"/>
          </a:p>
          <a:p>
            <a:pPr algn="ctr" indent="0" marL="0">
              <a:buNone/>
            </a:pPr>
            <a:r>
              <a:rPr lang="en-US" sz="1150" dirty="0">
                <a:solidFill>
                  <a:srgbClr val="FFFFFF"/>
                </a:solidFill>
              </a:rPr>
              <a:t>question or system</a:t>
            </a:r>
            <a:endParaRPr lang="en-US" sz="1300" dirty="0"/>
          </a:p>
        </p:txBody>
      </p:sp>
      <p:sp>
        <p:nvSpPr>
          <p:cNvPr id="10" name="node-step-70"/>
          <p:cNvSpPr txBox="1"/>
          <p:nvPr/>
        </p:nvSpPr>
        <p:spPr>
          <a:xfrm>
            <a:off x="2194560" y="3154680"/>
            <a:ext cx="1417320" cy="822960"/>
          </a:xfrm>
          <a:prstGeom prst="roundRect">
            <a:avLst>
              <a:gd name="adj" fmla="val 7778"/>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FastAPI</a:t>
            </a:r>
            <a:endParaRPr lang="en-US" sz="1300" dirty="0"/>
          </a:p>
          <a:p>
            <a:pPr algn="ctr" indent="0" marL="0">
              <a:buNone/>
            </a:pPr>
            <a:r>
              <a:rPr lang="en-US" sz="1150" dirty="0">
                <a:solidFill>
                  <a:srgbClr val="2B3A55"/>
                </a:solidFill>
              </a:rPr>
              <a:t>guards</a:t>
            </a:r>
            <a:endParaRPr lang="en-US" sz="1300" dirty="0"/>
          </a:p>
        </p:txBody>
      </p:sp>
      <p:sp>
        <p:nvSpPr>
          <p:cNvPr id="11" name="arrow-71"/>
          <p:cNvSpPr/>
          <p:nvPr/>
        </p:nvSpPr>
        <p:spPr>
          <a:xfrm>
            <a:off x="1874520" y="3566160"/>
            <a:ext cx="320040" cy="0"/>
          </a:xfrm>
          <a:prstGeom prst="line">
            <a:avLst/>
          </a:prstGeom>
          <a:noFill/>
          <a:ln w="19050">
            <a:solidFill>
              <a:srgbClr val="5B6B82"/>
            </a:solidFill>
            <a:prstDash val="solid"/>
            <a:tailEnd type="triangle"/>
          </a:ln>
        </p:spPr>
      </p:sp>
      <p:sp>
        <p:nvSpPr>
          <p:cNvPr id="12" name="text-72"/>
          <p:cNvSpPr txBox="1"/>
          <p:nvPr/>
        </p:nvSpPr>
        <p:spPr>
          <a:xfrm>
            <a:off x="4160520" y="1956816"/>
            <a:ext cx="5486400" cy="274320"/>
          </a:xfrm>
          <a:prstGeom prst="rect">
            <a:avLst/>
          </a:prstGeom>
          <a:noFill/>
          <a:ln/>
        </p:spPr>
        <p:txBody>
          <a:bodyPr wrap="square" lIns="0" tIns="0" rIns="0" bIns="0" rtlCol="0" anchor="t"/>
          <a:lstStyle/>
          <a:p>
            <a:pPr indent="0" marL="0">
              <a:buNone/>
            </a:pPr>
            <a:r>
              <a:rPr lang="en-US" sz="1300" b="1" dirty="0">
                <a:solidFill>
                  <a:srgbClr val="13203A"/>
                </a:solidFill>
              </a:rPr>
              <a:t>/ask: one retrieval, one LLM call</a:t>
            </a:r>
            <a:endParaRPr lang="en-US" sz="1300" dirty="0"/>
          </a:p>
        </p:txBody>
      </p:sp>
      <p:sp>
        <p:nvSpPr>
          <p:cNvPr id="13" name="text-73"/>
          <p:cNvSpPr txBox="1"/>
          <p:nvPr/>
        </p:nvSpPr>
        <p:spPr>
          <a:xfrm>
            <a:off x="4160520" y="3694176"/>
            <a:ext cx="5486400" cy="274320"/>
          </a:xfrm>
          <a:prstGeom prst="rect">
            <a:avLst/>
          </a:prstGeom>
          <a:noFill/>
          <a:ln/>
        </p:spPr>
        <p:txBody>
          <a:bodyPr wrap="square" lIns="0" tIns="0" rIns="0" bIns="0" rtlCol="0" anchor="t"/>
          <a:lstStyle/>
          <a:p>
            <a:pPr indent="0" marL="0">
              <a:buNone/>
            </a:pPr>
            <a:r>
              <a:rPr lang="en-US" sz="1300" b="1" dirty="0">
                <a:solidFill>
                  <a:srgbClr val="13203A"/>
                </a:solidFill>
              </a:rPr>
              <a:t>/classify and /upload: an agent loop, several calls</a:t>
            </a:r>
            <a:endParaRPr lang="en-US" sz="1300" dirty="0"/>
          </a:p>
        </p:txBody>
      </p:sp>
      <p:sp>
        <p:nvSpPr>
          <p:cNvPr id="14" name="node-step-74"/>
          <p:cNvSpPr txBox="1"/>
          <p:nvPr/>
        </p:nvSpPr>
        <p:spPr>
          <a:xfrm>
            <a:off x="4160520" y="2286000"/>
            <a:ext cx="16916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Retrieve top 5</a:t>
            </a:r>
            <a:endParaRPr lang="en-US" sz="1300" dirty="0"/>
          </a:p>
          <a:p>
            <a:pPr algn="ctr" indent="0" marL="0">
              <a:buNone/>
            </a:pPr>
            <a:r>
              <a:rPr lang="en-US" sz="1100" dirty="0">
                <a:solidFill>
                  <a:srgbClr val="2B3A55"/>
                </a:solidFill>
              </a:rPr>
              <a:t>hybrid, once</a:t>
            </a:r>
            <a:endParaRPr lang="en-US" sz="1300" dirty="0"/>
          </a:p>
        </p:txBody>
      </p:sp>
      <p:sp>
        <p:nvSpPr>
          <p:cNvPr id="15" name="arrow-75"/>
          <p:cNvSpPr/>
          <p:nvPr/>
        </p:nvSpPr>
        <p:spPr>
          <a:xfrm>
            <a:off x="5852160" y="2651760"/>
            <a:ext cx="201168" cy="0"/>
          </a:xfrm>
          <a:prstGeom prst="line">
            <a:avLst/>
          </a:prstGeom>
          <a:noFill/>
          <a:ln w="19050">
            <a:solidFill>
              <a:srgbClr val="5B6B82"/>
            </a:solidFill>
            <a:prstDash val="solid"/>
            <a:tailEnd type="triangle"/>
          </a:ln>
        </p:spPr>
      </p:sp>
      <p:sp>
        <p:nvSpPr>
          <p:cNvPr id="16" name="node-step-76"/>
          <p:cNvSpPr txBox="1"/>
          <p:nvPr/>
        </p:nvSpPr>
        <p:spPr>
          <a:xfrm>
            <a:off x="6053328" y="2286000"/>
            <a:ext cx="16916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Generate</a:t>
            </a:r>
            <a:endParaRPr lang="en-US" sz="1300" dirty="0"/>
          </a:p>
          <a:p>
            <a:pPr algn="ctr" indent="0" marL="0">
              <a:buNone/>
            </a:pPr>
            <a:r>
              <a:rPr lang="en-US" sz="1100" dirty="0">
                <a:solidFill>
                  <a:srgbClr val="2B3A55"/>
                </a:solidFill>
              </a:rPr>
              <a:t>1 call, temperature 0</a:t>
            </a:r>
            <a:endParaRPr lang="en-US" sz="1300" dirty="0"/>
          </a:p>
        </p:txBody>
      </p:sp>
      <p:sp>
        <p:nvSpPr>
          <p:cNvPr id="17" name="arrow-77"/>
          <p:cNvSpPr/>
          <p:nvPr/>
        </p:nvSpPr>
        <p:spPr>
          <a:xfrm>
            <a:off x="7744968" y="2651760"/>
            <a:ext cx="201168" cy="0"/>
          </a:xfrm>
          <a:prstGeom prst="line">
            <a:avLst/>
          </a:prstGeom>
          <a:noFill/>
          <a:ln w="19050">
            <a:solidFill>
              <a:srgbClr val="5B6B82"/>
            </a:solidFill>
            <a:prstDash val="solid"/>
            <a:tailEnd type="triangle"/>
          </a:ln>
        </p:spPr>
      </p:sp>
      <p:sp>
        <p:nvSpPr>
          <p:cNvPr id="18" name="node-step-78"/>
          <p:cNvSpPr txBox="1"/>
          <p:nvPr/>
        </p:nvSpPr>
        <p:spPr>
          <a:xfrm>
            <a:off x="7946136" y="2286000"/>
            <a:ext cx="16916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Verify citations</a:t>
            </a:r>
            <a:endParaRPr lang="en-US" sz="1300" dirty="0"/>
          </a:p>
          <a:p>
            <a:pPr algn="ctr" indent="0" marL="0">
              <a:buNone/>
            </a:pPr>
            <a:r>
              <a:rPr lang="en-US" sz="1100" dirty="0">
                <a:solidFill>
                  <a:srgbClr val="2B3A55"/>
                </a:solidFill>
              </a:rPr>
              <a:t>strip invented IDs</a:t>
            </a:r>
            <a:endParaRPr lang="en-US" sz="1300" dirty="0"/>
          </a:p>
        </p:txBody>
      </p:sp>
      <p:sp>
        <p:nvSpPr>
          <p:cNvPr id="19" name="arrow-79"/>
          <p:cNvSpPr/>
          <p:nvPr/>
        </p:nvSpPr>
        <p:spPr>
          <a:xfrm>
            <a:off x="9637776" y="2651760"/>
            <a:ext cx="201168" cy="0"/>
          </a:xfrm>
          <a:prstGeom prst="line">
            <a:avLst/>
          </a:prstGeom>
          <a:noFill/>
          <a:ln w="19050">
            <a:solidFill>
              <a:srgbClr val="5B6B82"/>
            </a:solidFill>
            <a:prstDash val="solid"/>
            <a:tailEnd type="triangle"/>
          </a:ln>
        </p:spPr>
      </p:sp>
      <p:sp>
        <p:nvSpPr>
          <p:cNvPr id="20" name="node-io-80"/>
          <p:cNvSpPr txBox="1"/>
          <p:nvPr/>
        </p:nvSpPr>
        <p:spPr>
          <a:xfrm>
            <a:off x="9838944" y="2286000"/>
            <a:ext cx="1691640" cy="731520"/>
          </a:xfrm>
          <a:prstGeom prst="roundRect">
            <a:avLst>
              <a:gd name="adj" fmla="val 8750"/>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Cited answer</a:t>
            </a:r>
            <a:endParaRPr lang="en-US" sz="1300" dirty="0"/>
          </a:p>
          <a:p>
            <a:pPr algn="ctr" indent="0" marL="0">
              <a:buNone/>
            </a:pPr>
            <a:r>
              <a:rPr lang="en-US" sz="1100" dirty="0">
                <a:solidFill>
                  <a:srgbClr val="FFFFFF"/>
                </a:solidFill>
              </a:rPr>
              <a:t>or refusal, EN/FR</a:t>
            </a:r>
            <a:endParaRPr lang="en-US" sz="1300" dirty="0"/>
          </a:p>
        </p:txBody>
      </p:sp>
      <p:sp>
        <p:nvSpPr>
          <p:cNvPr id="21" name="node-step-81"/>
          <p:cNvSpPr txBox="1"/>
          <p:nvPr/>
        </p:nvSpPr>
        <p:spPr>
          <a:xfrm>
            <a:off x="4160520" y="4023360"/>
            <a:ext cx="16916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Agent loop</a:t>
            </a:r>
            <a:endParaRPr lang="en-US" sz="1300" dirty="0"/>
          </a:p>
          <a:p>
            <a:pPr algn="ctr" indent="0" marL="0">
              <a:buNone/>
            </a:pPr>
            <a:r>
              <a:rPr lang="en-US" sz="1100" dirty="0">
                <a:solidFill>
                  <a:srgbClr val="2B3A55"/>
                </a:solidFill>
              </a:rPr>
              <a:t>LLM ⇄ search_corpus</a:t>
            </a:r>
            <a:endParaRPr lang="en-US" sz="1300" dirty="0"/>
          </a:p>
        </p:txBody>
      </p:sp>
      <p:sp>
        <p:nvSpPr>
          <p:cNvPr id="22" name="arrow-82"/>
          <p:cNvSpPr/>
          <p:nvPr/>
        </p:nvSpPr>
        <p:spPr>
          <a:xfrm>
            <a:off x="5852160" y="4389120"/>
            <a:ext cx="201168" cy="0"/>
          </a:xfrm>
          <a:prstGeom prst="line">
            <a:avLst/>
          </a:prstGeom>
          <a:noFill/>
          <a:ln w="19050">
            <a:solidFill>
              <a:srgbClr val="5B6B82"/>
            </a:solidFill>
            <a:prstDash val="solid"/>
            <a:tailEnd type="triangle"/>
          </a:ln>
        </p:spPr>
      </p:sp>
      <p:sp>
        <p:nvSpPr>
          <p:cNvPr id="23" name="node-step-83"/>
          <p:cNvSpPr txBox="1"/>
          <p:nvPr/>
        </p:nvSpPr>
        <p:spPr>
          <a:xfrm>
            <a:off x="6053328" y="4023360"/>
            <a:ext cx="16916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Submit</a:t>
            </a:r>
            <a:endParaRPr lang="en-US" sz="1300" dirty="0"/>
          </a:p>
          <a:p>
            <a:pPr algn="ctr" indent="0" marL="0">
              <a:buNone/>
            </a:pPr>
            <a:r>
              <a:rPr lang="en-US" sz="1100" dirty="0">
                <a:solidFill>
                  <a:srgbClr val="2B3A55"/>
                </a:solidFill>
              </a:rPr>
              <a:t>submit_classification</a:t>
            </a:r>
            <a:endParaRPr lang="en-US" sz="1300" dirty="0"/>
          </a:p>
        </p:txBody>
      </p:sp>
      <p:sp>
        <p:nvSpPr>
          <p:cNvPr id="24" name="arrow-84"/>
          <p:cNvSpPr/>
          <p:nvPr/>
        </p:nvSpPr>
        <p:spPr>
          <a:xfrm>
            <a:off x="7744968" y="4389120"/>
            <a:ext cx="201168" cy="0"/>
          </a:xfrm>
          <a:prstGeom prst="line">
            <a:avLst/>
          </a:prstGeom>
          <a:noFill/>
          <a:ln w="19050">
            <a:solidFill>
              <a:srgbClr val="5B6B82"/>
            </a:solidFill>
            <a:prstDash val="solid"/>
            <a:tailEnd type="triangle"/>
          </a:ln>
        </p:spPr>
      </p:sp>
      <p:sp>
        <p:nvSpPr>
          <p:cNvPr id="25" name="node-step-85"/>
          <p:cNvSpPr txBox="1"/>
          <p:nvPr/>
        </p:nvSpPr>
        <p:spPr>
          <a:xfrm>
            <a:off x="7946136" y="4023360"/>
            <a:ext cx="169164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Validate</a:t>
            </a:r>
            <a:endParaRPr lang="en-US" sz="1300" dirty="0"/>
          </a:p>
          <a:p>
            <a:pPr algn="ctr" indent="0" marL="0">
              <a:buNone/>
            </a:pPr>
            <a:r>
              <a:rPr lang="en-US" sz="1100" dirty="0">
                <a:solidFill>
                  <a:srgbClr val="2B3A55"/>
                </a:solidFill>
              </a:rPr>
              <a:t>schema + cited IDs</a:t>
            </a:r>
            <a:endParaRPr lang="en-US" sz="1300" dirty="0"/>
          </a:p>
        </p:txBody>
      </p:sp>
      <p:sp>
        <p:nvSpPr>
          <p:cNvPr id="26" name="arrow-86"/>
          <p:cNvSpPr/>
          <p:nvPr/>
        </p:nvSpPr>
        <p:spPr>
          <a:xfrm>
            <a:off x="9637776" y="4389120"/>
            <a:ext cx="201168" cy="0"/>
          </a:xfrm>
          <a:prstGeom prst="line">
            <a:avLst/>
          </a:prstGeom>
          <a:noFill/>
          <a:ln w="19050">
            <a:solidFill>
              <a:srgbClr val="5B6B82"/>
            </a:solidFill>
            <a:prstDash val="solid"/>
            <a:tailEnd type="triangle"/>
          </a:ln>
        </p:spPr>
      </p:sp>
      <p:sp>
        <p:nvSpPr>
          <p:cNvPr id="27" name="node-io-87"/>
          <p:cNvSpPr txBox="1"/>
          <p:nvPr/>
        </p:nvSpPr>
        <p:spPr>
          <a:xfrm>
            <a:off x="9838944" y="4023360"/>
            <a:ext cx="1691640" cy="731520"/>
          </a:xfrm>
          <a:prstGeom prst="roundRect">
            <a:avLst>
              <a:gd name="adj" fmla="val 8750"/>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Risk tier JSON</a:t>
            </a:r>
            <a:endParaRPr lang="en-US" sz="1300" dirty="0"/>
          </a:p>
          <a:p>
            <a:pPr algn="ctr" indent="0" marL="0">
              <a:buNone/>
            </a:pPr>
            <a:r>
              <a:rPr lang="en-US" sz="1100" dirty="0">
                <a:solidFill>
                  <a:srgbClr val="FFFFFF"/>
                </a:solidFill>
              </a:rPr>
              <a:t>+ Sheets register row</a:t>
            </a:r>
            <a:endParaRPr lang="en-US" sz="1300" dirty="0"/>
          </a:p>
        </p:txBody>
      </p:sp>
      <p:sp>
        <p:nvSpPr>
          <p:cNvPr id="28" name="arrow-88"/>
          <p:cNvSpPr/>
          <p:nvPr/>
        </p:nvSpPr>
        <p:spPr>
          <a:xfrm>
            <a:off x="3611880" y="3429000"/>
            <a:ext cx="274320" cy="0"/>
          </a:xfrm>
          <a:prstGeom prst="line">
            <a:avLst/>
          </a:prstGeom>
          <a:noFill/>
          <a:ln w="19050">
            <a:solidFill>
              <a:srgbClr val="5B6B82"/>
            </a:solidFill>
            <a:prstDash val="solid"/>
          </a:ln>
        </p:spPr>
      </p:sp>
      <p:sp>
        <p:nvSpPr>
          <p:cNvPr id="29" name="arrow-89"/>
          <p:cNvSpPr/>
          <p:nvPr/>
        </p:nvSpPr>
        <p:spPr>
          <a:xfrm flipV="1">
            <a:off x="3886200" y="2651760"/>
            <a:ext cx="0" cy="777240"/>
          </a:xfrm>
          <a:prstGeom prst="line">
            <a:avLst/>
          </a:prstGeom>
          <a:noFill/>
          <a:ln w="19050">
            <a:solidFill>
              <a:srgbClr val="5B6B82"/>
            </a:solidFill>
            <a:prstDash val="solid"/>
          </a:ln>
        </p:spPr>
      </p:sp>
      <p:sp>
        <p:nvSpPr>
          <p:cNvPr id="30" name="arrow-90"/>
          <p:cNvSpPr/>
          <p:nvPr/>
        </p:nvSpPr>
        <p:spPr>
          <a:xfrm>
            <a:off x="3886200" y="2651760"/>
            <a:ext cx="274320" cy="0"/>
          </a:xfrm>
          <a:prstGeom prst="line">
            <a:avLst/>
          </a:prstGeom>
          <a:noFill/>
          <a:ln w="19050">
            <a:solidFill>
              <a:srgbClr val="5B6B82"/>
            </a:solidFill>
            <a:prstDash val="solid"/>
            <a:tailEnd type="triangle"/>
          </a:ln>
        </p:spPr>
      </p:sp>
      <p:sp>
        <p:nvSpPr>
          <p:cNvPr id="31" name="arrow-91"/>
          <p:cNvSpPr/>
          <p:nvPr/>
        </p:nvSpPr>
        <p:spPr>
          <a:xfrm>
            <a:off x="3611880" y="3703320"/>
            <a:ext cx="274320" cy="0"/>
          </a:xfrm>
          <a:prstGeom prst="line">
            <a:avLst/>
          </a:prstGeom>
          <a:noFill/>
          <a:ln w="19050">
            <a:solidFill>
              <a:srgbClr val="5B6B82"/>
            </a:solidFill>
            <a:prstDash val="solid"/>
          </a:ln>
        </p:spPr>
      </p:sp>
      <p:sp>
        <p:nvSpPr>
          <p:cNvPr id="32" name="arrow-92"/>
          <p:cNvSpPr/>
          <p:nvPr/>
        </p:nvSpPr>
        <p:spPr>
          <a:xfrm>
            <a:off x="3886200" y="3703320"/>
            <a:ext cx="0" cy="685800"/>
          </a:xfrm>
          <a:prstGeom prst="line">
            <a:avLst/>
          </a:prstGeom>
          <a:noFill/>
          <a:ln w="19050">
            <a:solidFill>
              <a:srgbClr val="5B6B82"/>
            </a:solidFill>
            <a:prstDash val="solid"/>
          </a:ln>
        </p:spPr>
      </p:sp>
      <p:sp>
        <p:nvSpPr>
          <p:cNvPr id="33" name="arrow-93"/>
          <p:cNvSpPr/>
          <p:nvPr/>
        </p:nvSpPr>
        <p:spPr>
          <a:xfrm>
            <a:off x="3886200" y="4389120"/>
            <a:ext cx="274320" cy="0"/>
          </a:xfrm>
          <a:prstGeom prst="line">
            <a:avLst/>
          </a:prstGeom>
          <a:noFill/>
          <a:ln w="19050">
            <a:solidFill>
              <a:srgbClr val="5B6B82"/>
            </a:solidFill>
            <a:prstDash val="solid"/>
            <a:tailEnd type="triangle"/>
          </a:ln>
        </p:spPr>
      </p:sp>
      <p:sp>
        <p:nvSpPr>
          <p:cNvPr id="34" name="box-94"/>
          <p:cNvSpPr/>
          <p:nvPr/>
        </p:nvSpPr>
        <p:spPr>
          <a:xfrm>
            <a:off x="4160520" y="5138928"/>
            <a:ext cx="7482535" cy="1024128"/>
          </a:xfrm>
          <a:prstGeom prst="roundRect">
            <a:avLst>
              <a:gd name="adj" fmla="val 7143"/>
            </a:avLst>
          </a:prstGeom>
          <a:solidFill>
            <a:srgbClr val="EEF1F6"/>
          </a:solidFill>
          <a:ln/>
        </p:spPr>
      </p:sp>
      <p:sp>
        <p:nvSpPr>
          <p:cNvPr id="35" name="text-95"/>
          <p:cNvSpPr txBox="1"/>
          <p:nvPr/>
        </p:nvSpPr>
        <p:spPr>
          <a:xfrm>
            <a:off x="4343400" y="5212080"/>
            <a:ext cx="7116775" cy="274320"/>
          </a:xfrm>
          <a:prstGeom prst="rect">
            <a:avLst/>
          </a:prstGeom>
          <a:noFill/>
          <a:ln/>
        </p:spPr>
        <p:txBody>
          <a:bodyPr wrap="square" lIns="0" tIns="0" rIns="0" bIns="0" rtlCol="0" anchor="t"/>
          <a:lstStyle/>
          <a:p>
            <a:pPr indent="0" marL="0">
              <a:buNone/>
            </a:pPr>
            <a:r>
              <a:rPr lang="en-US" sz="1300" b="1" dirty="0">
                <a:solidFill>
                  <a:srgbClr val="13203A"/>
                </a:solidFill>
              </a:rPr>
              <a:t>Shared core used by both paths</a:t>
            </a:r>
            <a:endParaRPr lang="en-US" sz="1300" dirty="0"/>
          </a:p>
        </p:txBody>
      </p:sp>
      <p:sp>
        <p:nvSpPr>
          <p:cNvPr id="36" name="node-neutral-96"/>
          <p:cNvSpPr txBox="1"/>
          <p:nvPr/>
        </p:nvSpPr>
        <p:spPr>
          <a:xfrm>
            <a:off x="4343400" y="5559552"/>
            <a:ext cx="1676324" cy="457200"/>
          </a:xfrm>
          <a:prstGeom prst="roundRect">
            <a:avLst>
              <a:gd name="adj" fmla="val 14000"/>
            </a:avLst>
          </a:prstGeom>
          <a:solidFill>
            <a:srgbClr val="FFFFFF"/>
          </a:solidFill>
          <a:ln/>
        </p:spPr>
        <p:txBody>
          <a:bodyPr wrap="square" lIns="381" tIns="889" rIns="889" bIns="381" rtlCol="0" anchor="ctr"/>
          <a:lstStyle/>
          <a:p>
            <a:pPr algn="ctr" indent="0" marL="0">
              <a:buNone/>
            </a:pPr>
            <a:r>
              <a:rPr lang="en-US" sz="1200" b="1" dirty="0">
                <a:solidFill>
                  <a:srgbClr val="13203A"/>
                </a:solidFill>
              </a:rPr>
              <a:t>HybridRetriever</a:t>
            </a:r>
            <a:endParaRPr lang="en-US" sz="1200" dirty="0"/>
          </a:p>
        </p:txBody>
      </p:sp>
      <p:sp>
        <p:nvSpPr>
          <p:cNvPr id="37" name="node-neutral-97"/>
          <p:cNvSpPr txBox="1"/>
          <p:nvPr/>
        </p:nvSpPr>
        <p:spPr>
          <a:xfrm>
            <a:off x="6156884" y="5559552"/>
            <a:ext cx="1676324" cy="457200"/>
          </a:xfrm>
          <a:prstGeom prst="roundRect">
            <a:avLst>
              <a:gd name="adj" fmla="val 14000"/>
            </a:avLst>
          </a:prstGeom>
          <a:solidFill>
            <a:srgbClr val="FFFFFF"/>
          </a:solidFill>
          <a:ln/>
        </p:spPr>
        <p:txBody>
          <a:bodyPr wrap="square" lIns="381" tIns="889" rIns="889" bIns="381" rtlCol="0" anchor="ctr"/>
          <a:lstStyle/>
          <a:p>
            <a:pPr algn="ctr" indent="0" marL="0">
              <a:buNone/>
            </a:pPr>
            <a:r>
              <a:rPr lang="en-US" sz="1200" b="1" dirty="0">
                <a:solidFill>
                  <a:srgbClr val="13203A"/>
                </a:solidFill>
              </a:rPr>
              <a:t>LLM gateway</a:t>
            </a:r>
            <a:endParaRPr lang="en-US" sz="1200" dirty="0"/>
          </a:p>
        </p:txBody>
      </p:sp>
      <p:sp>
        <p:nvSpPr>
          <p:cNvPr id="38" name="node-neutral-98"/>
          <p:cNvSpPr txBox="1"/>
          <p:nvPr/>
        </p:nvSpPr>
        <p:spPr>
          <a:xfrm>
            <a:off x="7970368" y="5559552"/>
            <a:ext cx="1676324" cy="457200"/>
          </a:xfrm>
          <a:prstGeom prst="roundRect">
            <a:avLst>
              <a:gd name="adj" fmla="val 14000"/>
            </a:avLst>
          </a:prstGeom>
          <a:solidFill>
            <a:srgbClr val="FFFFFF"/>
          </a:solidFill>
          <a:ln/>
        </p:spPr>
        <p:txBody>
          <a:bodyPr wrap="square" lIns="381" tIns="889" rIns="889" bIns="381" rtlCol="0" anchor="ctr"/>
          <a:lstStyle/>
          <a:p>
            <a:pPr algn="ctr" indent="0" marL="0">
              <a:buNone/>
            </a:pPr>
            <a:r>
              <a:rPr lang="en-US" sz="1200" b="1" dirty="0">
                <a:solidFill>
                  <a:srgbClr val="13203A"/>
                </a:solidFill>
              </a:rPr>
              <a:t>Chunk IDs + labels</a:t>
            </a:r>
            <a:endParaRPr lang="en-US" sz="1200" dirty="0"/>
          </a:p>
        </p:txBody>
      </p:sp>
      <p:sp>
        <p:nvSpPr>
          <p:cNvPr id="39" name="node-neutral-99"/>
          <p:cNvSpPr txBox="1"/>
          <p:nvPr/>
        </p:nvSpPr>
        <p:spPr>
          <a:xfrm>
            <a:off x="9783851" y="5559552"/>
            <a:ext cx="1676324" cy="457200"/>
          </a:xfrm>
          <a:prstGeom prst="roundRect">
            <a:avLst>
              <a:gd name="adj" fmla="val 14000"/>
            </a:avLst>
          </a:prstGeom>
          <a:solidFill>
            <a:srgbClr val="FFFFFF"/>
          </a:solidFill>
          <a:ln/>
        </p:spPr>
        <p:txBody>
          <a:bodyPr wrap="square" lIns="381" tIns="889" rIns="889" bIns="381" rtlCol="0" anchor="ctr"/>
          <a:lstStyle/>
          <a:p>
            <a:pPr algn="ctr" indent="0" marL="0">
              <a:buNone/>
            </a:pPr>
            <a:r>
              <a:rPr lang="en-US" sz="1200" b="1" dirty="0">
                <a:solidFill>
                  <a:srgbClr val="13203A"/>
                </a:solidFill>
              </a:rPr>
              <a:t>Guards + logging</a:t>
            </a:r>
            <a:endParaRPr lang="en-US" sz="1200" dirty="0"/>
          </a:p>
        </p:txBody>
      </p:sp>
      <p:sp>
        <p:nvSpPr>
          <p:cNvPr id="40" name="box-100"/>
          <p:cNvSpPr/>
          <p:nvPr/>
        </p:nvSpPr>
        <p:spPr>
          <a:xfrm>
            <a:off x="548640" y="4343400"/>
            <a:ext cx="3108960" cy="1819656"/>
          </a:xfrm>
          <a:prstGeom prst="roundRect">
            <a:avLst>
              <a:gd name="adj" fmla="val 4020"/>
            </a:avLst>
          </a:prstGeom>
          <a:solidFill>
            <a:srgbClr val="EEF1F6"/>
          </a:solidFill>
          <a:ln/>
        </p:spPr>
      </p:sp>
      <p:sp>
        <p:nvSpPr>
          <p:cNvPr id="41" name="text-101"/>
          <p:cNvSpPr txBox="1"/>
          <p:nvPr/>
        </p:nvSpPr>
        <p:spPr>
          <a:xfrm>
            <a:off x="685800" y="4434840"/>
            <a:ext cx="2834640" cy="274320"/>
          </a:xfrm>
          <a:prstGeom prst="rect">
            <a:avLst/>
          </a:prstGeom>
          <a:noFill/>
          <a:ln/>
        </p:spPr>
        <p:txBody>
          <a:bodyPr wrap="square" lIns="0" tIns="0" rIns="0" bIns="0" rtlCol="0" anchor="t"/>
          <a:lstStyle/>
          <a:p>
            <a:pPr indent="0" marL="0">
              <a:buNone/>
            </a:pPr>
            <a:r>
              <a:rPr lang="en-US" sz="1300" b="1" dirty="0">
                <a:solidFill>
                  <a:srgbClr val="13203A"/>
                </a:solidFill>
              </a:rPr>
              <a:t>Why two paths</a:t>
            </a:r>
            <a:endParaRPr lang="en-US" sz="1300" dirty="0"/>
          </a:p>
        </p:txBody>
      </p:sp>
      <p:sp>
        <p:nvSpPr>
          <p:cNvPr id="42" name="text-102"/>
          <p:cNvSpPr txBox="1"/>
          <p:nvPr/>
        </p:nvSpPr>
        <p:spPr>
          <a:xfrm>
            <a:off x="685800" y="4727448"/>
            <a:ext cx="2862072" cy="1362456"/>
          </a:xfrm>
          <a:prstGeom prst="rect">
            <a:avLst/>
          </a:prstGeom>
          <a:noFill/>
          <a:ln/>
        </p:spPr>
        <p:txBody>
          <a:bodyPr wrap="square" lIns="0" tIns="0" rIns="0" bIns="0" rtlCol="0" anchor="t"/>
          <a:lstStyle/>
          <a:p>
            <a:pPr indent="0" marL="0">
              <a:buNone/>
            </a:pPr>
            <a:r>
              <a:rPr lang="en-US" sz="1250" dirty="0">
                <a:solidFill>
                  <a:srgbClr val="2B3A55"/>
                </a:solidFill>
              </a:rPr>
              <a:t>Q&amp;A needs predictable cost and latency, so it is a fixed chain. Classification needs the model to choose what to read, so it is an agent with strict guards on its output.</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1 OF 11  ·  INGESTION</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From EUR-Lex pages to chunks</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A line-based parser turns four official pages into one record per paragraph, recital or annex point.</a:t>
            </a:r>
            <a:endParaRPr lang="en-US" sz="1600" dirty="0"/>
          </a:p>
        </p:txBody>
      </p:sp>
      <p:sp>
        <p:nvSpPr>
          <p:cNvPr id="6" name="chip-103"/>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104"/>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105"/>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store-106"/>
          <p:cNvSpPr txBox="1"/>
          <p:nvPr/>
        </p:nvSpPr>
        <p:spPr>
          <a:xfrm>
            <a:off x="548640" y="2057400"/>
            <a:ext cx="1681429" cy="777240"/>
          </a:xfrm>
          <a:prstGeom prst="can">
            <a:avLst/>
          </a:prstGeom>
          <a:solidFill>
            <a:srgbClr val="14917F"/>
          </a:solidFill>
          <a:ln/>
        </p:spPr>
        <p:txBody>
          <a:bodyPr wrap="square" lIns="381" tIns="889" rIns="889" bIns="381" rtlCol="0" anchor="ctr"/>
          <a:lstStyle/>
          <a:p>
            <a:pPr algn="ctr" indent="0" marL="0">
              <a:buNone/>
            </a:pPr>
            <a:r>
              <a:rPr lang="en-US" sz="1300" b="1" dirty="0">
                <a:solidFill>
                  <a:srgbClr val="FFFFFF"/>
                </a:solidFill>
              </a:rPr>
              <a:t>4 EUR-Lex pages</a:t>
            </a:r>
            <a:endParaRPr lang="en-US" sz="1300" dirty="0"/>
          </a:p>
        </p:txBody>
      </p:sp>
      <p:sp>
        <p:nvSpPr>
          <p:cNvPr id="10" name="arrow-107"/>
          <p:cNvSpPr/>
          <p:nvPr/>
        </p:nvSpPr>
        <p:spPr>
          <a:xfrm>
            <a:off x="2230069" y="2446020"/>
            <a:ext cx="201168" cy="0"/>
          </a:xfrm>
          <a:prstGeom prst="line">
            <a:avLst/>
          </a:prstGeom>
          <a:noFill/>
          <a:ln w="19050">
            <a:solidFill>
              <a:srgbClr val="5B6B82"/>
            </a:solidFill>
            <a:prstDash val="solid"/>
            <a:tailEnd type="triangle"/>
          </a:ln>
        </p:spPr>
      </p:sp>
      <p:sp>
        <p:nvSpPr>
          <p:cNvPr id="11" name="text-108"/>
          <p:cNvSpPr txBox="1"/>
          <p:nvPr/>
        </p:nvSpPr>
        <p:spPr>
          <a:xfrm>
            <a:off x="594360" y="3017520"/>
            <a:ext cx="1589989" cy="1463040"/>
          </a:xfrm>
          <a:prstGeom prst="rect">
            <a:avLst/>
          </a:prstGeom>
          <a:noFill/>
          <a:ln/>
        </p:spPr>
        <p:txBody>
          <a:bodyPr wrap="square" lIns="0" tIns="0" rIns="0" bIns="0" rtlCol="0" anchor="t"/>
          <a:lstStyle/>
          <a:p>
            <a:pPr indent="0" marL="0">
              <a:buNone/>
            </a:pPr>
            <a:r>
              <a:rPr lang="en-US" sz="1250" dirty="0">
                <a:solidFill>
                  <a:srgbClr val="2B3A55"/>
                </a:solidFill>
              </a:rPr>
              <a:t>AI Act + GDPR, EN + FR, saved as HTML and committed</a:t>
            </a:r>
            <a:endParaRPr lang="en-US" sz="1250" dirty="0"/>
          </a:p>
        </p:txBody>
      </p:sp>
      <p:sp>
        <p:nvSpPr>
          <p:cNvPr id="12" name="node-step-109"/>
          <p:cNvSpPr txBox="1"/>
          <p:nvPr/>
        </p:nvSpPr>
        <p:spPr>
          <a:xfrm>
            <a:off x="2431237" y="2057400"/>
            <a:ext cx="1681429" cy="777240"/>
          </a:xfrm>
          <a:prstGeom prst="roundRect">
            <a:avLst>
              <a:gd name="adj" fmla="val 8235"/>
            </a:avLst>
          </a:prstGeom>
          <a:solidFill>
            <a:srgbClr val="14917F"/>
          </a:solidFill>
          <a:ln/>
        </p:spPr>
        <p:txBody>
          <a:bodyPr wrap="square" lIns="381" tIns="889" rIns="889" bIns="381"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html_to_text</a:t>
            </a:r>
            <a:endParaRPr lang="en-US" sz="1300" dirty="0"/>
          </a:p>
        </p:txBody>
      </p:sp>
      <p:sp>
        <p:nvSpPr>
          <p:cNvPr id="13" name="arrow-110"/>
          <p:cNvSpPr/>
          <p:nvPr/>
        </p:nvSpPr>
        <p:spPr>
          <a:xfrm>
            <a:off x="4112666" y="2446020"/>
            <a:ext cx="201168" cy="0"/>
          </a:xfrm>
          <a:prstGeom prst="line">
            <a:avLst/>
          </a:prstGeom>
          <a:noFill/>
          <a:ln w="19050">
            <a:solidFill>
              <a:srgbClr val="5B6B82"/>
            </a:solidFill>
            <a:prstDash val="solid"/>
            <a:tailEnd type="triangle"/>
          </a:ln>
        </p:spPr>
      </p:sp>
      <p:sp>
        <p:nvSpPr>
          <p:cNvPr id="14" name="text-111"/>
          <p:cNvSpPr txBox="1"/>
          <p:nvPr/>
        </p:nvSpPr>
        <p:spPr>
          <a:xfrm>
            <a:off x="2476957" y="3017520"/>
            <a:ext cx="1589989" cy="1463040"/>
          </a:xfrm>
          <a:prstGeom prst="rect">
            <a:avLst/>
          </a:prstGeom>
          <a:noFill/>
          <a:ln/>
        </p:spPr>
        <p:txBody>
          <a:bodyPr wrap="square" lIns="0" tIns="0" rIns="0" bIns="0" rtlCol="0" anchor="t"/>
          <a:lstStyle/>
          <a:p>
            <a:pPr indent="0" marL="0">
              <a:buNone/>
            </a:pPr>
            <a:r>
              <a:rPr lang="en-US" sz="1250" dirty="0">
                <a:solidFill>
                  <a:srgbClr val="2B3A55"/>
                </a:solidFill>
              </a:rPr>
              <a:t>BeautifulSoup + lxml. Drops scripts, styles, menus; turns non-breaking spaces into spaces</a:t>
            </a:r>
            <a:endParaRPr lang="en-US" sz="1250" dirty="0"/>
          </a:p>
        </p:txBody>
      </p:sp>
      <p:sp>
        <p:nvSpPr>
          <p:cNvPr id="15" name="node-step-112"/>
          <p:cNvSpPr txBox="1"/>
          <p:nvPr/>
        </p:nvSpPr>
        <p:spPr>
          <a:xfrm>
            <a:off x="4313834" y="2057400"/>
            <a:ext cx="1681429" cy="777240"/>
          </a:xfrm>
          <a:prstGeom prst="roundRect">
            <a:avLst>
              <a:gd name="adj" fmla="val 8235"/>
            </a:avLst>
          </a:prstGeom>
          <a:solidFill>
            <a:srgbClr val="14917F"/>
          </a:solidFill>
          <a:ln/>
        </p:spPr>
        <p:txBody>
          <a:bodyPr wrap="square" lIns="381" tIns="889" rIns="889" bIns="381"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normalise_lines</a:t>
            </a:r>
            <a:endParaRPr lang="en-US" sz="1300" dirty="0"/>
          </a:p>
        </p:txBody>
      </p:sp>
      <p:sp>
        <p:nvSpPr>
          <p:cNvPr id="16" name="arrow-113"/>
          <p:cNvSpPr/>
          <p:nvPr/>
        </p:nvSpPr>
        <p:spPr>
          <a:xfrm>
            <a:off x="5995264" y="2446020"/>
            <a:ext cx="201168" cy="0"/>
          </a:xfrm>
          <a:prstGeom prst="line">
            <a:avLst/>
          </a:prstGeom>
          <a:noFill/>
          <a:ln w="19050">
            <a:solidFill>
              <a:srgbClr val="5B6B82"/>
            </a:solidFill>
            <a:prstDash val="solid"/>
            <a:tailEnd type="triangle"/>
          </a:ln>
        </p:spPr>
      </p:sp>
      <p:sp>
        <p:nvSpPr>
          <p:cNvPr id="17" name="text-114"/>
          <p:cNvSpPr txBox="1"/>
          <p:nvPr/>
        </p:nvSpPr>
        <p:spPr>
          <a:xfrm>
            <a:off x="4359554" y="3017520"/>
            <a:ext cx="1589989" cy="1463040"/>
          </a:xfrm>
          <a:prstGeom prst="rect">
            <a:avLst/>
          </a:prstGeom>
          <a:noFill/>
          <a:ln/>
        </p:spPr>
        <p:txBody>
          <a:bodyPr wrap="square" lIns="0" tIns="0" rIns="0" bIns="0" rtlCol="0" anchor="t"/>
          <a:lstStyle/>
          <a:p>
            <a:pPr indent="0" marL="0">
              <a:buNone/>
            </a:pPr>
            <a:r>
              <a:rPr lang="en-US" sz="1250" dirty="0">
                <a:solidFill>
                  <a:srgbClr val="2B3A55"/>
                </a:solidFill>
              </a:rPr>
              <a:t>Collapses spaces, glues a lone "(a)" or "1." to its text, removes footnote marks</a:t>
            </a:r>
            <a:endParaRPr lang="en-US" sz="1250" dirty="0"/>
          </a:p>
        </p:txBody>
      </p:sp>
      <p:sp>
        <p:nvSpPr>
          <p:cNvPr id="18" name="node-step-115"/>
          <p:cNvSpPr txBox="1"/>
          <p:nvPr/>
        </p:nvSpPr>
        <p:spPr>
          <a:xfrm>
            <a:off x="6196432" y="2057400"/>
            <a:ext cx="1681429" cy="777240"/>
          </a:xfrm>
          <a:prstGeom prst="roundRect">
            <a:avLst>
              <a:gd name="adj" fmla="val 8235"/>
            </a:avLst>
          </a:prstGeom>
          <a:solidFill>
            <a:srgbClr val="14917F"/>
          </a:solidFill>
          <a:ln/>
        </p:spPr>
        <p:txBody>
          <a:bodyPr wrap="square" lIns="381" tIns="889" rIns="889" bIns="381"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parse_regulation</a:t>
            </a:r>
            <a:endParaRPr lang="en-US" sz="1300" dirty="0"/>
          </a:p>
        </p:txBody>
      </p:sp>
      <p:sp>
        <p:nvSpPr>
          <p:cNvPr id="19" name="arrow-116"/>
          <p:cNvSpPr/>
          <p:nvPr/>
        </p:nvSpPr>
        <p:spPr>
          <a:xfrm>
            <a:off x="7877861" y="2446020"/>
            <a:ext cx="201168" cy="0"/>
          </a:xfrm>
          <a:prstGeom prst="line">
            <a:avLst/>
          </a:prstGeom>
          <a:noFill/>
          <a:ln w="19050">
            <a:solidFill>
              <a:srgbClr val="5B6B82"/>
            </a:solidFill>
            <a:prstDash val="solid"/>
            <a:tailEnd type="triangle"/>
          </a:ln>
        </p:spPr>
      </p:sp>
      <p:sp>
        <p:nvSpPr>
          <p:cNvPr id="20" name="text-117"/>
          <p:cNvSpPr txBox="1"/>
          <p:nvPr/>
        </p:nvSpPr>
        <p:spPr>
          <a:xfrm>
            <a:off x="6242152" y="3017520"/>
            <a:ext cx="1589989" cy="1463040"/>
          </a:xfrm>
          <a:prstGeom prst="rect">
            <a:avLst/>
          </a:prstGeom>
          <a:noFill/>
          <a:ln/>
        </p:spPr>
        <p:txBody>
          <a:bodyPr wrap="square" lIns="0" tIns="0" rIns="0" bIns="0" rtlCol="0" anchor="t"/>
          <a:lstStyle/>
          <a:p>
            <a:pPr indent="0" marL="0">
              <a:buNone/>
            </a:pPr>
            <a:r>
              <a:rPr lang="en-US" sz="1250" dirty="0">
                <a:solidFill>
                  <a:srgbClr val="2B3A55"/>
                </a:solidFill>
              </a:rPr>
              <a:t>Recitals, articles, annexes. Skips CHAPTER and SECTION headings; stops at "Done at"</a:t>
            </a:r>
            <a:endParaRPr lang="en-US" sz="1250" dirty="0"/>
          </a:p>
        </p:txBody>
      </p:sp>
      <p:sp>
        <p:nvSpPr>
          <p:cNvPr id="21" name="node-step-118"/>
          <p:cNvSpPr txBox="1"/>
          <p:nvPr/>
        </p:nvSpPr>
        <p:spPr>
          <a:xfrm>
            <a:off x="8079029" y="2057400"/>
            <a:ext cx="1681429" cy="777240"/>
          </a:xfrm>
          <a:prstGeom prst="roundRect">
            <a:avLst>
              <a:gd name="adj" fmla="val 8235"/>
            </a:avLst>
          </a:prstGeom>
          <a:solidFill>
            <a:srgbClr val="14917F"/>
          </a:solidFill>
          <a:ln/>
        </p:spPr>
        <p:txBody>
          <a:bodyPr wrap="square" lIns="381" tIns="889" rIns="889" bIns="381"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chunk_units</a:t>
            </a:r>
            <a:endParaRPr lang="en-US" sz="1300" dirty="0"/>
          </a:p>
        </p:txBody>
      </p:sp>
      <p:sp>
        <p:nvSpPr>
          <p:cNvPr id="22" name="arrow-119"/>
          <p:cNvSpPr/>
          <p:nvPr/>
        </p:nvSpPr>
        <p:spPr>
          <a:xfrm>
            <a:off x="9760458" y="2446020"/>
            <a:ext cx="201168" cy="0"/>
          </a:xfrm>
          <a:prstGeom prst="line">
            <a:avLst/>
          </a:prstGeom>
          <a:noFill/>
          <a:ln w="19050">
            <a:solidFill>
              <a:srgbClr val="5B6B82"/>
            </a:solidFill>
            <a:prstDash val="solid"/>
            <a:tailEnd type="triangle"/>
          </a:ln>
        </p:spPr>
      </p:sp>
      <p:sp>
        <p:nvSpPr>
          <p:cNvPr id="23" name="text-120"/>
          <p:cNvSpPr txBox="1"/>
          <p:nvPr/>
        </p:nvSpPr>
        <p:spPr>
          <a:xfrm>
            <a:off x="8124749" y="3017520"/>
            <a:ext cx="1589989" cy="1463040"/>
          </a:xfrm>
          <a:prstGeom prst="rect">
            <a:avLst/>
          </a:prstGeom>
          <a:noFill/>
          <a:ln/>
        </p:spPr>
        <p:txBody>
          <a:bodyPr wrap="square" lIns="0" tIns="0" rIns="0" bIns="0" rtlCol="0" anchor="t"/>
          <a:lstStyle/>
          <a:p>
            <a:pPr indent="0" marL="0">
              <a:buNone/>
            </a:pPr>
            <a:r>
              <a:rPr lang="en-US" sz="1250" dirty="0">
                <a:solidFill>
                  <a:srgbClr val="2B3A55"/>
                </a:solidFill>
              </a:rPr>
              <a:t>One chunk per paragraph. Over 150 words: windows with 25 words of overlap</a:t>
            </a:r>
            <a:endParaRPr lang="en-US" sz="1250" dirty="0"/>
          </a:p>
        </p:txBody>
      </p:sp>
      <p:sp>
        <p:nvSpPr>
          <p:cNvPr id="24" name="node-store-121"/>
          <p:cNvSpPr txBox="1"/>
          <p:nvPr/>
        </p:nvSpPr>
        <p:spPr>
          <a:xfrm>
            <a:off x="9961626" y="2057400"/>
            <a:ext cx="1681429" cy="777240"/>
          </a:xfrm>
          <a:prstGeom prst="can">
            <a:avLst/>
          </a:prstGeom>
          <a:solidFill>
            <a:srgbClr val="14917F"/>
          </a:solidFill>
          <a:ln/>
        </p:spPr>
        <p:txBody>
          <a:bodyPr wrap="square" lIns="381" tIns="889" rIns="889" bIns="381" rtlCol="0" anchor="ctr"/>
          <a:lstStyle/>
          <a:p>
            <a:pPr algn="ctr" indent="0" marL="0">
              <a:buNone/>
            </a:pPr>
            <a:r>
              <a:rPr lang="en-US" sz="1300" b="1" dirty="0">
                <a:solidFill>
                  <a:srgbClr val="FFFFFF"/>
                </a:solidFill>
              </a:rPr>
              <a:t>chunks.jsonl</a:t>
            </a:r>
            <a:endParaRPr lang="en-US" sz="1300" dirty="0"/>
          </a:p>
        </p:txBody>
      </p:sp>
      <p:sp>
        <p:nvSpPr>
          <p:cNvPr id="25" name="text-122"/>
          <p:cNvSpPr txBox="1"/>
          <p:nvPr/>
        </p:nvSpPr>
        <p:spPr>
          <a:xfrm>
            <a:off x="10007346" y="3017520"/>
            <a:ext cx="1589989" cy="1463040"/>
          </a:xfrm>
          <a:prstGeom prst="rect">
            <a:avLst/>
          </a:prstGeom>
          <a:noFill/>
          <a:ln/>
        </p:spPr>
        <p:txBody>
          <a:bodyPr wrap="square" lIns="0" tIns="0" rIns="0" bIns="0" rtlCol="0" anchor="t"/>
          <a:lstStyle/>
          <a:p>
            <a:pPr indent="0" marL="0">
              <a:buNone/>
            </a:pPr>
            <a:r>
              <a:rPr lang="en-US" sz="1250" dirty="0">
                <a:solidFill>
                  <a:srgbClr val="2B3A55"/>
                </a:solidFill>
              </a:rPr>
              <a:t>3,799 records with stable, language-free IDs</a:t>
            </a:r>
            <a:endParaRPr lang="en-US" sz="1250" dirty="0"/>
          </a:p>
        </p:txBody>
      </p:sp>
      <p:sp>
        <p:nvSpPr>
          <p:cNvPr id="26" name="box-123"/>
          <p:cNvSpPr/>
          <p:nvPr/>
        </p:nvSpPr>
        <p:spPr>
          <a:xfrm>
            <a:off x="548640" y="4617720"/>
            <a:ext cx="2622728" cy="914400"/>
          </a:xfrm>
          <a:prstGeom prst="roundRect">
            <a:avLst>
              <a:gd name="adj" fmla="val 8000"/>
            </a:avLst>
          </a:prstGeom>
          <a:solidFill>
            <a:srgbClr val="EEF1F6"/>
          </a:solidFill>
          <a:ln/>
        </p:spPr>
      </p:sp>
      <p:sp>
        <p:nvSpPr>
          <p:cNvPr id="27" name="text-124"/>
          <p:cNvSpPr txBox="1"/>
          <p:nvPr/>
        </p:nvSpPr>
        <p:spPr>
          <a:xfrm>
            <a:off x="731520" y="4681728"/>
            <a:ext cx="2256968"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3,799</a:t>
            </a:r>
            <a:endParaRPr lang="en-US" sz="2200" dirty="0"/>
          </a:p>
        </p:txBody>
      </p:sp>
      <p:sp>
        <p:nvSpPr>
          <p:cNvPr id="28" name="text-125"/>
          <p:cNvSpPr txBox="1"/>
          <p:nvPr/>
        </p:nvSpPr>
        <p:spPr>
          <a:xfrm>
            <a:off x="731520" y="5120640"/>
            <a:ext cx="2256968" cy="320040"/>
          </a:xfrm>
          <a:prstGeom prst="rect">
            <a:avLst/>
          </a:prstGeom>
          <a:noFill/>
          <a:ln/>
        </p:spPr>
        <p:txBody>
          <a:bodyPr wrap="square" lIns="0" tIns="0" rIns="0" bIns="0" rtlCol="0" anchor="t"/>
          <a:lstStyle/>
          <a:p>
            <a:pPr indent="0" marL="0">
              <a:buNone/>
            </a:pPr>
            <a:r>
              <a:rPr lang="en-US" sz="1200" dirty="0">
                <a:solidFill>
                  <a:srgbClr val="5B6B82"/>
                </a:solidFill>
              </a:rPr>
              <a:t>chunks in total</a:t>
            </a:r>
            <a:endParaRPr lang="en-US" sz="1200" dirty="0"/>
          </a:p>
        </p:txBody>
      </p:sp>
      <p:sp>
        <p:nvSpPr>
          <p:cNvPr id="29" name="box-126"/>
          <p:cNvSpPr/>
          <p:nvPr/>
        </p:nvSpPr>
        <p:spPr>
          <a:xfrm>
            <a:off x="3372536" y="4617720"/>
            <a:ext cx="2622728" cy="914400"/>
          </a:xfrm>
          <a:prstGeom prst="roundRect">
            <a:avLst>
              <a:gd name="adj" fmla="val 8000"/>
            </a:avLst>
          </a:prstGeom>
          <a:solidFill>
            <a:srgbClr val="EEF1F6"/>
          </a:solidFill>
          <a:ln/>
        </p:spPr>
      </p:sp>
      <p:sp>
        <p:nvSpPr>
          <p:cNvPr id="30" name="text-127"/>
          <p:cNvSpPr txBox="1"/>
          <p:nvPr/>
        </p:nvSpPr>
        <p:spPr>
          <a:xfrm>
            <a:off x="3555416" y="4681728"/>
            <a:ext cx="2256968"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1,844 / 1,955</a:t>
            </a:r>
            <a:endParaRPr lang="en-US" sz="2200" dirty="0"/>
          </a:p>
        </p:txBody>
      </p:sp>
      <p:sp>
        <p:nvSpPr>
          <p:cNvPr id="31" name="text-128"/>
          <p:cNvSpPr txBox="1"/>
          <p:nvPr/>
        </p:nvSpPr>
        <p:spPr>
          <a:xfrm>
            <a:off x="3555416" y="5120640"/>
            <a:ext cx="2256968" cy="320040"/>
          </a:xfrm>
          <a:prstGeom prst="rect">
            <a:avLst/>
          </a:prstGeom>
          <a:noFill/>
          <a:ln/>
        </p:spPr>
        <p:txBody>
          <a:bodyPr wrap="square" lIns="0" tIns="0" rIns="0" bIns="0" rtlCol="0" anchor="t"/>
          <a:lstStyle/>
          <a:p>
            <a:pPr indent="0" marL="0">
              <a:buNone/>
            </a:pPr>
            <a:r>
              <a:rPr lang="en-US" sz="1200" dirty="0">
                <a:solidFill>
                  <a:srgbClr val="5B6B82"/>
                </a:solidFill>
              </a:rPr>
              <a:t>English / French chunks</a:t>
            </a:r>
            <a:endParaRPr lang="en-US" sz="1200" dirty="0"/>
          </a:p>
        </p:txBody>
      </p:sp>
      <p:sp>
        <p:nvSpPr>
          <p:cNvPr id="32" name="box-129"/>
          <p:cNvSpPr/>
          <p:nvPr/>
        </p:nvSpPr>
        <p:spPr>
          <a:xfrm>
            <a:off x="6196432" y="4617720"/>
            <a:ext cx="2622728" cy="914400"/>
          </a:xfrm>
          <a:prstGeom prst="roundRect">
            <a:avLst>
              <a:gd name="adj" fmla="val 8000"/>
            </a:avLst>
          </a:prstGeom>
          <a:solidFill>
            <a:srgbClr val="EEF1F6"/>
          </a:solidFill>
          <a:ln/>
        </p:spPr>
      </p:sp>
      <p:sp>
        <p:nvSpPr>
          <p:cNvPr id="33" name="text-130"/>
          <p:cNvSpPr txBox="1"/>
          <p:nvPr/>
        </p:nvSpPr>
        <p:spPr>
          <a:xfrm>
            <a:off x="6379312" y="4681728"/>
            <a:ext cx="2256968"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71</a:t>
            </a:r>
            <a:endParaRPr lang="en-US" sz="2200" dirty="0"/>
          </a:p>
        </p:txBody>
      </p:sp>
      <p:sp>
        <p:nvSpPr>
          <p:cNvPr id="34" name="text-131"/>
          <p:cNvSpPr txBox="1"/>
          <p:nvPr/>
        </p:nvSpPr>
        <p:spPr>
          <a:xfrm>
            <a:off x="6379312" y="5120640"/>
            <a:ext cx="2256968" cy="320040"/>
          </a:xfrm>
          <a:prstGeom prst="rect">
            <a:avLst/>
          </a:prstGeom>
          <a:noFill/>
          <a:ln/>
        </p:spPr>
        <p:txBody>
          <a:bodyPr wrap="square" lIns="0" tIns="0" rIns="0" bIns="0" rtlCol="0" anchor="t"/>
          <a:lstStyle/>
          <a:p>
            <a:pPr indent="0" marL="0">
              <a:buNone/>
            </a:pPr>
            <a:r>
              <a:rPr lang="en-US" sz="1200" dirty="0">
                <a:solidFill>
                  <a:srgbClr val="5B6B82"/>
                </a:solidFill>
              </a:rPr>
              <a:t>median words per chunk</a:t>
            </a:r>
            <a:endParaRPr lang="en-US" sz="1200" dirty="0"/>
          </a:p>
        </p:txBody>
      </p:sp>
      <p:sp>
        <p:nvSpPr>
          <p:cNvPr id="35" name="box-132"/>
          <p:cNvSpPr/>
          <p:nvPr/>
        </p:nvSpPr>
        <p:spPr>
          <a:xfrm>
            <a:off x="9020327" y="4617720"/>
            <a:ext cx="2622728" cy="914400"/>
          </a:xfrm>
          <a:prstGeom prst="roundRect">
            <a:avLst>
              <a:gd name="adj" fmla="val 8000"/>
            </a:avLst>
          </a:prstGeom>
          <a:solidFill>
            <a:srgbClr val="EEF1F6"/>
          </a:solidFill>
          <a:ln/>
        </p:spPr>
      </p:sp>
      <p:sp>
        <p:nvSpPr>
          <p:cNvPr id="36" name="text-133"/>
          <p:cNvSpPr txBox="1"/>
          <p:nvPr/>
        </p:nvSpPr>
        <p:spPr>
          <a:xfrm>
            <a:off x="9203207" y="4681728"/>
            <a:ext cx="2256968"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6 vs 7</a:t>
            </a:r>
            <a:endParaRPr lang="en-US" sz="2200" dirty="0"/>
          </a:p>
        </p:txBody>
      </p:sp>
      <p:sp>
        <p:nvSpPr>
          <p:cNvPr id="37" name="text-134"/>
          <p:cNvSpPr txBox="1"/>
          <p:nvPr/>
        </p:nvSpPr>
        <p:spPr>
          <a:xfrm>
            <a:off x="9203207" y="5120640"/>
            <a:ext cx="2256968" cy="320040"/>
          </a:xfrm>
          <a:prstGeom prst="rect">
            <a:avLst/>
          </a:prstGeom>
          <a:noFill/>
          <a:ln/>
        </p:spPr>
        <p:txBody>
          <a:bodyPr wrap="square" lIns="0" tIns="0" rIns="0" bIns="0" rtlCol="0" anchor="t"/>
          <a:lstStyle/>
          <a:p>
            <a:pPr indent="0" marL="0">
              <a:buNone/>
            </a:pPr>
            <a:r>
              <a:rPr lang="en-US" sz="1200" dirty="0">
                <a:solidFill>
                  <a:srgbClr val="5B6B82"/>
                </a:solidFill>
              </a:rPr>
              <a:t>windows for Article 5(1), EN vs FR</a:t>
            </a:r>
            <a:endParaRPr lang="en-US" sz="1200" dirty="0"/>
          </a:p>
        </p:txBody>
      </p:sp>
      <p:sp>
        <p:nvSpPr>
          <p:cNvPr id="38" name="text-135"/>
          <p:cNvSpPr txBox="1"/>
          <p:nvPr/>
        </p:nvSpPr>
        <p:spPr>
          <a:xfrm>
            <a:off x="548640" y="5715000"/>
            <a:ext cx="11094415" cy="411480"/>
          </a:xfrm>
          <a:prstGeom prst="rect">
            <a:avLst/>
          </a:prstGeom>
          <a:noFill/>
          <a:ln/>
        </p:spPr>
        <p:txBody>
          <a:bodyPr wrap="square" lIns="0" tIns="0" rIns="0" bIns="0" rtlCol="0" anchor="t"/>
          <a:lstStyle/>
          <a:p>
            <a:pPr indent="0" marL="0">
              <a:buNone/>
            </a:pPr>
            <a:r>
              <a:rPr lang="en-US" sz="1250" i="1" dirty="0">
                <a:solidFill>
                  <a:srgbClr val="5B6B82"/>
                </a:solidFill>
              </a:rPr>
              <a:t>Safety net: tests/test_corpus.py asserts 180 recitals, 113 articles, 13 annexes (AI Act) and 173 recitals, 99 articles (GDPR) in both languages on every run.</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1 OF 11  ·  INGESTION</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One paragraph through the parser</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Article 6(2) of the AI Act, from raw text lines to the record that every later stage uses.</a:t>
            </a:r>
            <a:endParaRPr lang="en-US" sz="1600" dirty="0"/>
          </a:p>
        </p:txBody>
      </p:sp>
      <p:sp>
        <p:nvSpPr>
          <p:cNvPr id="6" name="text-136"/>
          <p:cNvSpPr txBox="1"/>
          <p:nvPr/>
        </p:nvSpPr>
        <p:spPr>
          <a:xfrm>
            <a:off x="548640" y="1920240"/>
            <a:ext cx="3611880" cy="274320"/>
          </a:xfrm>
          <a:prstGeom prst="rect">
            <a:avLst/>
          </a:prstGeom>
          <a:noFill/>
          <a:ln/>
        </p:spPr>
        <p:txBody>
          <a:bodyPr wrap="square" lIns="0" tIns="0" rIns="0" bIns="0" rtlCol="0" anchor="t"/>
          <a:lstStyle/>
          <a:p>
            <a:pPr indent="0" marL="0">
              <a:buNone/>
            </a:pPr>
            <a:r>
              <a:rPr lang="en-US" sz="1400" b="1" dirty="0">
                <a:solidFill>
                  <a:srgbClr val="13203A"/>
                </a:solidFill>
              </a:rPr>
              <a:t>1. Raw text lines</a:t>
            </a:r>
            <a:endParaRPr lang="en-US" sz="1400" dirty="0"/>
          </a:p>
        </p:txBody>
      </p:sp>
      <p:sp>
        <p:nvSpPr>
          <p:cNvPr id="7" name="text-137"/>
          <p:cNvSpPr txBox="1"/>
          <p:nvPr/>
        </p:nvSpPr>
        <p:spPr>
          <a:xfrm>
            <a:off x="4526280" y="1920240"/>
            <a:ext cx="3154680" cy="274320"/>
          </a:xfrm>
          <a:prstGeom prst="rect">
            <a:avLst/>
          </a:prstGeom>
          <a:noFill/>
          <a:ln/>
        </p:spPr>
        <p:txBody>
          <a:bodyPr wrap="square" lIns="0" tIns="0" rIns="0" bIns="0" rtlCol="0" anchor="t"/>
          <a:lstStyle/>
          <a:p>
            <a:pPr indent="0" marL="0">
              <a:buNone/>
            </a:pPr>
            <a:r>
              <a:rPr lang="en-US" sz="1400" b="1" dirty="0">
                <a:solidFill>
                  <a:srgbClr val="13203A"/>
                </a:solidFill>
              </a:rPr>
              <a:t>2. Parsed unit</a:t>
            </a:r>
            <a:endParaRPr lang="en-US" sz="1400" dirty="0"/>
          </a:p>
        </p:txBody>
      </p:sp>
      <p:sp>
        <p:nvSpPr>
          <p:cNvPr id="8" name="text-138"/>
          <p:cNvSpPr txBox="1"/>
          <p:nvPr/>
        </p:nvSpPr>
        <p:spPr>
          <a:xfrm>
            <a:off x="8046720" y="1920240"/>
            <a:ext cx="3596335" cy="274320"/>
          </a:xfrm>
          <a:prstGeom prst="rect">
            <a:avLst/>
          </a:prstGeom>
          <a:noFill/>
          <a:ln/>
        </p:spPr>
        <p:txBody>
          <a:bodyPr wrap="square" lIns="0" tIns="0" rIns="0" bIns="0" rtlCol="0" anchor="t"/>
          <a:lstStyle/>
          <a:p>
            <a:pPr indent="0" marL="0">
              <a:buNone/>
            </a:pPr>
            <a:r>
              <a:rPr lang="en-US" sz="1400" b="1" dirty="0">
                <a:solidFill>
                  <a:srgbClr val="13203A"/>
                </a:solidFill>
              </a:rPr>
              <a:t>3. Chunk record (one JSON line)</a:t>
            </a:r>
            <a:endParaRPr lang="en-US" sz="1400" dirty="0"/>
          </a:p>
        </p:txBody>
      </p:sp>
      <p:sp>
        <p:nvSpPr>
          <p:cNvPr id="9" name="code-139"/>
          <p:cNvSpPr txBox="1"/>
          <p:nvPr/>
        </p:nvSpPr>
        <p:spPr>
          <a:xfrm>
            <a:off x="548640" y="2267712"/>
            <a:ext cx="3611880" cy="2697480"/>
          </a:xfrm>
          <a:prstGeom prst="roundRect">
            <a:avLst>
              <a:gd name="adj" fmla="val 2034"/>
            </a:avLst>
          </a:prstGeom>
          <a:solidFill>
            <a:srgbClr val="F1F3F7"/>
          </a:solidFill>
          <a:ln w="9525">
            <a:solidFill>
              <a:srgbClr val="D5DBE5"/>
            </a:solidFill>
          </a:ln>
        </p:spPr>
        <p:txBody>
          <a:bodyPr wrap="square" lIns="1270" tIns="1524" rIns="1524" bIns="1270" rtlCol="0" anchor="t"/>
          <a:lstStyle/>
          <a:p>
            <a:pPr algn="l" indent="0" marL="0">
              <a:buNone/>
            </a:pPr>
            <a:r>
              <a:rPr lang="en-US" sz="1000" dirty="0">
                <a:solidFill>
                  <a:srgbClr val="13203A"/>
                </a:solidFill>
                <a:latin typeface="Courier New" pitchFamily="34" charset="0"/>
                <a:ea typeface="Courier New" pitchFamily="34" charset="-122"/>
                <a:cs typeface="Courier New" pitchFamily="34" charset="-120"/>
              </a:rPr>
              <a:t>Article 6</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Classification rules for high-risk AI systems</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1.   Irrespective of whether an AI system is placed on the market ...</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(a)</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the AI system is intended to be used as a safety component ...</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2.   In addition to the high-risk AI systems referred to in paragraph 1, AI systems referred to in Annex III shall be considered to be high-risk.</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3.   By derogation from paragraph 2, ...</a:t>
            </a:r>
            <a:endParaRPr lang="en-US" sz="1000" dirty="0"/>
          </a:p>
        </p:txBody>
      </p:sp>
      <p:sp>
        <p:nvSpPr>
          <p:cNvPr id="10" name="code-140"/>
          <p:cNvSpPr txBox="1"/>
          <p:nvPr/>
        </p:nvSpPr>
        <p:spPr>
          <a:xfrm>
            <a:off x="4526280" y="2267712"/>
            <a:ext cx="3154680" cy="2697480"/>
          </a:xfrm>
          <a:prstGeom prst="roundRect">
            <a:avLst>
              <a:gd name="adj" fmla="val 2034"/>
            </a:avLst>
          </a:prstGeom>
          <a:solidFill>
            <a:srgbClr val="F1F3F7"/>
          </a:solidFill>
          <a:ln w="9525">
            <a:solidFill>
              <a:srgbClr val="D5DBE5"/>
            </a:solidFill>
          </a:ln>
        </p:spPr>
        <p:txBody>
          <a:bodyPr wrap="square" lIns="1270" tIns="1524" rIns="1524" bIns="1270" rtlCol="0" anchor="t"/>
          <a:lstStyle/>
          <a:p>
            <a:pPr algn="l" indent="0" marL="0">
              <a:buNone/>
            </a:pPr>
            <a:r>
              <a:rPr lang="en-US" sz="1050" dirty="0">
                <a:solidFill>
                  <a:srgbClr val="13203A"/>
                </a:solidFill>
                <a:latin typeface="Courier New" pitchFamily="34" charset="0"/>
                <a:ea typeface="Courier New" pitchFamily="34" charset="-122"/>
                <a:cs typeface="Courier New" pitchFamily="34" charset="-120"/>
              </a:rPr>
              <a:t>kind:    article</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number:  6</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title:   Classification rules</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for high-risk AI systems</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paragraphs:</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1  Irrespective of ...</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(a) ... (b) ...</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2  In addition to ...</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3  By derogation ...</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4 to 8 ...</a:t>
            </a:r>
            <a:endParaRPr lang="en-US" sz="1050" dirty="0"/>
          </a:p>
        </p:txBody>
      </p:sp>
      <p:sp>
        <p:nvSpPr>
          <p:cNvPr id="11" name="code-141"/>
          <p:cNvSpPr txBox="1"/>
          <p:nvPr/>
        </p:nvSpPr>
        <p:spPr>
          <a:xfrm>
            <a:off x="8046720" y="2267712"/>
            <a:ext cx="3596335" cy="2697480"/>
          </a:xfrm>
          <a:prstGeom prst="roundRect">
            <a:avLst>
              <a:gd name="adj" fmla="val 2034"/>
            </a:avLst>
          </a:prstGeom>
          <a:solidFill>
            <a:srgbClr val="DDF1EE"/>
          </a:solidFill>
          <a:ln w="9525">
            <a:solidFill>
              <a:srgbClr val="D5DBE5"/>
            </a:solidFill>
          </a:ln>
        </p:spPr>
        <p:txBody>
          <a:bodyPr wrap="square" lIns="1270" tIns="1524" rIns="1524" bIns="1270" rtlCol="0" anchor="t"/>
          <a:lstStyle/>
          <a:p>
            <a:pPr algn="l" indent="0" marL="0">
              <a:buNone/>
            </a:pPr>
            <a:r>
              <a:rPr lang="en-US" sz="1050" dirty="0">
                <a:solidFill>
                  <a:srgbClr val="13203A"/>
                </a:solidFill>
                <a:latin typeface="Courier New" pitchFamily="34" charset="0"/>
                <a:ea typeface="Courier New" pitchFamily="34" charset="-122"/>
                <a:cs typeface="Courier New" pitchFamily="34" charset="-120"/>
              </a:rPr>
              <a:t>{"id": "AIA-Art6-2",</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"law": "ai_act", "lang": "en",</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"kind": "article", "number": "6",</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"paragraph": "2", "part": 1,</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"title": "Classification rules for</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high-risk AI systems",</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"text": "In addition to the high-risk</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AI systems referred to in paragraph 1,</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AI systems referred to in Annex III</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   shall be considered to be high-risk."}</a:t>
            </a:r>
            <a:endParaRPr lang="en-US" sz="1050" dirty="0"/>
          </a:p>
        </p:txBody>
      </p:sp>
      <p:sp>
        <p:nvSpPr>
          <p:cNvPr id="12" name="arrow-142"/>
          <p:cNvSpPr/>
          <p:nvPr/>
        </p:nvSpPr>
        <p:spPr>
          <a:xfrm>
            <a:off x="4206240" y="3616452"/>
            <a:ext cx="274320" cy="0"/>
          </a:xfrm>
          <a:prstGeom prst="line">
            <a:avLst/>
          </a:prstGeom>
          <a:noFill/>
          <a:ln w="25400">
            <a:solidFill>
              <a:srgbClr val="E3A21A"/>
            </a:solidFill>
            <a:prstDash val="solid"/>
            <a:tailEnd type="triangle"/>
          </a:ln>
        </p:spPr>
      </p:sp>
      <p:sp>
        <p:nvSpPr>
          <p:cNvPr id="13" name="arrow-143"/>
          <p:cNvSpPr/>
          <p:nvPr/>
        </p:nvSpPr>
        <p:spPr>
          <a:xfrm>
            <a:off x="7726680" y="3616452"/>
            <a:ext cx="274320" cy="0"/>
          </a:xfrm>
          <a:prstGeom prst="line">
            <a:avLst/>
          </a:prstGeom>
          <a:noFill/>
          <a:ln w="25400">
            <a:solidFill>
              <a:srgbClr val="E3A21A"/>
            </a:solidFill>
            <a:prstDash val="solid"/>
            <a:tailEnd type="triangle"/>
          </a:ln>
        </p:spPr>
      </p:sp>
      <p:sp>
        <p:nvSpPr>
          <p:cNvPr id="14" name="text-144"/>
          <p:cNvSpPr txBox="1"/>
          <p:nvPr/>
        </p:nvSpPr>
        <p:spPr>
          <a:xfrm>
            <a:off x="548640" y="5120640"/>
            <a:ext cx="5669280" cy="256032"/>
          </a:xfrm>
          <a:prstGeom prst="rect">
            <a:avLst/>
          </a:prstGeom>
          <a:noFill/>
          <a:ln/>
        </p:spPr>
        <p:txBody>
          <a:bodyPr wrap="square" lIns="0" tIns="0" rIns="0" bIns="0" rtlCol="0" anchor="t"/>
          <a:lstStyle/>
          <a:p>
            <a:pPr indent="0" marL="0">
              <a:buNone/>
            </a:pPr>
            <a:r>
              <a:rPr lang="en-US" sz="1250" b="1" dirty="0">
                <a:solidFill>
                  <a:srgbClr val="13203A"/>
                </a:solidFill>
              </a:rPr>
              <a:t>embed_text: what the embedder and BM25 read</a:t>
            </a:r>
            <a:endParaRPr lang="en-US" sz="1250" dirty="0"/>
          </a:p>
        </p:txBody>
      </p:sp>
      <p:sp>
        <p:nvSpPr>
          <p:cNvPr id="15" name="code-145"/>
          <p:cNvSpPr txBox="1"/>
          <p:nvPr/>
        </p:nvSpPr>
        <p:spPr>
          <a:xfrm>
            <a:off x="548640" y="5413248"/>
            <a:ext cx="5669280" cy="749808"/>
          </a:xfrm>
          <a:prstGeom prst="roundRect">
            <a:avLst>
              <a:gd name="adj" fmla="val 7317"/>
            </a:avLst>
          </a:prstGeom>
          <a:solidFill>
            <a:srgbClr val="F1F3F7"/>
          </a:solidFill>
          <a:ln w="9525">
            <a:solidFill>
              <a:srgbClr val="D5DBE5"/>
            </a:solidFill>
          </a:ln>
        </p:spPr>
        <p:txBody>
          <a:bodyPr wrap="square" lIns="1270" tIns="1524" rIns="1524" bIns="1270" rtlCol="0" anchor="t"/>
          <a:lstStyle/>
          <a:p>
            <a:pPr algn="l" indent="0" marL="0">
              <a:buNone/>
            </a:pPr>
            <a:r>
              <a:rPr lang="en-US" sz="1000" dirty="0">
                <a:solidFill>
                  <a:srgbClr val="13203A"/>
                </a:solidFill>
                <a:latin typeface="Courier New" pitchFamily="34" charset="0"/>
                <a:ea typeface="Courier New" pitchFamily="34" charset="-122"/>
                <a:cs typeface="Courier New" pitchFamily="34" charset="-120"/>
              </a:rPr>
              <a:t>AI Act Article 6(2): Classification rules for high-risk AI systems</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In addition to the high-risk AI systems referred to in paragraph 1, ...</a:t>
            </a:r>
            <a:endParaRPr lang="en-US" sz="1000" dirty="0"/>
          </a:p>
        </p:txBody>
      </p:sp>
      <p:sp>
        <p:nvSpPr>
          <p:cNvPr id="16" name="text-146"/>
          <p:cNvSpPr txBox="1"/>
          <p:nvPr/>
        </p:nvSpPr>
        <p:spPr>
          <a:xfrm>
            <a:off x="6446520" y="5120640"/>
            <a:ext cx="5196535" cy="256032"/>
          </a:xfrm>
          <a:prstGeom prst="rect">
            <a:avLst/>
          </a:prstGeom>
          <a:noFill/>
          <a:ln/>
        </p:spPr>
        <p:txBody>
          <a:bodyPr wrap="square" lIns="0" tIns="0" rIns="0" bIns="0" rtlCol="0" anchor="t"/>
          <a:lstStyle/>
          <a:p>
            <a:pPr indent="0" marL="0">
              <a:buNone/>
            </a:pPr>
            <a:r>
              <a:rPr lang="en-US" sz="1250" b="1" dirty="0">
                <a:solidFill>
                  <a:srgbClr val="13203A"/>
                </a:solidFill>
              </a:rPr>
              <a:t>French twin: same ID, storage key AIA-Art6-2@fr</a:t>
            </a:r>
            <a:endParaRPr lang="en-US" sz="1250" dirty="0"/>
          </a:p>
        </p:txBody>
      </p:sp>
      <p:sp>
        <p:nvSpPr>
          <p:cNvPr id="17" name="code-147"/>
          <p:cNvSpPr txBox="1"/>
          <p:nvPr/>
        </p:nvSpPr>
        <p:spPr>
          <a:xfrm>
            <a:off x="6446520" y="5413248"/>
            <a:ext cx="5196535" cy="749808"/>
          </a:xfrm>
          <a:prstGeom prst="roundRect">
            <a:avLst>
              <a:gd name="adj" fmla="val 7317"/>
            </a:avLst>
          </a:prstGeom>
          <a:solidFill>
            <a:srgbClr val="F1F3F7"/>
          </a:solidFill>
          <a:ln w="9525">
            <a:solidFill>
              <a:srgbClr val="D5DBE5"/>
            </a:solidFill>
          </a:ln>
        </p:spPr>
        <p:txBody>
          <a:bodyPr wrap="square" lIns="1270" tIns="1524" rIns="1524" bIns="1270" rtlCol="0" anchor="t"/>
          <a:lstStyle/>
          <a:p>
            <a:pPr algn="l" indent="0" marL="0">
              <a:buNone/>
            </a:pPr>
            <a:r>
              <a:rPr lang="en-US" sz="1000" dirty="0">
                <a:solidFill>
                  <a:srgbClr val="13203A"/>
                </a:solidFill>
                <a:latin typeface="Courier New" pitchFamily="34" charset="0"/>
                <a:ea typeface="Courier New" pitchFamily="34" charset="-122"/>
                <a:cs typeface="Courier New" pitchFamily="34" charset="-120"/>
              </a:rPr>
              <a:t>Règlement IA Article 6(2): Règles relatives à la classification de systèmes d'IA comme systèmes à haut risque</a:t>
            </a:r>
            <a:endParaRPr lang="en-US" sz="1000" dirty="0"/>
          </a:p>
          <a:p>
            <a:pPr algn="l" indent="0" marL="0">
              <a:buNone/>
            </a:pPr>
            <a:r>
              <a:rPr lang="en-US" sz="1000" dirty="0">
                <a:solidFill>
                  <a:srgbClr val="13203A"/>
                </a:solidFill>
                <a:latin typeface="Courier New" pitchFamily="34" charset="0"/>
                <a:ea typeface="Courier New" pitchFamily="34" charset="-122"/>
                <a:cs typeface="Courier New" pitchFamily="34" charset="-120"/>
              </a:rPr>
              <a:t>Outre les systèmes d'IA à haut risque visés au paragraphe 1, ...</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1 OF 11  ·  INGESTION</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Stable IDs: one key for every module</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The ID never contains the language. Ingestion, search, evaluation and citations all speak it.</a:t>
            </a:r>
            <a:endParaRPr lang="en-US" sz="1600" dirty="0"/>
          </a:p>
        </p:txBody>
      </p:sp>
      <p:sp>
        <p:nvSpPr>
          <p:cNvPr id="6" name="chip-148"/>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149"/>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150"/>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seg-151"/>
          <p:cNvSpPr txBox="1"/>
          <p:nvPr/>
        </p:nvSpPr>
        <p:spPr>
          <a:xfrm>
            <a:off x="640080" y="2057400"/>
            <a:ext cx="1051560" cy="731520"/>
          </a:xfrm>
          <a:prstGeom prst="roundRect">
            <a:avLst>
              <a:gd name="adj" fmla="val 10000"/>
            </a:avLst>
          </a:prstGeom>
          <a:solidFill>
            <a:srgbClr val="13203A"/>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AIA</a:t>
            </a:r>
            <a:endParaRPr lang="en-US" sz="2600" dirty="0"/>
          </a:p>
        </p:txBody>
      </p:sp>
      <p:sp>
        <p:nvSpPr>
          <p:cNvPr id="10" name="text-152"/>
          <p:cNvSpPr txBox="1"/>
          <p:nvPr/>
        </p:nvSpPr>
        <p:spPr>
          <a:xfrm>
            <a:off x="457200" y="2862072"/>
            <a:ext cx="1417320" cy="256032"/>
          </a:xfrm>
          <a:prstGeom prst="rect">
            <a:avLst/>
          </a:prstGeom>
          <a:noFill/>
          <a:ln/>
        </p:spPr>
        <p:txBody>
          <a:bodyPr wrap="square" lIns="0" tIns="0" rIns="0" bIns="0" rtlCol="0" anchor="t"/>
          <a:lstStyle/>
          <a:p>
            <a:pPr algn="ctr" indent="0" marL="0">
              <a:buNone/>
            </a:pPr>
            <a:r>
              <a:rPr lang="en-US" sz="1200" dirty="0">
                <a:solidFill>
                  <a:srgbClr val="5B6B82"/>
                </a:solidFill>
              </a:rPr>
              <a:t>law</a:t>
            </a:r>
            <a:endParaRPr lang="en-US" sz="1200" dirty="0"/>
          </a:p>
        </p:txBody>
      </p:sp>
      <p:sp>
        <p:nvSpPr>
          <p:cNvPr id="11" name="text-153"/>
          <p:cNvSpPr txBox="1"/>
          <p:nvPr/>
        </p:nvSpPr>
        <p:spPr>
          <a:xfrm>
            <a:off x="1783080" y="2057400"/>
            <a:ext cx="274320" cy="731520"/>
          </a:xfrm>
          <a:prstGeom prst="rect">
            <a:avLst/>
          </a:prstGeom>
          <a:noFill/>
          <a:ln/>
        </p:spPr>
        <p:txBody>
          <a:bodyPr wrap="square" lIns="0" tIns="0" rIns="0" bIns="0" rtlCol="0" anchor="ctr"/>
          <a:lstStyle/>
          <a:p>
            <a:pPr algn="ctr" indent="0" marL="0">
              <a:buNone/>
            </a:pPr>
            <a:r>
              <a:rPr lang="en-US" sz="2600" b="1" dirty="0">
                <a:solidFill>
                  <a:srgbClr val="13203A"/>
                </a:solidFill>
                <a:latin typeface="Courier New" pitchFamily="34" charset="0"/>
                <a:ea typeface="Courier New" pitchFamily="34" charset="-122"/>
                <a:cs typeface="Courier New" pitchFamily="34" charset="-120"/>
              </a:rPr>
              <a:t>-</a:t>
            </a:r>
            <a:endParaRPr lang="en-US" sz="2600" dirty="0"/>
          </a:p>
        </p:txBody>
      </p:sp>
      <p:sp>
        <p:nvSpPr>
          <p:cNvPr id="12" name="seg-154"/>
          <p:cNvSpPr txBox="1"/>
          <p:nvPr/>
        </p:nvSpPr>
        <p:spPr>
          <a:xfrm>
            <a:off x="2148840" y="2057400"/>
            <a:ext cx="914400" cy="731520"/>
          </a:xfrm>
          <a:prstGeom prst="roundRect">
            <a:avLst>
              <a:gd name="adj" fmla="val 10000"/>
            </a:avLst>
          </a:prstGeom>
          <a:solidFill>
            <a:srgbClr val="13203A"/>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Art</a:t>
            </a:r>
            <a:endParaRPr lang="en-US" sz="2600" dirty="0"/>
          </a:p>
        </p:txBody>
      </p:sp>
      <p:sp>
        <p:nvSpPr>
          <p:cNvPr id="13" name="text-155"/>
          <p:cNvSpPr txBox="1"/>
          <p:nvPr/>
        </p:nvSpPr>
        <p:spPr>
          <a:xfrm>
            <a:off x="1965960" y="2862072"/>
            <a:ext cx="1280160" cy="256032"/>
          </a:xfrm>
          <a:prstGeom prst="rect">
            <a:avLst/>
          </a:prstGeom>
          <a:noFill/>
          <a:ln/>
        </p:spPr>
        <p:txBody>
          <a:bodyPr wrap="square" lIns="0" tIns="0" rIns="0" bIns="0" rtlCol="0" anchor="t"/>
          <a:lstStyle/>
          <a:p>
            <a:pPr algn="ctr" indent="0" marL="0">
              <a:buNone/>
            </a:pPr>
            <a:r>
              <a:rPr lang="en-US" sz="1200" dirty="0">
                <a:solidFill>
                  <a:srgbClr val="5B6B82"/>
                </a:solidFill>
              </a:rPr>
              <a:t>unit type</a:t>
            </a:r>
            <a:endParaRPr lang="en-US" sz="1200" dirty="0"/>
          </a:p>
        </p:txBody>
      </p:sp>
      <p:sp>
        <p:nvSpPr>
          <p:cNvPr id="14" name="seg-156"/>
          <p:cNvSpPr txBox="1"/>
          <p:nvPr/>
        </p:nvSpPr>
        <p:spPr>
          <a:xfrm>
            <a:off x="3154680" y="2057400"/>
            <a:ext cx="777240" cy="731520"/>
          </a:xfrm>
          <a:prstGeom prst="roundRect">
            <a:avLst>
              <a:gd name="adj" fmla="val 10000"/>
            </a:avLst>
          </a:prstGeom>
          <a:solidFill>
            <a:srgbClr val="13203A"/>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5</a:t>
            </a:r>
            <a:endParaRPr lang="en-US" sz="2600" dirty="0"/>
          </a:p>
        </p:txBody>
      </p:sp>
      <p:sp>
        <p:nvSpPr>
          <p:cNvPr id="15" name="text-157"/>
          <p:cNvSpPr txBox="1"/>
          <p:nvPr/>
        </p:nvSpPr>
        <p:spPr>
          <a:xfrm>
            <a:off x="2971800" y="2862072"/>
            <a:ext cx="1143000" cy="256032"/>
          </a:xfrm>
          <a:prstGeom prst="rect">
            <a:avLst/>
          </a:prstGeom>
          <a:noFill/>
          <a:ln/>
        </p:spPr>
        <p:txBody>
          <a:bodyPr wrap="square" lIns="0" tIns="0" rIns="0" bIns="0" rtlCol="0" anchor="t"/>
          <a:lstStyle/>
          <a:p>
            <a:pPr algn="ctr" indent="0" marL="0">
              <a:buNone/>
            </a:pPr>
            <a:r>
              <a:rPr lang="en-US" sz="1200" dirty="0">
                <a:solidFill>
                  <a:srgbClr val="5B6B82"/>
                </a:solidFill>
              </a:rPr>
              <a:t>number</a:t>
            </a:r>
            <a:endParaRPr lang="en-US" sz="1200" dirty="0"/>
          </a:p>
        </p:txBody>
      </p:sp>
      <p:sp>
        <p:nvSpPr>
          <p:cNvPr id="16" name="text-158"/>
          <p:cNvSpPr txBox="1"/>
          <p:nvPr/>
        </p:nvSpPr>
        <p:spPr>
          <a:xfrm>
            <a:off x="4023360" y="2057400"/>
            <a:ext cx="274320" cy="731520"/>
          </a:xfrm>
          <a:prstGeom prst="rect">
            <a:avLst/>
          </a:prstGeom>
          <a:noFill/>
          <a:ln/>
        </p:spPr>
        <p:txBody>
          <a:bodyPr wrap="square" lIns="0" tIns="0" rIns="0" bIns="0" rtlCol="0" anchor="ctr"/>
          <a:lstStyle/>
          <a:p>
            <a:pPr algn="ctr" indent="0" marL="0">
              <a:buNone/>
            </a:pPr>
            <a:r>
              <a:rPr lang="en-US" sz="2600" b="1" dirty="0">
                <a:solidFill>
                  <a:srgbClr val="13203A"/>
                </a:solidFill>
                <a:latin typeface="Courier New" pitchFamily="34" charset="0"/>
                <a:ea typeface="Courier New" pitchFamily="34" charset="-122"/>
                <a:cs typeface="Courier New" pitchFamily="34" charset="-120"/>
              </a:rPr>
              <a:t>-</a:t>
            </a:r>
            <a:endParaRPr lang="en-US" sz="2600" dirty="0"/>
          </a:p>
        </p:txBody>
      </p:sp>
      <p:sp>
        <p:nvSpPr>
          <p:cNvPr id="17" name="seg-159"/>
          <p:cNvSpPr txBox="1"/>
          <p:nvPr/>
        </p:nvSpPr>
        <p:spPr>
          <a:xfrm>
            <a:off x="4389120" y="2057400"/>
            <a:ext cx="868680" cy="731520"/>
          </a:xfrm>
          <a:prstGeom prst="roundRect">
            <a:avLst>
              <a:gd name="adj" fmla="val 10000"/>
            </a:avLst>
          </a:prstGeom>
          <a:solidFill>
            <a:srgbClr val="13203A"/>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1</a:t>
            </a:r>
            <a:endParaRPr lang="en-US" sz="2600" dirty="0"/>
          </a:p>
        </p:txBody>
      </p:sp>
      <p:sp>
        <p:nvSpPr>
          <p:cNvPr id="18" name="text-160"/>
          <p:cNvSpPr txBox="1"/>
          <p:nvPr/>
        </p:nvSpPr>
        <p:spPr>
          <a:xfrm>
            <a:off x="4206240" y="2862072"/>
            <a:ext cx="1234440" cy="256032"/>
          </a:xfrm>
          <a:prstGeom prst="rect">
            <a:avLst/>
          </a:prstGeom>
          <a:noFill/>
          <a:ln/>
        </p:spPr>
        <p:txBody>
          <a:bodyPr wrap="square" lIns="0" tIns="0" rIns="0" bIns="0" rtlCol="0" anchor="t"/>
          <a:lstStyle/>
          <a:p>
            <a:pPr algn="ctr" indent="0" marL="0">
              <a:buNone/>
            </a:pPr>
            <a:r>
              <a:rPr lang="en-US" sz="1200" dirty="0">
                <a:solidFill>
                  <a:srgbClr val="5B6B82"/>
                </a:solidFill>
              </a:rPr>
              <a:t>paragraph</a:t>
            </a:r>
            <a:endParaRPr lang="en-US" sz="1200" dirty="0"/>
          </a:p>
        </p:txBody>
      </p:sp>
      <p:sp>
        <p:nvSpPr>
          <p:cNvPr id="19" name="seg-161"/>
          <p:cNvSpPr txBox="1"/>
          <p:nvPr/>
        </p:nvSpPr>
        <p:spPr>
          <a:xfrm>
            <a:off x="5349240" y="2057400"/>
            <a:ext cx="960120" cy="731520"/>
          </a:xfrm>
          <a:prstGeom prst="roundRect">
            <a:avLst>
              <a:gd name="adj" fmla="val 10000"/>
            </a:avLst>
          </a:prstGeom>
          <a:solidFill>
            <a:srgbClr val="13203A"/>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#3</a:t>
            </a:r>
            <a:endParaRPr lang="en-US" sz="2600" dirty="0"/>
          </a:p>
        </p:txBody>
      </p:sp>
      <p:sp>
        <p:nvSpPr>
          <p:cNvPr id="20" name="text-162"/>
          <p:cNvSpPr txBox="1"/>
          <p:nvPr/>
        </p:nvSpPr>
        <p:spPr>
          <a:xfrm>
            <a:off x="5166360" y="2862072"/>
            <a:ext cx="1325880" cy="256032"/>
          </a:xfrm>
          <a:prstGeom prst="rect">
            <a:avLst/>
          </a:prstGeom>
          <a:noFill/>
          <a:ln/>
        </p:spPr>
        <p:txBody>
          <a:bodyPr wrap="square" lIns="0" tIns="0" rIns="0" bIns="0" rtlCol="0" anchor="t"/>
          <a:lstStyle/>
          <a:p>
            <a:pPr algn="ctr" indent="0" marL="0">
              <a:buNone/>
            </a:pPr>
            <a:r>
              <a:rPr lang="en-US" sz="1200" dirty="0">
                <a:solidFill>
                  <a:srgbClr val="5B6B82"/>
                </a:solidFill>
              </a:rPr>
              <a:t>window part</a:t>
            </a:r>
            <a:endParaRPr lang="en-US" sz="1200" dirty="0"/>
          </a:p>
        </p:txBody>
      </p:sp>
      <p:sp>
        <p:nvSpPr>
          <p:cNvPr id="21" name="box-163"/>
          <p:cNvSpPr/>
          <p:nvPr/>
        </p:nvSpPr>
        <p:spPr>
          <a:xfrm>
            <a:off x="548640" y="3429000"/>
            <a:ext cx="2880360" cy="1115568"/>
          </a:xfrm>
          <a:prstGeom prst="roundRect">
            <a:avLst>
              <a:gd name="adj" fmla="val 6557"/>
            </a:avLst>
          </a:prstGeom>
          <a:solidFill>
            <a:srgbClr val="EEF1F6"/>
          </a:solidFill>
          <a:ln/>
        </p:spPr>
      </p:sp>
      <p:sp>
        <p:nvSpPr>
          <p:cNvPr id="22" name="text-164"/>
          <p:cNvSpPr txBox="1"/>
          <p:nvPr/>
        </p:nvSpPr>
        <p:spPr>
          <a:xfrm>
            <a:off x="685800" y="3520440"/>
            <a:ext cx="2606040" cy="237744"/>
          </a:xfrm>
          <a:prstGeom prst="rect">
            <a:avLst/>
          </a:prstGeom>
          <a:noFill/>
          <a:ln/>
        </p:spPr>
        <p:txBody>
          <a:bodyPr wrap="square" lIns="0" tIns="0" rIns="0" bIns="0" rtlCol="0" anchor="t"/>
          <a:lstStyle/>
          <a:p>
            <a:pPr indent="0" marL="0">
              <a:buNone/>
            </a:pPr>
            <a:r>
              <a:rPr lang="en-US" sz="1150" dirty="0">
                <a:solidFill>
                  <a:srgbClr val="5B6B82"/>
                </a:solidFill>
                <a:latin typeface="Courier New" pitchFamily="34" charset="0"/>
                <a:ea typeface="Courier New" pitchFamily="34" charset="-122"/>
                <a:cs typeface="Courier New" pitchFamily="34" charset="-120"/>
              </a:rPr>
              <a:t>article_id()</a:t>
            </a:r>
            <a:endParaRPr lang="en-US" sz="1150" dirty="0"/>
          </a:p>
        </p:txBody>
      </p:sp>
      <p:sp>
        <p:nvSpPr>
          <p:cNvPr id="23" name="text-165"/>
          <p:cNvSpPr txBox="1"/>
          <p:nvPr/>
        </p:nvSpPr>
        <p:spPr>
          <a:xfrm>
            <a:off x="685800" y="3758184"/>
            <a:ext cx="2606040" cy="274320"/>
          </a:xfrm>
          <a:prstGeom prst="rect">
            <a:avLst/>
          </a:prstGeom>
          <a:noFill/>
          <a:ln/>
        </p:spPr>
        <p:txBody>
          <a:bodyPr wrap="square" lIns="0" tIns="0" rIns="0" bIns="0" rtlCol="0" anchor="t"/>
          <a:lstStyle/>
          <a:p>
            <a:pPr indent="0" marL="0">
              <a:buNone/>
            </a:pPr>
            <a:r>
              <a:rPr lang="en-US" sz="1350" b="1" dirty="0">
                <a:solidFill>
                  <a:srgbClr val="0F7A6B"/>
                </a:solidFill>
                <a:latin typeface="Courier New" pitchFamily="34" charset="0"/>
                <a:ea typeface="Courier New" pitchFamily="34" charset="-122"/>
                <a:cs typeface="Courier New" pitchFamily="34" charset="-120"/>
              </a:rPr>
              <a:t>AIA-Art5</a:t>
            </a:r>
            <a:endParaRPr lang="en-US" sz="1350" dirty="0"/>
          </a:p>
        </p:txBody>
      </p:sp>
      <p:sp>
        <p:nvSpPr>
          <p:cNvPr id="24" name="text-166"/>
          <p:cNvSpPr txBox="1"/>
          <p:nvPr/>
        </p:nvSpPr>
        <p:spPr>
          <a:xfrm>
            <a:off x="685800" y="4050792"/>
            <a:ext cx="2606040" cy="457200"/>
          </a:xfrm>
          <a:prstGeom prst="rect">
            <a:avLst/>
          </a:prstGeom>
          <a:noFill/>
          <a:ln/>
        </p:spPr>
        <p:txBody>
          <a:bodyPr wrap="square" lIns="0" tIns="0" rIns="0" bIns="0" rtlCol="0" anchor="t"/>
          <a:lstStyle/>
          <a:p>
            <a:pPr indent="0" marL="0">
              <a:buNone/>
            </a:pPr>
            <a:r>
              <a:rPr lang="en-US" sz="1200" dirty="0">
                <a:solidFill>
                  <a:srgbClr val="2B3A55"/>
                </a:solidFill>
              </a:rPr>
              <a:t>Gold-label level: metrics count an article once</a:t>
            </a:r>
            <a:endParaRPr lang="en-US" sz="1200" dirty="0"/>
          </a:p>
        </p:txBody>
      </p:sp>
      <p:sp>
        <p:nvSpPr>
          <p:cNvPr id="25" name="box-167"/>
          <p:cNvSpPr/>
          <p:nvPr/>
        </p:nvSpPr>
        <p:spPr>
          <a:xfrm>
            <a:off x="3611880" y="3429000"/>
            <a:ext cx="2880360" cy="1115568"/>
          </a:xfrm>
          <a:prstGeom prst="roundRect">
            <a:avLst>
              <a:gd name="adj" fmla="val 6557"/>
            </a:avLst>
          </a:prstGeom>
          <a:solidFill>
            <a:srgbClr val="EEF1F6"/>
          </a:solidFill>
          <a:ln/>
        </p:spPr>
      </p:sp>
      <p:sp>
        <p:nvSpPr>
          <p:cNvPr id="26" name="text-168"/>
          <p:cNvSpPr txBox="1"/>
          <p:nvPr/>
        </p:nvSpPr>
        <p:spPr>
          <a:xfrm>
            <a:off x="3749040" y="3520440"/>
            <a:ext cx="2606040" cy="237744"/>
          </a:xfrm>
          <a:prstGeom prst="rect">
            <a:avLst/>
          </a:prstGeom>
          <a:noFill/>
          <a:ln/>
        </p:spPr>
        <p:txBody>
          <a:bodyPr wrap="square" lIns="0" tIns="0" rIns="0" bIns="0" rtlCol="0" anchor="t"/>
          <a:lstStyle/>
          <a:p>
            <a:pPr indent="0" marL="0">
              <a:buNone/>
            </a:pPr>
            <a:r>
              <a:rPr lang="en-US" sz="1150" dirty="0">
                <a:solidFill>
                  <a:srgbClr val="5B6B82"/>
                </a:solidFill>
                <a:latin typeface="Courier New" pitchFamily="34" charset="0"/>
                <a:ea typeface="Courier New" pitchFamily="34" charset="-122"/>
                <a:cs typeface="Courier New" pitchFamily="34" charset="-120"/>
              </a:rPr>
              <a:t>.key</a:t>
            </a:r>
            <a:endParaRPr lang="en-US" sz="1150" dirty="0"/>
          </a:p>
        </p:txBody>
      </p:sp>
      <p:sp>
        <p:nvSpPr>
          <p:cNvPr id="27" name="text-169"/>
          <p:cNvSpPr txBox="1"/>
          <p:nvPr/>
        </p:nvSpPr>
        <p:spPr>
          <a:xfrm>
            <a:off x="3749040" y="3758184"/>
            <a:ext cx="2606040" cy="274320"/>
          </a:xfrm>
          <a:prstGeom prst="rect">
            <a:avLst/>
          </a:prstGeom>
          <a:noFill/>
          <a:ln/>
        </p:spPr>
        <p:txBody>
          <a:bodyPr wrap="square" lIns="0" tIns="0" rIns="0" bIns="0" rtlCol="0" anchor="t"/>
          <a:lstStyle/>
          <a:p>
            <a:pPr indent="0" marL="0">
              <a:buNone/>
            </a:pPr>
            <a:r>
              <a:rPr lang="en-US" sz="1350" b="1" dirty="0">
                <a:solidFill>
                  <a:srgbClr val="0F7A6B"/>
                </a:solidFill>
                <a:latin typeface="Courier New" pitchFamily="34" charset="0"/>
                <a:ea typeface="Courier New" pitchFamily="34" charset="-122"/>
                <a:cs typeface="Courier New" pitchFamily="34" charset="-120"/>
              </a:rPr>
              <a:t>AIA-Art5-1#3@fr</a:t>
            </a:r>
            <a:endParaRPr lang="en-US" sz="1350" dirty="0"/>
          </a:p>
        </p:txBody>
      </p:sp>
      <p:sp>
        <p:nvSpPr>
          <p:cNvPr id="28" name="text-170"/>
          <p:cNvSpPr txBox="1"/>
          <p:nvPr/>
        </p:nvSpPr>
        <p:spPr>
          <a:xfrm>
            <a:off x="3749040" y="4050792"/>
            <a:ext cx="2606040" cy="457200"/>
          </a:xfrm>
          <a:prstGeom prst="rect">
            <a:avLst/>
          </a:prstGeom>
          <a:noFill/>
          <a:ln/>
        </p:spPr>
        <p:txBody>
          <a:bodyPr wrap="square" lIns="0" tIns="0" rIns="0" bIns="0" rtlCol="0" anchor="t"/>
          <a:lstStyle/>
          <a:p>
            <a:pPr indent="0" marL="0">
              <a:buNone/>
            </a:pPr>
            <a:r>
              <a:rPr lang="en-US" sz="1200" dirty="0">
                <a:solidFill>
                  <a:srgbClr val="2B3A55"/>
                </a:solidFill>
              </a:rPr>
              <a:t>Storage key in Qdrant, NumPy and BM25, so French never overwrites English</a:t>
            </a:r>
            <a:endParaRPr lang="en-US" sz="1200" dirty="0"/>
          </a:p>
        </p:txBody>
      </p:sp>
      <p:sp>
        <p:nvSpPr>
          <p:cNvPr id="29" name="box-171"/>
          <p:cNvSpPr/>
          <p:nvPr/>
        </p:nvSpPr>
        <p:spPr>
          <a:xfrm>
            <a:off x="548640" y="4727448"/>
            <a:ext cx="2880360" cy="1115568"/>
          </a:xfrm>
          <a:prstGeom prst="roundRect">
            <a:avLst>
              <a:gd name="adj" fmla="val 6557"/>
            </a:avLst>
          </a:prstGeom>
          <a:solidFill>
            <a:srgbClr val="EEF1F6"/>
          </a:solidFill>
          <a:ln/>
        </p:spPr>
      </p:sp>
      <p:sp>
        <p:nvSpPr>
          <p:cNvPr id="30" name="text-172"/>
          <p:cNvSpPr txBox="1"/>
          <p:nvPr/>
        </p:nvSpPr>
        <p:spPr>
          <a:xfrm>
            <a:off x="685800" y="4818888"/>
            <a:ext cx="2606040" cy="237744"/>
          </a:xfrm>
          <a:prstGeom prst="rect">
            <a:avLst/>
          </a:prstGeom>
          <a:noFill/>
          <a:ln/>
        </p:spPr>
        <p:txBody>
          <a:bodyPr wrap="square" lIns="0" tIns="0" rIns="0" bIns="0" rtlCol="0" anchor="t"/>
          <a:lstStyle/>
          <a:p>
            <a:pPr indent="0" marL="0">
              <a:buNone/>
            </a:pPr>
            <a:r>
              <a:rPr lang="en-US" sz="1150" dirty="0">
                <a:solidFill>
                  <a:srgbClr val="5B6B82"/>
                </a:solidFill>
                <a:latin typeface="Courier New" pitchFamily="34" charset="0"/>
                <a:ea typeface="Courier New" pitchFamily="34" charset="-122"/>
                <a:cs typeface="Courier New" pitchFamily="34" charset="-120"/>
              </a:rPr>
              <a:t>human_label()</a:t>
            </a:r>
            <a:endParaRPr lang="en-US" sz="1150" dirty="0"/>
          </a:p>
        </p:txBody>
      </p:sp>
      <p:sp>
        <p:nvSpPr>
          <p:cNvPr id="31" name="text-173"/>
          <p:cNvSpPr txBox="1"/>
          <p:nvPr/>
        </p:nvSpPr>
        <p:spPr>
          <a:xfrm>
            <a:off x="685800" y="5056632"/>
            <a:ext cx="2606040" cy="274320"/>
          </a:xfrm>
          <a:prstGeom prst="rect">
            <a:avLst/>
          </a:prstGeom>
          <a:noFill/>
          <a:ln/>
        </p:spPr>
        <p:txBody>
          <a:bodyPr wrap="square" lIns="0" tIns="0" rIns="0" bIns="0" rtlCol="0" anchor="t"/>
          <a:lstStyle/>
          <a:p>
            <a:pPr indent="0" marL="0">
              <a:buNone/>
            </a:pPr>
            <a:r>
              <a:rPr lang="en-US" sz="1350" b="1" dirty="0">
                <a:solidFill>
                  <a:srgbClr val="0F7A6B"/>
                </a:solidFill>
                <a:latin typeface="Courier New" pitchFamily="34" charset="0"/>
                <a:ea typeface="Courier New" pitchFamily="34" charset="-122"/>
                <a:cs typeface="Courier New" pitchFamily="34" charset="-120"/>
              </a:rPr>
              <a:t>AI Act, Art. 5(1)</a:t>
            </a:r>
            <a:endParaRPr lang="en-US" sz="1350" dirty="0"/>
          </a:p>
        </p:txBody>
      </p:sp>
      <p:sp>
        <p:nvSpPr>
          <p:cNvPr id="32" name="text-174"/>
          <p:cNvSpPr txBox="1"/>
          <p:nvPr/>
        </p:nvSpPr>
        <p:spPr>
          <a:xfrm>
            <a:off x="685800" y="5349240"/>
            <a:ext cx="2606040" cy="457200"/>
          </a:xfrm>
          <a:prstGeom prst="rect">
            <a:avLst/>
          </a:prstGeom>
          <a:noFill/>
          <a:ln/>
        </p:spPr>
        <p:txBody>
          <a:bodyPr wrap="square" lIns="0" tIns="0" rIns="0" bIns="0" rtlCol="0" anchor="t"/>
          <a:lstStyle/>
          <a:p>
            <a:pPr indent="0" marL="0">
              <a:buNone/>
            </a:pPr>
            <a:r>
              <a:rPr lang="en-US" sz="1200" dirty="0">
                <a:solidFill>
                  <a:srgbClr val="2B3A55"/>
                </a:solidFill>
              </a:rPr>
              <a:t>What users see. Never sent to the model</a:t>
            </a:r>
            <a:endParaRPr lang="en-US" sz="1200" dirty="0"/>
          </a:p>
        </p:txBody>
      </p:sp>
      <p:sp>
        <p:nvSpPr>
          <p:cNvPr id="33" name="box-175"/>
          <p:cNvSpPr/>
          <p:nvPr/>
        </p:nvSpPr>
        <p:spPr>
          <a:xfrm>
            <a:off x="3611880" y="4727448"/>
            <a:ext cx="2880360" cy="1115568"/>
          </a:xfrm>
          <a:prstGeom prst="roundRect">
            <a:avLst>
              <a:gd name="adj" fmla="val 6557"/>
            </a:avLst>
          </a:prstGeom>
          <a:solidFill>
            <a:srgbClr val="EEF1F6"/>
          </a:solidFill>
          <a:ln/>
        </p:spPr>
      </p:sp>
      <p:sp>
        <p:nvSpPr>
          <p:cNvPr id="34" name="text-176"/>
          <p:cNvSpPr txBox="1"/>
          <p:nvPr/>
        </p:nvSpPr>
        <p:spPr>
          <a:xfrm>
            <a:off x="3749040" y="4818888"/>
            <a:ext cx="2606040" cy="237744"/>
          </a:xfrm>
          <a:prstGeom prst="rect">
            <a:avLst/>
          </a:prstGeom>
          <a:noFill/>
          <a:ln/>
        </p:spPr>
        <p:txBody>
          <a:bodyPr wrap="square" lIns="0" tIns="0" rIns="0" bIns="0" rtlCol="0" anchor="t"/>
          <a:lstStyle/>
          <a:p>
            <a:pPr indent="0" marL="0">
              <a:buNone/>
            </a:pPr>
            <a:r>
              <a:rPr lang="en-US" sz="1150" dirty="0">
                <a:solidFill>
                  <a:srgbClr val="5B6B82"/>
                </a:solidFill>
                <a:latin typeface="Courier New" pitchFamily="34" charset="0"/>
                <a:ea typeface="Courier New" pitchFamily="34" charset="-122"/>
                <a:cs typeface="Courier New" pitchFamily="34" charset="-120"/>
              </a:rPr>
              <a:t>citation</a:t>
            </a:r>
            <a:endParaRPr lang="en-US" sz="1150" dirty="0"/>
          </a:p>
        </p:txBody>
      </p:sp>
      <p:sp>
        <p:nvSpPr>
          <p:cNvPr id="35" name="text-177"/>
          <p:cNvSpPr txBox="1"/>
          <p:nvPr/>
        </p:nvSpPr>
        <p:spPr>
          <a:xfrm>
            <a:off x="3749040" y="5056632"/>
            <a:ext cx="2606040" cy="274320"/>
          </a:xfrm>
          <a:prstGeom prst="rect">
            <a:avLst/>
          </a:prstGeom>
          <a:noFill/>
          <a:ln/>
        </p:spPr>
        <p:txBody>
          <a:bodyPr wrap="square" lIns="0" tIns="0" rIns="0" bIns="0" rtlCol="0" anchor="t"/>
          <a:lstStyle/>
          <a:p>
            <a:pPr indent="0" marL="0">
              <a:buNone/>
            </a:pPr>
            <a:r>
              <a:rPr lang="en-US" sz="1350" b="1" dirty="0">
                <a:solidFill>
                  <a:srgbClr val="0F7A6B"/>
                </a:solidFill>
                <a:latin typeface="Courier New" pitchFamily="34" charset="0"/>
                <a:ea typeface="Courier New" pitchFamily="34" charset="-122"/>
                <a:cs typeface="Courier New" pitchFamily="34" charset="-120"/>
              </a:rPr>
              <a:t>[AIA-Art5-1#3]</a:t>
            </a:r>
            <a:endParaRPr lang="en-US" sz="1350" dirty="0"/>
          </a:p>
        </p:txBody>
      </p:sp>
      <p:sp>
        <p:nvSpPr>
          <p:cNvPr id="36" name="text-178"/>
          <p:cNvSpPr txBox="1"/>
          <p:nvPr/>
        </p:nvSpPr>
        <p:spPr>
          <a:xfrm>
            <a:off x="3749040" y="5349240"/>
            <a:ext cx="2606040" cy="457200"/>
          </a:xfrm>
          <a:prstGeom prst="rect">
            <a:avLst/>
          </a:prstGeom>
          <a:noFill/>
          <a:ln/>
        </p:spPr>
        <p:txBody>
          <a:bodyPr wrap="square" lIns="0" tIns="0" rIns="0" bIns="0" rtlCol="0" anchor="t"/>
          <a:lstStyle/>
          <a:p>
            <a:pPr indent="0" marL="0">
              <a:buNone/>
            </a:pPr>
            <a:r>
              <a:rPr lang="en-US" sz="1200" dirty="0">
                <a:solidFill>
                  <a:srgbClr val="2B3A55"/>
                </a:solidFill>
              </a:rPr>
              <a:t>How the model cites; checked against what was retrieved</a:t>
            </a:r>
            <a:endParaRPr lang="en-US" sz="1200" dirty="0"/>
          </a:p>
        </p:txBody>
      </p:sp>
      <p:sp>
        <p:nvSpPr>
          <p:cNvPr id="37" name="text-179"/>
          <p:cNvSpPr txBox="1"/>
          <p:nvPr/>
        </p:nvSpPr>
        <p:spPr>
          <a:xfrm>
            <a:off x="6766560" y="1920240"/>
            <a:ext cx="4876495" cy="274320"/>
          </a:xfrm>
          <a:prstGeom prst="rect">
            <a:avLst/>
          </a:prstGeom>
          <a:noFill/>
          <a:ln/>
        </p:spPr>
        <p:txBody>
          <a:bodyPr wrap="square" lIns="0" tIns="0" rIns="0" bIns="0" rtlCol="0" anchor="t"/>
          <a:lstStyle/>
          <a:p>
            <a:pPr indent="0" marL="0">
              <a:buNone/>
            </a:pPr>
            <a:r>
              <a:rPr lang="en-US" sz="1400" b="1" dirty="0">
                <a:solidFill>
                  <a:srgbClr val="13203A"/>
                </a:solidFill>
              </a:rPr>
              <a:t>Examples from the corpus</a:t>
            </a:r>
            <a:endParaRPr lang="en-US" sz="1400" dirty="0"/>
          </a:p>
        </p:txBody>
      </p:sp>
      <p:graphicFrame>
        <p:nvGraphicFramePr>
          <p:cNvPr id="7" name="table-180"/>
          <p:cNvGraphicFramePr>
            <a:graphicFrameLocks noGrp="1"/>
          </p:cNvGraphicFramePr>
          <p:nvPr>
            <p:extLst>
              <p:ext uri="{D42A27DB-BD31-4B8C-83A1-F6EECF244321}">
                <p14:modId xmlns:p14="http://schemas.microsoft.com/office/powerpoint/2010/main" val="1579011935"/>
              </p:ext>
            </p:extLst>
          </p:nvPr>
        </p:nvGraphicFramePr>
        <p:xfrm>
          <a:off x="6766560" y="2267712"/>
          <a:ext cx="4876495" cy="914400"/>
        </p:xfrm>
        <a:graphic>
          <a:graphicData uri="http://schemas.openxmlformats.org/drawingml/2006/table">
            <a:tbl>
              <a:tblPr/>
              <a:tblGrid>
                <a:gridCol w="1783080"/>
                <a:gridCol w="1508760"/>
                <a:gridCol w="1584655"/>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English label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French label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457200">
                <a:tc>
                  <a:txBody>
                    <a:bodyPr/>
                    <a:lstStyle/>
                    <a:p>
                      <a:pPr indent="0" marL="0">
                        <a:buNone/>
                      </a:pPr>
                      <a:r>
                        <a:rPr lang="en-US" sz="1050" b="1" dirty="0">
                          <a:solidFill>
                            <a:srgbClr val="13203A"/>
                          </a:solidFill>
                          <a:latin typeface="Courier New" pitchFamily="34" charset="0"/>
                          <a:ea typeface="Courier New" pitchFamily="34" charset="-122"/>
                          <a:cs typeface="Courier New" pitchFamily="34" charset="-120"/>
                        </a:rPr>
                        <a:t>AIA-Art6-2</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AI Act, Art. 6(2)</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Règlement IA, Art. 6(2)</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57200">
                <a:tc>
                  <a:txBody>
                    <a:bodyPr/>
                    <a:lstStyle/>
                    <a:p>
                      <a:pPr indent="0" marL="0">
                        <a:buNone/>
                      </a:pPr>
                      <a:r>
                        <a:rPr lang="en-US" sz="1050" b="1" dirty="0">
                          <a:solidFill>
                            <a:srgbClr val="13203A"/>
                          </a:solidFill>
                          <a:latin typeface="Courier New" pitchFamily="34" charset="0"/>
                          <a:ea typeface="Courier New" pitchFamily="34" charset="-122"/>
                          <a:cs typeface="Courier New" pitchFamily="34" charset="-120"/>
                        </a:rPr>
                        <a:t>AIA-AnnexIII-4</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AI Act, Annex III, point 4</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Règlement IA, Annexe III, point 4</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66928">
                <a:tc>
                  <a:txBody>
                    <a:bodyPr/>
                    <a:lstStyle/>
                    <a:p>
                      <a:pPr indent="0" marL="0">
                        <a:buNone/>
                      </a:pPr>
                      <a:r>
                        <a:rPr lang="en-US" sz="1050" b="1" dirty="0">
                          <a:solidFill>
                            <a:srgbClr val="13203A"/>
                          </a:solidFill>
                          <a:latin typeface="Courier New" pitchFamily="34" charset="0"/>
                          <a:ea typeface="Courier New" pitchFamily="34" charset="-122"/>
                          <a:cs typeface="Courier New" pitchFamily="34" charset="-120"/>
                        </a:rPr>
                        <a:t>AIA-AnnexVIII-b.1</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AI Act, Annex VIII, Section B, point 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Règlement IA, Annexe VIII, Section B, point 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57200">
                <a:tc>
                  <a:txBody>
                    <a:bodyPr/>
                    <a:lstStyle/>
                    <a:p>
                      <a:pPr indent="0" marL="0">
                        <a:buNone/>
                      </a:pPr>
                      <a:r>
                        <a:rPr lang="en-US" sz="1050" b="1" dirty="0">
                          <a:solidFill>
                            <a:srgbClr val="13203A"/>
                          </a:solidFill>
                          <a:latin typeface="Courier New" pitchFamily="34" charset="0"/>
                          <a:ea typeface="Courier New" pitchFamily="34" charset="-122"/>
                          <a:cs typeface="Courier New" pitchFamily="34" charset="-120"/>
                        </a:rPr>
                        <a:t>AIA-Rec63</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AI Act, Recital 63</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Règlement IA, considérant 63</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57200">
                <a:tc>
                  <a:txBody>
                    <a:bodyPr/>
                    <a:lstStyle/>
                    <a:p>
                      <a:pPr indent="0" marL="0">
                        <a:buNone/>
                      </a:pPr>
                      <a:r>
                        <a:rPr lang="en-US" sz="1050" b="1" dirty="0">
                          <a:solidFill>
                            <a:srgbClr val="13203A"/>
                          </a:solidFill>
                          <a:latin typeface="Courier New" pitchFamily="34" charset="0"/>
                          <a:ea typeface="Courier New" pitchFamily="34" charset="-122"/>
                          <a:cs typeface="Courier New" pitchFamily="34" charset="-120"/>
                        </a:rPr>
                        <a:t>GDPR-Art17-1</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GDPR, Art. 17(1)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3203A"/>
                          </a:solidFill>
                          <a:latin typeface="Calibri" pitchFamily="34" charset="0"/>
                          <a:ea typeface="Calibri" pitchFamily="34" charset="-122"/>
                          <a:cs typeface="Calibri" pitchFamily="34" charset="-120"/>
                        </a:rPr>
                        <a:t>RGPD, Art. 17(1)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39" name="box-181"/>
          <p:cNvSpPr/>
          <p:nvPr/>
        </p:nvSpPr>
        <p:spPr>
          <a:xfrm>
            <a:off x="6766560" y="5120640"/>
            <a:ext cx="4876495" cy="960120"/>
          </a:xfrm>
          <a:prstGeom prst="roundRect">
            <a:avLst>
              <a:gd name="adj" fmla="val 7619"/>
            </a:avLst>
          </a:prstGeom>
          <a:solidFill>
            <a:srgbClr val="FBEFD3"/>
          </a:solidFill>
          <a:ln/>
        </p:spPr>
      </p:sp>
      <p:sp>
        <p:nvSpPr>
          <p:cNvPr id="40" name="text-182"/>
          <p:cNvSpPr txBox="1"/>
          <p:nvPr/>
        </p:nvSpPr>
        <p:spPr>
          <a:xfrm>
            <a:off x="6949440" y="5120640"/>
            <a:ext cx="4510735" cy="960120"/>
          </a:xfrm>
          <a:prstGeom prst="rect">
            <a:avLst/>
          </a:prstGeom>
          <a:noFill/>
          <a:ln/>
        </p:spPr>
        <p:txBody>
          <a:bodyPr wrap="square" lIns="0" tIns="0" rIns="0" bIns="0" rtlCol="0" anchor="ctr"/>
          <a:lstStyle/>
          <a:p>
            <a:pPr indent="0" marL="0">
              <a:buNone/>
            </a:pPr>
            <a:r>
              <a:rPr lang="en-US" sz="1300" dirty="0">
                <a:solidFill>
                  <a:srgbClr val="13203A"/>
                </a:solidFill>
              </a:rPr>
              <a:t>Rule: an ID never contains the language. EN and FR chunks of a paragraph share one ID, so one gold label scores both.</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2 OF 11  ·  INDEXING</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Indexing: three ways to find a chunk</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Vectors go to Qdrant and a NumPy copy; words go to BM25. One embedder serves passages and queries.</a:t>
            </a:r>
            <a:endParaRPr lang="en-US" sz="1600" dirty="0"/>
          </a:p>
        </p:txBody>
      </p:sp>
      <p:sp>
        <p:nvSpPr>
          <p:cNvPr id="6" name="chip-183"/>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184"/>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185"/>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store-186"/>
          <p:cNvSpPr txBox="1"/>
          <p:nvPr/>
        </p:nvSpPr>
        <p:spPr>
          <a:xfrm>
            <a:off x="548640" y="3017520"/>
            <a:ext cx="1417320" cy="1051560"/>
          </a:xfrm>
          <a:prstGeom prst="can">
            <a:avLst/>
          </a:prstGeom>
          <a:solidFill>
            <a:srgbClr val="14917F"/>
          </a:solidFill>
          <a:ln/>
        </p:spPr>
        <p:txBody>
          <a:bodyPr wrap="square" lIns="381" tIns="889" rIns="889" bIns="381" rtlCol="0" anchor="ctr"/>
          <a:lstStyle/>
          <a:p>
            <a:pPr algn="ctr" indent="0" marL="0">
              <a:buNone/>
            </a:pPr>
            <a:r>
              <a:rPr lang="en-US" sz="1300" b="1" dirty="0">
                <a:solidFill>
                  <a:srgbClr val="FFFFFF"/>
                </a:solidFill>
              </a:rPr>
              <a:t>chunks.jsonl</a:t>
            </a:r>
            <a:endParaRPr lang="en-US" sz="1300" dirty="0"/>
          </a:p>
          <a:p>
            <a:pPr algn="ctr" indent="0" marL="0">
              <a:buNone/>
            </a:pPr>
            <a:r>
              <a:rPr lang="en-US" sz="1150" dirty="0">
                <a:solidFill>
                  <a:srgbClr val="FFFFFF"/>
                </a:solidFill>
              </a:rPr>
              <a:t>3,799</a:t>
            </a:r>
            <a:endParaRPr lang="en-US" sz="1300" dirty="0"/>
          </a:p>
        </p:txBody>
      </p:sp>
      <p:sp>
        <p:nvSpPr>
          <p:cNvPr id="10" name="node-step-187"/>
          <p:cNvSpPr txBox="1"/>
          <p:nvPr/>
        </p:nvSpPr>
        <p:spPr>
          <a:xfrm>
            <a:off x="2331720" y="3136392"/>
            <a:ext cx="1691640" cy="822960"/>
          </a:xfrm>
          <a:prstGeom prst="roundRect">
            <a:avLst>
              <a:gd name="adj" fmla="val 7778"/>
            </a:avLst>
          </a:prstGeom>
          <a:solidFill>
            <a:srgbClr val="14917F"/>
          </a:solidFill>
          <a:ln/>
        </p:spPr>
        <p:txBody>
          <a:bodyPr wrap="square" lIns="381" tIns="889" rIns="889" bIns="381"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embed_text</a:t>
            </a:r>
            <a:endParaRPr lang="en-US" sz="1300" dirty="0"/>
          </a:p>
          <a:p>
            <a:pPr algn="ctr" indent="0" marL="0">
              <a:buNone/>
            </a:pPr>
            <a:r>
              <a:rPr lang="en-US" sz="1150" dirty="0">
                <a:solidFill>
                  <a:srgbClr val="FFFFFF"/>
                </a:solidFill>
              </a:rPr>
              <a:t>header + text</a:t>
            </a:r>
            <a:endParaRPr lang="en-US" sz="1300" dirty="0"/>
          </a:p>
        </p:txBody>
      </p:sp>
      <p:sp>
        <p:nvSpPr>
          <p:cNvPr id="11" name="arrow-188"/>
          <p:cNvSpPr/>
          <p:nvPr/>
        </p:nvSpPr>
        <p:spPr>
          <a:xfrm>
            <a:off x="1965960" y="3543300"/>
            <a:ext cx="365760" cy="0"/>
          </a:xfrm>
          <a:prstGeom prst="line">
            <a:avLst/>
          </a:prstGeom>
          <a:noFill/>
          <a:ln w="19050">
            <a:solidFill>
              <a:srgbClr val="5B6B82"/>
            </a:solidFill>
            <a:prstDash val="solid"/>
            <a:tailEnd type="triangle"/>
          </a:ln>
        </p:spPr>
      </p:sp>
      <p:sp>
        <p:nvSpPr>
          <p:cNvPr id="12" name="box-189"/>
          <p:cNvSpPr/>
          <p:nvPr/>
        </p:nvSpPr>
        <p:spPr>
          <a:xfrm>
            <a:off x="4434840" y="1965960"/>
            <a:ext cx="2926080" cy="3108960"/>
          </a:xfrm>
          <a:prstGeom prst="roundRect">
            <a:avLst>
              <a:gd name="adj" fmla="val 2500"/>
            </a:avLst>
          </a:prstGeom>
          <a:solidFill>
            <a:srgbClr val="EEF1F6"/>
          </a:solidFill>
          <a:ln/>
        </p:spPr>
      </p:sp>
      <p:sp>
        <p:nvSpPr>
          <p:cNvPr id="13" name="text-190"/>
          <p:cNvSpPr txBox="1"/>
          <p:nvPr/>
        </p:nvSpPr>
        <p:spPr>
          <a:xfrm>
            <a:off x="4572000" y="2039112"/>
            <a:ext cx="2651760" cy="457200"/>
          </a:xfrm>
          <a:prstGeom prst="rect">
            <a:avLst/>
          </a:prstGeom>
          <a:noFill/>
          <a:ln/>
        </p:spPr>
        <p:txBody>
          <a:bodyPr wrap="square" lIns="0" tIns="0" rIns="0" bIns="0" rtlCol="0" anchor="t"/>
          <a:lstStyle/>
          <a:p>
            <a:pPr indent="0" marL="0">
              <a:buNone/>
            </a:pPr>
            <a:r>
              <a:rPr lang="en-US" sz="1250" b="1" dirty="0">
                <a:solidFill>
                  <a:srgbClr val="13203A"/>
                </a:solidFill>
              </a:rPr>
              <a:t>Embedder (same for passages and queries)</a:t>
            </a:r>
            <a:endParaRPr lang="en-US" sz="1250" dirty="0"/>
          </a:p>
        </p:txBody>
      </p:sp>
      <p:sp>
        <p:nvSpPr>
          <p:cNvPr id="14" name="node-step-191"/>
          <p:cNvSpPr txBox="1"/>
          <p:nvPr/>
        </p:nvSpPr>
        <p:spPr>
          <a:xfrm>
            <a:off x="4617720" y="2560320"/>
            <a:ext cx="2560320" cy="1051560"/>
          </a:xfrm>
          <a:prstGeom prst="roundRect">
            <a:avLst>
              <a:gd name="adj" fmla="val 608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Local: BGE-M3</a:t>
            </a:r>
            <a:endParaRPr lang="en-US" sz="1300" dirty="0"/>
          </a:p>
          <a:p>
            <a:pPr algn="ctr" indent="0" marL="0">
              <a:buNone/>
            </a:pPr>
            <a:r>
              <a:rPr lang="en-US" sz="1150" dirty="0">
                <a:solidFill>
                  <a:srgbClr val="2B3A55"/>
                </a:solidFill>
              </a:rPr>
              <a:t>1024 dimensions · sentence-transformers · PyTorch</a:t>
            </a:r>
            <a:endParaRPr lang="en-US" sz="1300" dirty="0"/>
          </a:p>
        </p:txBody>
      </p:sp>
      <p:sp>
        <p:nvSpPr>
          <p:cNvPr id="15" name="node-step-192"/>
          <p:cNvSpPr txBox="1"/>
          <p:nvPr/>
        </p:nvSpPr>
        <p:spPr>
          <a:xfrm>
            <a:off x="4617720" y="3794760"/>
            <a:ext cx="2560320" cy="1097280"/>
          </a:xfrm>
          <a:prstGeom prst="roundRect">
            <a:avLst>
              <a:gd name="adj" fmla="val 58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Cloud: MiniLM, fine-tuned</a:t>
            </a:r>
            <a:endParaRPr lang="en-US" sz="1300" dirty="0"/>
          </a:p>
          <a:p>
            <a:pPr algn="ctr" indent="0" marL="0">
              <a:buNone/>
            </a:pPr>
            <a:r>
              <a:rPr lang="en-US" sz="1150" dirty="0">
                <a:solidFill>
                  <a:srgbClr val="2B3A55"/>
                </a:solidFill>
              </a:rPr>
              <a:t>384 dimensions · ONNX int8 · no PyTorch</a:t>
            </a:r>
            <a:endParaRPr lang="en-US" sz="1300" dirty="0"/>
          </a:p>
        </p:txBody>
      </p:sp>
      <p:sp>
        <p:nvSpPr>
          <p:cNvPr id="16" name="arrow-193"/>
          <p:cNvSpPr/>
          <p:nvPr/>
        </p:nvSpPr>
        <p:spPr>
          <a:xfrm>
            <a:off x="4023360" y="3543300"/>
            <a:ext cx="411480" cy="0"/>
          </a:xfrm>
          <a:prstGeom prst="line">
            <a:avLst/>
          </a:prstGeom>
          <a:noFill/>
          <a:ln w="19050">
            <a:solidFill>
              <a:srgbClr val="5B6B82"/>
            </a:solidFill>
            <a:prstDash val="solid"/>
            <a:tailEnd type="triangle"/>
          </a:ln>
        </p:spPr>
      </p:sp>
      <p:sp>
        <p:nvSpPr>
          <p:cNvPr id="17" name="node-store-194"/>
          <p:cNvSpPr txBox="1"/>
          <p:nvPr/>
        </p:nvSpPr>
        <p:spPr>
          <a:xfrm>
            <a:off x="8458200" y="2011680"/>
            <a:ext cx="3184855" cy="896112"/>
          </a:xfrm>
          <a:prstGeom prst="can">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Qdrant collection</a:t>
            </a:r>
            <a:endParaRPr lang="en-US" sz="1300" dirty="0"/>
          </a:p>
          <a:p>
            <a:pPr algn="ctr" indent="0" marL="0">
              <a:buNone/>
            </a:pPr>
            <a:r>
              <a:rPr lang="en-US" sz="1100" dirty="0">
                <a:solidFill>
                  <a:srgbClr val="2B3A55"/>
                </a:solidFill>
              </a:rPr>
              <a:t>point id = uuid5(id@lang); payload: id, law, lang</a:t>
            </a:r>
            <a:endParaRPr lang="en-US" sz="1300" dirty="0"/>
          </a:p>
        </p:txBody>
      </p:sp>
      <p:sp>
        <p:nvSpPr>
          <p:cNvPr id="18" name="node-store-195"/>
          <p:cNvSpPr txBox="1"/>
          <p:nvPr/>
        </p:nvSpPr>
        <p:spPr>
          <a:xfrm>
            <a:off x="8458200" y="3090672"/>
            <a:ext cx="3184855" cy="896112"/>
          </a:xfrm>
          <a:prstGeom prst="can">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NumPy index.npz</a:t>
            </a:r>
            <a:endParaRPr lang="en-US" sz="1300" dirty="0"/>
          </a:p>
          <a:p>
            <a:pPr algn="ctr" indent="0" marL="0">
              <a:buNone/>
            </a:pPr>
            <a:r>
              <a:rPr lang="en-US" sz="1100" dirty="0">
                <a:solidFill>
                  <a:srgbClr val="2B3A55"/>
                </a:solidFill>
              </a:rPr>
              <a:t>inside the Docker image; automatic fallback</a:t>
            </a:r>
            <a:endParaRPr lang="en-US" sz="1300" dirty="0"/>
          </a:p>
        </p:txBody>
      </p:sp>
      <p:sp>
        <p:nvSpPr>
          <p:cNvPr id="19" name="node-store-196"/>
          <p:cNvSpPr txBox="1"/>
          <p:nvPr/>
        </p:nvSpPr>
        <p:spPr>
          <a:xfrm>
            <a:off x="8458200" y="4169664"/>
            <a:ext cx="3184855" cy="896112"/>
          </a:xfrm>
          <a:prstGeom prst="can">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BM25 index</a:t>
            </a:r>
            <a:endParaRPr lang="en-US" sz="1300" dirty="0"/>
          </a:p>
          <a:p>
            <a:pPr algn="ctr" indent="0" marL="0">
              <a:buNone/>
            </a:pPr>
            <a:r>
              <a:rPr lang="en-US" sz="1100" dirty="0">
                <a:solidFill>
                  <a:srgbClr val="2B3A55"/>
                </a:solidFill>
              </a:rPr>
              <a:t>built in memory from embed_text; no service</a:t>
            </a:r>
            <a:endParaRPr lang="en-US" sz="1300" dirty="0"/>
          </a:p>
        </p:txBody>
      </p:sp>
      <p:sp>
        <p:nvSpPr>
          <p:cNvPr id="20" name="arrow-197"/>
          <p:cNvSpPr/>
          <p:nvPr/>
        </p:nvSpPr>
        <p:spPr>
          <a:xfrm>
            <a:off x="7360920" y="3543300"/>
            <a:ext cx="548640" cy="0"/>
          </a:xfrm>
          <a:prstGeom prst="line">
            <a:avLst/>
          </a:prstGeom>
          <a:noFill/>
          <a:ln w="19050">
            <a:solidFill>
              <a:srgbClr val="5B6B82"/>
            </a:solidFill>
            <a:prstDash val="solid"/>
          </a:ln>
        </p:spPr>
      </p:sp>
      <p:sp>
        <p:nvSpPr>
          <p:cNvPr id="21" name="arrow-198"/>
          <p:cNvSpPr/>
          <p:nvPr/>
        </p:nvSpPr>
        <p:spPr>
          <a:xfrm>
            <a:off x="7909560" y="2459736"/>
            <a:ext cx="0" cy="1083564"/>
          </a:xfrm>
          <a:prstGeom prst="line">
            <a:avLst/>
          </a:prstGeom>
          <a:noFill/>
          <a:ln w="19050">
            <a:solidFill>
              <a:srgbClr val="5B6B82"/>
            </a:solidFill>
            <a:prstDash val="solid"/>
          </a:ln>
        </p:spPr>
      </p:sp>
      <p:sp>
        <p:nvSpPr>
          <p:cNvPr id="22" name="arrow-199"/>
          <p:cNvSpPr/>
          <p:nvPr/>
        </p:nvSpPr>
        <p:spPr>
          <a:xfrm>
            <a:off x="7909560" y="2459736"/>
            <a:ext cx="548640" cy="0"/>
          </a:xfrm>
          <a:prstGeom prst="line">
            <a:avLst/>
          </a:prstGeom>
          <a:noFill/>
          <a:ln w="19050">
            <a:solidFill>
              <a:srgbClr val="5B6B82"/>
            </a:solidFill>
            <a:prstDash val="solid"/>
            <a:tailEnd type="triangle"/>
          </a:ln>
        </p:spPr>
      </p:sp>
      <p:sp>
        <p:nvSpPr>
          <p:cNvPr id="23" name="arrow-200"/>
          <p:cNvSpPr/>
          <p:nvPr/>
        </p:nvSpPr>
        <p:spPr>
          <a:xfrm>
            <a:off x="7909560" y="3538728"/>
            <a:ext cx="548640" cy="0"/>
          </a:xfrm>
          <a:prstGeom prst="line">
            <a:avLst/>
          </a:prstGeom>
          <a:noFill/>
          <a:ln w="19050">
            <a:solidFill>
              <a:srgbClr val="5B6B82"/>
            </a:solidFill>
            <a:prstDash val="solid"/>
            <a:tailEnd type="triangle"/>
          </a:ln>
        </p:spPr>
      </p:sp>
      <p:sp>
        <p:nvSpPr>
          <p:cNvPr id="24" name="text-201"/>
          <p:cNvSpPr txBox="1"/>
          <p:nvPr/>
        </p:nvSpPr>
        <p:spPr>
          <a:xfrm>
            <a:off x="7406640" y="3566160"/>
            <a:ext cx="548640" cy="219456"/>
          </a:xfrm>
          <a:prstGeom prst="rect">
            <a:avLst/>
          </a:prstGeom>
          <a:noFill/>
          <a:ln/>
        </p:spPr>
        <p:txBody>
          <a:bodyPr wrap="square" lIns="0" tIns="0" rIns="0" bIns="0" rtlCol="0" anchor="ctr"/>
          <a:lstStyle/>
          <a:p>
            <a:pPr algn="l" indent="0" marL="0">
              <a:buNone/>
            </a:pPr>
            <a:r>
              <a:rPr lang="en-US" sz="1050" i="1" dirty="0">
                <a:solidFill>
                  <a:srgbClr val="5B6B82"/>
                </a:solidFill>
              </a:rPr>
              <a:t>vectors</a:t>
            </a:r>
            <a:endParaRPr lang="en-US" sz="1050" dirty="0"/>
          </a:p>
        </p:txBody>
      </p:sp>
      <p:sp>
        <p:nvSpPr>
          <p:cNvPr id="25" name="arrow-202"/>
          <p:cNvSpPr/>
          <p:nvPr/>
        </p:nvSpPr>
        <p:spPr>
          <a:xfrm>
            <a:off x="3177540" y="3959352"/>
            <a:ext cx="0" cy="1389888"/>
          </a:xfrm>
          <a:prstGeom prst="line">
            <a:avLst/>
          </a:prstGeom>
          <a:noFill/>
          <a:ln w="19050">
            <a:solidFill>
              <a:srgbClr val="E3A21A"/>
            </a:solidFill>
            <a:prstDash val="solid"/>
          </a:ln>
        </p:spPr>
      </p:sp>
      <p:sp>
        <p:nvSpPr>
          <p:cNvPr id="26" name="arrow-203"/>
          <p:cNvSpPr/>
          <p:nvPr/>
        </p:nvSpPr>
        <p:spPr>
          <a:xfrm>
            <a:off x="3177540" y="5349240"/>
            <a:ext cx="6873088" cy="0"/>
          </a:xfrm>
          <a:prstGeom prst="line">
            <a:avLst/>
          </a:prstGeom>
          <a:noFill/>
          <a:ln w="19050">
            <a:solidFill>
              <a:srgbClr val="E3A21A"/>
            </a:solidFill>
            <a:prstDash val="solid"/>
          </a:ln>
        </p:spPr>
      </p:sp>
      <p:sp>
        <p:nvSpPr>
          <p:cNvPr id="27" name="arrow-204"/>
          <p:cNvSpPr/>
          <p:nvPr/>
        </p:nvSpPr>
        <p:spPr>
          <a:xfrm flipV="1">
            <a:off x="10050628" y="5065776"/>
            <a:ext cx="0" cy="283464"/>
          </a:xfrm>
          <a:prstGeom prst="line">
            <a:avLst/>
          </a:prstGeom>
          <a:noFill/>
          <a:ln w="19050">
            <a:solidFill>
              <a:srgbClr val="E3A21A"/>
            </a:solidFill>
            <a:prstDash val="solid"/>
            <a:tailEnd type="triangle"/>
          </a:ln>
        </p:spPr>
      </p:sp>
      <p:sp>
        <p:nvSpPr>
          <p:cNvPr id="28" name="text-205"/>
          <p:cNvSpPr txBox="1"/>
          <p:nvPr/>
        </p:nvSpPr>
        <p:spPr>
          <a:xfrm>
            <a:off x="4572000" y="5120640"/>
            <a:ext cx="2286000" cy="219456"/>
          </a:xfrm>
          <a:prstGeom prst="rect">
            <a:avLst/>
          </a:prstGeom>
          <a:noFill/>
          <a:ln/>
        </p:spPr>
        <p:txBody>
          <a:bodyPr wrap="square" lIns="0" tIns="0" rIns="0" bIns="0" rtlCol="0" anchor="ctr"/>
          <a:lstStyle/>
          <a:p>
            <a:pPr algn="l" indent="0" marL="0">
              <a:buNone/>
            </a:pPr>
            <a:r>
              <a:rPr lang="en-US" sz="1050" i="1" dirty="0">
                <a:solidFill>
                  <a:srgbClr val="5B6B82"/>
                </a:solidFill>
              </a:rPr>
              <a:t>words, not vectors</a:t>
            </a:r>
            <a:endParaRPr lang="en-US" sz="1050" dirty="0"/>
          </a:p>
        </p:txBody>
      </p:sp>
      <p:sp>
        <p:nvSpPr>
          <p:cNvPr id="29" name="icon-bg-206"/>
          <p:cNvSpPr/>
          <p:nvPr/>
        </p:nvSpPr>
        <p:spPr>
          <a:xfrm>
            <a:off x="548640" y="5641848"/>
            <a:ext cx="329184" cy="329184"/>
          </a:xfrm>
          <a:prstGeom prst="ellipse">
            <a:avLst/>
          </a:prstGeom>
          <a:solidFill>
            <a:srgbClr val="13203A"/>
          </a:solidFill>
          <a:ln/>
        </p:spPr>
      </p:sp>
      <p:pic>
        <p:nvPicPr>
          <p:cNvPr id="30" name="icon-207" descr="check icon">    </p:cNvPr>
          <p:cNvPicPr>
            <a:picLocks noChangeAspect="1"/>
          </p:cNvPicPr>
          <p:nvPr/>
        </p:nvPicPr>
        <p:blipFill>
          <a:blip r:embed="rId1"/>
          <a:stretch>
            <a:fillRect/>
          </a:stretch>
        </p:blipFill>
        <p:spPr>
          <a:xfrm>
            <a:off x="627644" y="5720852"/>
            <a:ext cx="171176" cy="171176"/>
          </a:xfrm>
          <a:prstGeom prst="rect">
            <a:avLst/>
          </a:prstGeom>
        </p:spPr>
      </p:pic>
      <p:sp>
        <p:nvSpPr>
          <p:cNvPr id="31" name="text-208"/>
          <p:cNvSpPr txBox="1"/>
          <p:nvPr/>
        </p:nvSpPr>
        <p:spPr>
          <a:xfrm>
            <a:off x="987552" y="5577840"/>
            <a:ext cx="3119018" cy="548640"/>
          </a:xfrm>
          <a:prstGeom prst="rect">
            <a:avLst/>
          </a:prstGeom>
          <a:noFill/>
          <a:ln/>
        </p:spPr>
        <p:txBody>
          <a:bodyPr wrap="square" lIns="0" tIns="0" rIns="0" bIns="0" rtlCol="0" anchor="ctr"/>
          <a:lstStyle/>
          <a:p>
            <a:pPr indent="0" marL="0">
              <a:buNone/>
            </a:pPr>
            <a:r>
              <a:rPr lang="en-US" sz="1250" dirty="0">
                <a:solidFill>
                  <a:srgbClr val="2B3A55"/>
                </a:solidFill>
              </a:rPr>
              <a:t>Same embedder for queries and passages, or the scores mean nothing.</a:t>
            </a:r>
            <a:endParaRPr lang="en-US" sz="1250" dirty="0"/>
          </a:p>
        </p:txBody>
      </p:sp>
      <p:sp>
        <p:nvSpPr>
          <p:cNvPr id="32" name="icon-bg-209"/>
          <p:cNvSpPr/>
          <p:nvPr/>
        </p:nvSpPr>
        <p:spPr>
          <a:xfrm>
            <a:off x="4307738" y="5641848"/>
            <a:ext cx="329184" cy="329184"/>
          </a:xfrm>
          <a:prstGeom prst="ellipse">
            <a:avLst/>
          </a:prstGeom>
          <a:solidFill>
            <a:srgbClr val="13203A"/>
          </a:solidFill>
          <a:ln/>
        </p:spPr>
      </p:sp>
      <p:pic>
        <p:nvPicPr>
          <p:cNvPr id="33" name="icon-210" descr="check icon">    </p:cNvPr>
          <p:cNvPicPr>
            <a:picLocks noChangeAspect="1"/>
          </p:cNvPicPr>
          <p:nvPr/>
        </p:nvPicPr>
        <p:blipFill>
          <a:blip r:embed="rId2"/>
          <a:stretch>
            <a:fillRect/>
          </a:stretch>
        </p:blipFill>
        <p:spPr>
          <a:xfrm>
            <a:off x="4386743" y="5720852"/>
            <a:ext cx="171176" cy="171176"/>
          </a:xfrm>
          <a:prstGeom prst="rect">
            <a:avLst/>
          </a:prstGeom>
        </p:spPr>
      </p:pic>
      <p:sp>
        <p:nvSpPr>
          <p:cNvPr id="34" name="text-211"/>
          <p:cNvSpPr txBox="1"/>
          <p:nvPr/>
        </p:nvSpPr>
        <p:spPr>
          <a:xfrm>
            <a:off x="4746650" y="5577840"/>
            <a:ext cx="3119018" cy="548640"/>
          </a:xfrm>
          <a:prstGeom prst="rect">
            <a:avLst/>
          </a:prstGeom>
          <a:noFill/>
          <a:ln/>
        </p:spPr>
        <p:txBody>
          <a:bodyPr wrap="square" lIns="0" tIns="0" rIns="0" bIns="0" rtlCol="0" anchor="ctr"/>
          <a:lstStyle/>
          <a:p>
            <a:pPr indent="0" marL="0">
              <a:buNone/>
            </a:pPr>
            <a:r>
              <a:rPr lang="en-US" sz="1250" dirty="0">
                <a:solidFill>
                  <a:srgbClr val="2B3A55"/>
                </a:solidFill>
              </a:rPr>
              <a:t>uuid5 of the storage key makes re-indexing idempotent.</a:t>
            </a:r>
            <a:endParaRPr lang="en-US" sz="1250" dirty="0"/>
          </a:p>
        </p:txBody>
      </p:sp>
      <p:sp>
        <p:nvSpPr>
          <p:cNvPr id="35" name="icon-bg-212"/>
          <p:cNvSpPr/>
          <p:nvPr/>
        </p:nvSpPr>
        <p:spPr>
          <a:xfrm>
            <a:off x="8066837" y="5641848"/>
            <a:ext cx="329184" cy="329184"/>
          </a:xfrm>
          <a:prstGeom prst="ellipse">
            <a:avLst/>
          </a:prstGeom>
          <a:solidFill>
            <a:srgbClr val="13203A"/>
          </a:solidFill>
          <a:ln/>
        </p:spPr>
      </p:sp>
      <p:pic>
        <p:nvPicPr>
          <p:cNvPr id="36" name="icon-213" descr="check icon">    </p:cNvPr>
          <p:cNvPicPr>
            <a:picLocks noChangeAspect="1"/>
          </p:cNvPicPr>
          <p:nvPr/>
        </p:nvPicPr>
        <p:blipFill>
          <a:blip r:embed="rId3"/>
          <a:stretch>
            <a:fillRect/>
          </a:stretch>
        </p:blipFill>
        <p:spPr>
          <a:xfrm>
            <a:off x="8145841" y="5720852"/>
            <a:ext cx="171176" cy="171176"/>
          </a:xfrm>
          <a:prstGeom prst="rect">
            <a:avLst/>
          </a:prstGeom>
        </p:spPr>
      </p:pic>
      <p:sp>
        <p:nvSpPr>
          <p:cNvPr id="37" name="text-214"/>
          <p:cNvSpPr txBox="1"/>
          <p:nvPr/>
        </p:nvSpPr>
        <p:spPr>
          <a:xfrm>
            <a:off x="8505749" y="5577840"/>
            <a:ext cx="3119018" cy="548640"/>
          </a:xfrm>
          <a:prstGeom prst="rect">
            <a:avLst/>
          </a:prstGeom>
          <a:noFill/>
          <a:ln/>
        </p:spPr>
        <p:txBody>
          <a:bodyPr wrap="square" lIns="0" tIns="0" rIns="0" bIns="0" rtlCol="0" anchor="ctr"/>
          <a:lstStyle/>
          <a:p>
            <a:pPr indent="0" marL="0">
              <a:buNone/>
            </a:pPr>
            <a:r>
              <a:rPr lang="en-US" sz="1250" dirty="0">
                <a:solidFill>
                  <a:srgbClr val="2B3A55"/>
                </a:solidFill>
              </a:rPr>
              <a:t>Starts in Steps 3-4: the chunks it needs are ready.</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3 OF 11  ·  RETRIEVAL</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Hybrid retrieval: meaning plus exact words</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Dense and BM25 each return 30 candidates; rank fusion merges them; an optional reranker picks the final 5.</a:t>
            </a:r>
            <a:endParaRPr lang="en-US" sz="1600" dirty="0"/>
          </a:p>
        </p:txBody>
      </p:sp>
      <p:sp>
        <p:nvSpPr>
          <p:cNvPr id="6" name="chip-215"/>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216"/>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217"/>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io-218"/>
          <p:cNvSpPr txBox="1"/>
          <p:nvPr/>
        </p:nvSpPr>
        <p:spPr>
          <a:xfrm>
            <a:off x="548640" y="3246120"/>
            <a:ext cx="914400" cy="731520"/>
          </a:xfrm>
          <a:prstGeom prst="roundRect">
            <a:avLst>
              <a:gd name="adj" fmla="val 8750"/>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Query</a:t>
            </a:r>
            <a:endParaRPr lang="en-US" sz="1300" dirty="0"/>
          </a:p>
          <a:p>
            <a:pPr algn="ctr" indent="0" marL="0">
              <a:buNone/>
            </a:pPr>
            <a:r>
              <a:rPr lang="en-US" sz="1150" dirty="0">
                <a:solidFill>
                  <a:srgbClr val="FFFFFF"/>
                </a:solidFill>
              </a:rPr>
              <a:t>EN or FR</a:t>
            </a:r>
            <a:endParaRPr lang="en-US" sz="1300" dirty="0"/>
          </a:p>
        </p:txBody>
      </p:sp>
      <p:sp>
        <p:nvSpPr>
          <p:cNvPr id="10" name="node-step-219"/>
          <p:cNvSpPr txBox="1"/>
          <p:nvPr/>
        </p:nvSpPr>
        <p:spPr>
          <a:xfrm>
            <a:off x="1783080" y="2331720"/>
            <a:ext cx="128016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Embed query</a:t>
            </a:r>
            <a:endParaRPr lang="en-US" sz="1250" dirty="0"/>
          </a:p>
        </p:txBody>
      </p:sp>
      <p:sp>
        <p:nvSpPr>
          <p:cNvPr id="11" name="node-step-220"/>
          <p:cNvSpPr txBox="1"/>
          <p:nvPr/>
        </p:nvSpPr>
        <p:spPr>
          <a:xfrm>
            <a:off x="3291840" y="2331720"/>
            <a:ext cx="132588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Dense top 30</a:t>
            </a:r>
            <a:endParaRPr lang="en-US" sz="1250" dirty="0"/>
          </a:p>
          <a:p>
            <a:pPr algn="ctr" indent="0" marL="0">
              <a:buNone/>
            </a:pPr>
            <a:r>
              <a:rPr lang="en-US" sz="1000" dirty="0">
                <a:solidFill>
                  <a:srgbClr val="2B3A55"/>
                </a:solidFill>
              </a:rPr>
              <a:t>cosine · Qdrant / NumPy</a:t>
            </a:r>
            <a:endParaRPr lang="en-US" sz="1250" dirty="0"/>
          </a:p>
        </p:txBody>
      </p:sp>
      <p:sp>
        <p:nvSpPr>
          <p:cNvPr id="12" name="node-step-221"/>
          <p:cNvSpPr txBox="1"/>
          <p:nvPr/>
        </p:nvSpPr>
        <p:spPr>
          <a:xfrm>
            <a:off x="1783080" y="4206240"/>
            <a:ext cx="128016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Tokenize</a:t>
            </a:r>
            <a:endParaRPr lang="en-US" sz="1250" dirty="0"/>
          </a:p>
        </p:txBody>
      </p:sp>
      <p:sp>
        <p:nvSpPr>
          <p:cNvPr id="13" name="node-step-222"/>
          <p:cNvSpPr txBox="1"/>
          <p:nvPr/>
        </p:nvSpPr>
        <p:spPr>
          <a:xfrm>
            <a:off x="3291840" y="4206240"/>
            <a:ext cx="132588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BM25 top 30</a:t>
            </a:r>
            <a:endParaRPr lang="en-US" sz="1250" dirty="0"/>
          </a:p>
          <a:p>
            <a:pPr algn="ctr" indent="0" marL="0">
              <a:buNone/>
            </a:pPr>
            <a:r>
              <a:rPr lang="en-US" sz="1000" dirty="0">
                <a:solidFill>
                  <a:srgbClr val="2B3A55"/>
                </a:solidFill>
              </a:rPr>
              <a:t>own code</a:t>
            </a:r>
            <a:endParaRPr lang="en-US" sz="1250" dirty="0"/>
          </a:p>
        </p:txBody>
      </p:sp>
      <p:sp>
        <p:nvSpPr>
          <p:cNvPr id="14" name="node-step-223"/>
          <p:cNvSpPr txBox="1"/>
          <p:nvPr/>
        </p:nvSpPr>
        <p:spPr>
          <a:xfrm>
            <a:off x="4892040" y="3246120"/>
            <a:ext cx="91440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RRF fuse</a:t>
            </a:r>
            <a:endParaRPr lang="en-US" sz="1250" dirty="0"/>
          </a:p>
        </p:txBody>
      </p:sp>
      <p:sp>
        <p:nvSpPr>
          <p:cNvPr id="15" name="node-step-224"/>
          <p:cNvSpPr txBox="1"/>
          <p:nvPr/>
        </p:nvSpPr>
        <p:spPr>
          <a:xfrm>
            <a:off x="6035040" y="3246120"/>
            <a:ext cx="128016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Rerank top 20</a:t>
            </a:r>
            <a:endParaRPr lang="en-US" sz="1250" dirty="0"/>
          </a:p>
          <a:p>
            <a:pPr algn="ctr" indent="0" marL="0">
              <a:buNone/>
            </a:pPr>
            <a:r>
              <a:rPr lang="en-US" sz="1000" dirty="0">
                <a:solidFill>
                  <a:srgbClr val="2B3A55"/>
                </a:solidFill>
              </a:rPr>
              <a:t>cross-encoder, optional</a:t>
            </a:r>
            <a:endParaRPr lang="en-US" sz="1250" dirty="0"/>
          </a:p>
        </p:txBody>
      </p:sp>
      <p:sp>
        <p:nvSpPr>
          <p:cNvPr id="16" name="node-io-225"/>
          <p:cNvSpPr txBox="1"/>
          <p:nvPr/>
        </p:nvSpPr>
        <p:spPr>
          <a:xfrm>
            <a:off x="7543800" y="3246120"/>
            <a:ext cx="777240" cy="731520"/>
          </a:xfrm>
          <a:prstGeom prst="roundRect">
            <a:avLst>
              <a:gd name="adj" fmla="val 8750"/>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Top 5</a:t>
            </a:r>
            <a:endParaRPr lang="en-US" sz="1300" dirty="0"/>
          </a:p>
          <a:p>
            <a:pPr algn="ctr" indent="0" marL="0">
              <a:buNone/>
            </a:pPr>
            <a:r>
              <a:rPr lang="en-US" sz="1150" dirty="0">
                <a:solidFill>
                  <a:srgbClr val="FFFFFF"/>
                </a:solidFill>
              </a:rPr>
              <a:t>hits</a:t>
            </a:r>
            <a:endParaRPr lang="en-US" sz="1300" dirty="0"/>
          </a:p>
        </p:txBody>
      </p:sp>
      <p:sp>
        <p:nvSpPr>
          <p:cNvPr id="17" name="arrow-226"/>
          <p:cNvSpPr/>
          <p:nvPr/>
        </p:nvSpPr>
        <p:spPr>
          <a:xfrm>
            <a:off x="1463040" y="3474720"/>
            <a:ext cx="164592" cy="0"/>
          </a:xfrm>
          <a:prstGeom prst="line">
            <a:avLst/>
          </a:prstGeom>
          <a:noFill/>
          <a:ln w="19050">
            <a:solidFill>
              <a:srgbClr val="5B6B82"/>
            </a:solidFill>
            <a:prstDash val="solid"/>
          </a:ln>
        </p:spPr>
      </p:sp>
      <p:sp>
        <p:nvSpPr>
          <p:cNvPr id="18" name="arrow-227"/>
          <p:cNvSpPr/>
          <p:nvPr/>
        </p:nvSpPr>
        <p:spPr>
          <a:xfrm flipV="1">
            <a:off x="1627632" y="2674620"/>
            <a:ext cx="0" cy="800100"/>
          </a:xfrm>
          <a:prstGeom prst="line">
            <a:avLst/>
          </a:prstGeom>
          <a:noFill/>
          <a:ln w="19050">
            <a:solidFill>
              <a:srgbClr val="5B6B82"/>
            </a:solidFill>
            <a:prstDash val="solid"/>
          </a:ln>
        </p:spPr>
      </p:sp>
      <p:sp>
        <p:nvSpPr>
          <p:cNvPr id="19" name="arrow-228"/>
          <p:cNvSpPr/>
          <p:nvPr/>
        </p:nvSpPr>
        <p:spPr>
          <a:xfrm>
            <a:off x="1627632" y="2674620"/>
            <a:ext cx="155448" cy="0"/>
          </a:xfrm>
          <a:prstGeom prst="line">
            <a:avLst/>
          </a:prstGeom>
          <a:noFill/>
          <a:ln w="19050">
            <a:solidFill>
              <a:srgbClr val="5B6B82"/>
            </a:solidFill>
            <a:prstDash val="solid"/>
            <a:tailEnd type="triangle"/>
          </a:ln>
        </p:spPr>
      </p:sp>
      <p:sp>
        <p:nvSpPr>
          <p:cNvPr id="20" name="arrow-229"/>
          <p:cNvSpPr/>
          <p:nvPr/>
        </p:nvSpPr>
        <p:spPr>
          <a:xfrm>
            <a:off x="1463040" y="3749040"/>
            <a:ext cx="164592" cy="0"/>
          </a:xfrm>
          <a:prstGeom prst="line">
            <a:avLst/>
          </a:prstGeom>
          <a:noFill/>
          <a:ln w="19050">
            <a:solidFill>
              <a:srgbClr val="5B6B82"/>
            </a:solidFill>
            <a:prstDash val="solid"/>
          </a:ln>
        </p:spPr>
      </p:sp>
      <p:sp>
        <p:nvSpPr>
          <p:cNvPr id="21" name="arrow-230"/>
          <p:cNvSpPr/>
          <p:nvPr/>
        </p:nvSpPr>
        <p:spPr>
          <a:xfrm>
            <a:off x="1627632" y="3749040"/>
            <a:ext cx="0" cy="800100"/>
          </a:xfrm>
          <a:prstGeom prst="line">
            <a:avLst/>
          </a:prstGeom>
          <a:noFill/>
          <a:ln w="19050">
            <a:solidFill>
              <a:srgbClr val="5B6B82"/>
            </a:solidFill>
            <a:prstDash val="solid"/>
          </a:ln>
        </p:spPr>
      </p:sp>
      <p:sp>
        <p:nvSpPr>
          <p:cNvPr id="22" name="arrow-231"/>
          <p:cNvSpPr/>
          <p:nvPr/>
        </p:nvSpPr>
        <p:spPr>
          <a:xfrm>
            <a:off x="1627632" y="4549140"/>
            <a:ext cx="155448" cy="0"/>
          </a:xfrm>
          <a:prstGeom prst="line">
            <a:avLst/>
          </a:prstGeom>
          <a:noFill/>
          <a:ln w="19050">
            <a:solidFill>
              <a:srgbClr val="5B6B82"/>
            </a:solidFill>
            <a:prstDash val="solid"/>
            <a:tailEnd type="triangle"/>
          </a:ln>
        </p:spPr>
      </p:sp>
      <p:sp>
        <p:nvSpPr>
          <p:cNvPr id="23" name="arrow-232"/>
          <p:cNvSpPr/>
          <p:nvPr/>
        </p:nvSpPr>
        <p:spPr>
          <a:xfrm>
            <a:off x="3063240" y="2674620"/>
            <a:ext cx="228600" cy="0"/>
          </a:xfrm>
          <a:prstGeom prst="line">
            <a:avLst/>
          </a:prstGeom>
          <a:noFill/>
          <a:ln w="19050">
            <a:solidFill>
              <a:srgbClr val="5B6B82"/>
            </a:solidFill>
            <a:prstDash val="solid"/>
            <a:tailEnd type="triangle"/>
          </a:ln>
        </p:spPr>
      </p:sp>
      <p:sp>
        <p:nvSpPr>
          <p:cNvPr id="24" name="arrow-233"/>
          <p:cNvSpPr/>
          <p:nvPr/>
        </p:nvSpPr>
        <p:spPr>
          <a:xfrm>
            <a:off x="3063240" y="4549140"/>
            <a:ext cx="228600" cy="0"/>
          </a:xfrm>
          <a:prstGeom prst="line">
            <a:avLst/>
          </a:prstGeom>
          <a:noFill/>
          <a:ln w="19050">
            <a:solidFill>
              <a:srgbClr val="5B6B82"/>
            </a:solidFill>
            <a:prstDash val="solid"/>
            <a:tailEnd type="triangle"/>
          </a:ln>
        </p:spPr>
      </p:sp>
      <p:sp>
        <p:nvSpPr>
          <p:cNvPr id="25" name="arrow-234"/>
          <p:cNvSpPr/>
          <p:nvPr/>
        </p:nvSpPr>
        <p:spPr>
          <a:xfrm>
            <a:off x="4617720" y="2674620"/>
            <a:ext cx="137160" cy="0"/>
          </a:xfrm>
          <a:prstGeom prst="line">
            <a:avLst/>
          </a:prstGeom>
          <a:noFill/>
          <a:ln w="19050">
            <a:solidFill>
              <a:srgbClr val="5B6B82"/>
            </a:solidFill>
            <a:prstDash val="solid"/>
          </a:ln>
        </p:spPr>
      </p:sp>
      <p:sp>
        <p:nvSpPr>
          <p:cNvPr id="26" name="arrow-235"/>
          <p:cNvSpPr/>
          <p:nvPr/>
        </p:nvSpPr>
        <p:spPr>
          <a:xfrm>
            <a:off x="4754880" y="2674620"/>
            <a:ext cx="0" cy="845820"/>
          </a:xfrm>
          <a:prstGeom prst="line">
            <a:avLst/>
          </a:prstGeom>
          <a:noFill/>
          <a:ln w="19050">
            <a:solidFill>
              <a:srgbClr val="5B6B82"/>
            </a:solidFill>
            <a:prstDash val="solid"/>
          </a:ln>
        </p:spPr>
      </p:sp>
      <p:sp>
        <p:nvSpPr>
          <p:cNvPr id="27" name="arrow-236"/>
          <p:cNvSpPr/>
          <p:nvPr/>
        </p:nvSpPr>
        <p:spPr>
          <a:xfrm>
            <a:off x="4754880" y="3520440"/>
            <a:ext cx="137160" cy="0"/>
          </a:xfrm>
          <a:prstGeom prst="line">
            <a:avLst/>
          </a:prstGeom>
          <a:noFill/>
          <a:ln w="19050">
            <a:solidFill>
              <a:srgbClr val="5B6B82"/>
            </a:solidFill>
            <a:prstDash val="solid"/>
            <a:tailEnd type="triangle"/>
          </a:ln>
        </p:spPr>
      </p:sp>
      <p:sp>
        <p:nvSpPr>
          <p:cNvPr id="28" name="arrow-237"/>
          <p:cNvSpPr/>
          <p:nvPr/>
        </p:nvSpPr>
        <p:spPr>
          <a:xfrm>
            <a:off x="4617720" y="4549140"/>
            <a:ext cx="137160" cy="0"/>
          </a:xfrm>
          <a:prstGeom prst="line">
            <a:avLst/>
          </a:prstGeom>
          <a:noFill/>
          <a:ln w="19050">
            <a:solidFill>
              <a:srgbClr val="5B6B82"/>
            </a:solidFill>
            <a:prstDash val="solid"/>
          </a:ln>
        </p:spPr>
      </p:sp>
      <p:sp>
        <p:nvSpPr>
          <p:cNvPr id="29" name="arrow-238"/>
          <p:cNvSpPr/>
          <p:nvPr/>
        </p:nvSpPr>
        <p:spPr>
          <a:xfrm flipV="1">
            <a:off x="4754880" y="3703320"/>
            <a:ext cx="0" cy="845820"/>
          </a:xfrm>
          <a:prstGeom prst="line">
            <a:avLst/>
          </a:prstGeom>
          <a:noFill/>
          <a:ln w="19050">
            <a:solidFill>
              <a:srgbClr val="5B6B82"/>
            </a:solidFill>
            <a:prstDash val="solid"/>
          </a:ln>
        </p:spPr>
      </p:sp>
      <p:sp>
        <p:nvSpPr>
          <p:cNvPr id="30" name="arrow-239"/>
          <p:cNvSpPr/>
          <p:nvPr/>
        </p:nvSpPr>
        <p:spPr>
          <a:xfrm>
            <a:off x="4754880" y="3703320"/>
            <a:ext cx="137160" cy="0"/>
          </a:xfrm>
          <a:prstGeom prst="line">
            <a:avLst/>
          </a:prstGeom>
          <a:noFill/>
          <a:ln w="19050">
            <a:solidFill>
              <a:srgbClr val="5B6B82"/>
            </a:solidFill>
            <a:prstDash val="solid"/>
            <a:tailEnd type="triangle"/>
          </a:ln>
        </p:spPr>
      </p:sp>
      <p:sp>
        <p:nvSpPr>
          <p:cNvPr id="31" name="arrow-240"/>
          <p:cNvSpPr/>
          <p:nvPr/>
        </p:nvSpPr>
        <p:spPr>
          <a:xfrm>
            <a:off x="5806440" y="3611880"/>
            <a:ext cx="228600" cy="0"/>
          </a:xfrm>
          <a:prstGeom prst="line">
            <a:avLst/>
          </a:prstGeom>
          <a:noFill/>
          <a:ln w="19050">
            <a:solidFill>
              <a:srgbClr val="5B6B82"/>
            </a:solidFill>
            <a:prstDash val="solid"/>
            <a:tailEnd type="triangle"/>
          </a:ln>
        </p:spPr>
      </p:sp>
      <p:sp>
        <p:nvSpPr>
          <p:cNvPr id="32" name="arrow-241"/>
          <p:cNvSpPr/>
          <p:nvPr/>
        </p:nvSpPr>
        <p:spPr>
          <a:xfrm>
            <a:off x="7315200" y="3611880"/>
            <a:ext cx="228600" cy="0"/>
          </a:xfrm>
          <a:prstGeom prst="line">
            <a:avLst/>
          </a:prstGeom>
          <a:noFill/>
          <a:ln w="19050">
            <a:solidFill>
              <a:srgbClr val="5B6B82"/>
            </a:solidFill>
            <a:prstDash val="solid"/>
            <a:tailEnd type="triangle"/>
          </a:ln>
        </p:spPr>
      </p:sp>
      <p:sp>
        <p:nvSpPr>
          <p:cNvPr id="33" name="text-242"/>
          <p:cNvSpPr txBox="1"/>
          <p:nvPr/>
        </p:nvSpPr>
        <p:spPr>
          <a:xfrm>
            <a:off x="1783080" y="2011680"/>
            <a:ext cx="2286000" cy="219456"/>
          </a:xfrm>
          <a:prstGeom prst="rect">
            <a:avLst/>
          </a:prstGeom>
          <a:noFill/>
          <a:ln/>
        </p:spPr>
        <p:txBody>
          <a:bodyPr wrap="square" lIns="0" tIns="0" rIns="0" bIns="0" rtlCol="0" anchor="ctr"/>
          <a:lstStyle/>
          <a:p>
            <a:pPr algn="l" indent="0" marL="0">
              <a:buNone/>
            </a:pPr>
            <a:r>
              <a:rPr lang="en-US" sz="1150" i="1" dirty="0">
                <a:solidFill>
                  <a:srgbClr val="2B3A55"/>
                </a:solidFill>
              </a:rPr>
              <a:t>dense: meaning</a:t>
            </a:r>
            <a:endParaRPr lang="en-US" sz="1150" dirty="0"/>
          </a:p>
        </p:txBody>
      </p:sp>
      <p:sp>
        <p:nvSpPr>
          <p:cNvPr id="34" name="text-243"/>
          <p:cNvSpPr txBox="1"/>
          <p:nvPr/>
        </p:nvSpPr>
        <p:spPr>
          <a:xfrm>
            <a:off x="1783080" y="4937760"/>
            <a:ext cx="2286000" cy="219456"/>
          </a:xfrm>
          <a:prstGeom prst="rect">
            <a:avLst/>
          </a:prstGeom>
          <a:noFill/>
          <a:ln/>
        </p:spPr>
        <p:txBody>
          <a:bodyPr wrap="square" lIns="0" tIns="0" rIns="0" bIns="0" rtlCol="0" anchor="ctr"/>
          <a:lstStyle/>
          <a:p>
            <a:pPr algn="l" indent="0" marL="0">
              <a:buNone/>
            </a:pPr>
            <a:r>
              <a:rPr lang="en-US" sz="1150" i="1" dirty="0">
                <a:solidFill>
                  <a:srgbClr val="2B3A55"/>
                </a:solidFill>
              </a:rPr>
              <a:t>sparse: exact words</a:t>
            </a:r>
            <a:endParaRPr lang="en-US" sz="1150" dirty="0"/>
          </a:p>
        </p:txBody>
      </p:sp>
      <p:sp>
        <p:nvSpPr>
          <p:cNvPr id="35" name="box-244"/>
          <p:cNvSpPr/>
          <p:nvPr/>
        </p:nvSpPr>
        <p:spPr>
          <a:xfrm>
            <a:off x="548640" y="5349240"/>
            <a:ext cx="3749040" cy="841248"/>
          </a:xfrm>
          <a:prstGeom prst="roundRect">
            <a:avLst>
              <a:gd name="adj" fmla="val 8696"/>
            </a:avLst>
          </a:prstGeom>
          <a:solidFill>
            <a:srgbClr val="EEF1F6"/>
          </a:solidFill>
          <a:ln/>
        </p:spPr>
      </p:sp>
      <p:sp>
        <p:nvSpPr>
          <p:cNvPr id="36" name="text-245"/>
          <p:cNvSpPr txBox="1"/>
          <p:nvPr/>
        </p:nvSpPr>
        <p:spPr>
          <a:xfrm>
            <a:off x="685800" y="5440680"/>
            <a:ext cx="3474720" cy="274320"/>
          </a:xfrm>
          <a:prstGeom prst="rect">
            <a:avLst/>
          </a:prstGeom>
          <a:noFill/>
          <a:ln/>
        </p:spPr>
        <p:txBody>
          <a:bodyPr wrap="square" lIns="0" tIns="0" rIns="0" bIns="0" rtlCol="0" anchor="t"/>
          <a:lstStyle/>
          <a:p>
            <a:pPr indent="0" marL="0">
              <a:buNone/>
            </a:pPr>
            <a:r>
              <a:rPr lang="en-US" sz="1300" b="1" dirty="0">
                <a:solidFill>
                  <a:srgbClr val="13203A"/>
                </a:solidFill>
              </a:rPr>
              <a:t>BM25 catches exact references</a:t>
            </a:r>
            <a:endParaRPr lang="en-US" sz="1300" dirty="0"/>
          </a:p>
        </p:txBody>
      </p:sp>
      <p:sp>
        <p:nvSpPr>
          <p:cNvPr id="37" name="text-246"/>
          <p:cNvSpPr txBox="1"/>
          <p:nvPr/>
        </p:nvSpPr>
        <p:spPr>
          <a:xfrm>
            <a:off x="685800" y="5733288"/>
            <a:ext cx="3502152" cy="384048"/>
          </a:xfrm>
          <a:prstGeom prst="rect">
            <a:avLst/>
          </a:prstGeom>
          <a:noFill/>
          <a:ln/>
        </p:spPr>
        <p:txBody>
          <a:bodyPr wrap="square" lIns="0" tIns="0" rIns="0" bIns="0" rtlCol="0" anchor="t"/>
          <a:lstStyle/>
          <a:p>
            <a:pPr indent="0" marL="0">
              <a:buNone/>
            </a:pPr>
            <a:r>
              <a:rPr lang="en-US" sz="1200" dirty="0">
                <a:solidFill>
                  <a:srgbClr val="2B3A55"/>
                </a:solidFill>
              </a:rPr>
              <a:t>"Annex III", "Article 50", "erasure": words a vector can blur.</a:t>
            </a:r>
            <a:endParaRPr lang="en-US" sz="1200" dirty="0"/>
          </a:p>
        </p:txBody>
      </p:sp>
      <p:sp>
        <p:nvSpPr>
          <p:cNvPr id="38" name="box-247"/>
          <p:cNvSpPr/>
          <p:nvPr/>
        </p:nvSpPr>
        <p:spPr>
          <a:xfrm>
            <a:off x="4480560" y="5349240"/>
            <a:ext cx="3840480" cy="841248"/>
          </a:xfrm>
          <a:prstGeom prst="roundRect">
            <a:avLst>
              <a:gd name="adj" fmla="val 8696"/>
            </a:avLst>
          </a:prstGeom>
          <a:solidFill>
            <a:srgbClr val="EEF1F6"/>
          </a:solidFill>
          <a:ln/>
        </p:spPr>
      </p:sp>
      <p:sp>
        <p:nvSpPr>
          <p:cNvPr id="39" name="text-248"/>
          <p:cNvSpPr txBox="1"/>
          <p:nvPr/>
        </p:nvSpPr>
        <p:spPr>
          <a:xfrm>
            <a:off x="4617720" y="5440680"/>
            <a:ext cx="3566160" cy="274320"/>
          </a:xfrm>
          <a:prstGeom prst="rect">
            <a:avLst/>
          </a:prstGeom>
          <a:noFill/>
          <a:ln/>
        </p:spPr>
        <p:txBody>
          <a:bodyPr wrap="square" lIns="0" tIns="0" rIns="0" bIns="0" rtlCol="0" anchor="t"/>
          <a:lstStyle/>
          <a:p>
            <a:pPr indent="0" marL="0">
              <a:buNone/>
            </a:pPr>
            <a:r>
              <a:rPr lang="en-US" sz="1300" b="1" dirty="0">
                <a:solidFill>
                  <a:srgbClr val="13203A"/>
                </a:solidFill>
              </a:rPr>
              <a:t>Dense catches meaning</a:t>
            </a:r>
            <a:endParaRPr lang="en-US" sz="1300" dirty="0"/>
          </a:p>
        </p:txBody>
      </p:sp>
      <p:sp>
        <p:nvSpPr>
          <p:cNvPr id="40" name="text-249"/>
          <p:cNvSpPr txBox="1"/>
          <p:nvPr/>
        </p:nvSpPr>
        <p:spPr>
          <a:xfrm>
            <a:off x="4617720" y="5733288"/>
            <a:ext cx="3593592" cy="384048"/>
          </a:xfrm>
          <a:prstGeom prst="rect">
            <a:avLst/>
          </a:prstGeom>
          <a:noFill/>
          <a:ln/>
        </p:spPr>
        <p:txBody>
          <a:bodyPr wrap="square" lIns="0" tIns="0" rIns="0" bIns="0" rtlCol="0" anchor="t"/>
          <a:lstStyle/>
          <a:p>
            <a:pPr indent="0" marL="0">
              <a:buNone/>
            </a:pPr>
            <a:r>
              <a:rPr lang="en-US" sz="1200" dirty="0">
                <a:solidFill>
                  <a:srgbClr val="2B3A55"/>
                </a:solidFill>
              </a:rPr>
              <a:t>Paraphrases and French wording that share no word with the text.</a:t>
            </a:r>
            <a:endParaRPr lang="en-US" sz="1200" dirty="0"/>
          </a:p>
        </p:txBody>
      </p:sp>
      <p:sp>
        <p:nvSpPr>
          <p:cNvPr id="41" name="box-250"/>
          <p:cNvSpPr/>
          <p:nvPr/>
        </p:nvSpPr>
        <p:spPr>
          <a:xfrm>
            <a:off x="8595360" y="1965960"/>
            <a:ext cx="3047695" cy="4270248"/>
          </a:xfrm>
          <a:prstGeom prst="roundRect">
            <a:avLst>
              <a:gd name="adj" fmla="val 2400"/>
            </a:avLst>
          </a:prstGeom>
          <a:solidFill>
            <a:srgbClr val="EEF1F6"/>
          </a:solidFill>
          <a:ln/>
        </p:spPr>
      </p:sp>
      <p:sp>
        <p:nvSpPr>
          <p:cNvPr id="42" name="text-251"/>
          <p:cNvSpPr txBox="1"/>
          <p:nvPr/>
        </p:nvSpPr>
        <p:spPr>
          <a:xfrm>
            <a:off x="8759952" y="2057400"/>
            <a:ext cx="2718511" cy="274320"/>
          </a:xfrm>
          <a:prstGeom prst="rect">
            <a:avLst/>
          </a:prstGeom>
          <a:noFill/>
          <a:ln/>
        </p:spPr>
        <p:txBody>
          <a:bodyPr wrap="square" lIns="0" tIns="0" rIns="0" bIns="0" rtlCol="0" anchor="t"/>
          <a:lstStyle/>
          <a:p>
            <a:pPr indent="0" marL="0">
              <a:buNone/>
            </a:pPr>
            <a:r>
              <a:rPr lang="en-US" sz="1400" b="1" dirty="0">
                <a:solidFill>
                  <a:srgbClr val="13203A"/>
                </a:solidFill>
              </a:rPr>
              <a:t>RRF, worked example</a:t>
            </a:r>
            <a:endParaRPr lang="en-US" sz="1400" dirty="0"/>
          </a:p>
        </p:txBody>
      </p:sp>
      <p:sp>
        <p:nvSpPr>
          <p:cNvPr id="43" name="code-252"/>
          <p:cNvSpPr txBox="1"/>
          <p:nvPr/>
        </p:nvSpPr>
        <p:spPr>
          <a:xfrm>
            <a:off x="8759952" y="2423160"/>
            <a:ext cx="2718511" cy="384048"/>
          </a:xfrm>
          <a:prstGeom prst="roundRect">
            <a:avLst>
              <a:gd name="adj" fmla="val 14286"/>
            </a:avLst>
          </a:prstGeom>
          <a:solidFill>
            <a:srgbClr val="FFFFFF"/>
          </a:solidFill>
          <a:ln w="9525">
            <a:solidFill>
              <a:srgbClr val="D5DBE5"/>
            </a:solidFill>
          </a:ln>
        </p:spPr>
        <p:txBody>
          <a:bodyPr wrap="square" lIns="1270" tIns="1524" rIns="1524" bIns="1270" rtlCol="0" anchor="ctr"/>
          <a:lstStyle/>
          <a:p>
            <a:pPr algn="l" indent="0" marL="0">
              <a:buNone/>
            </a:pPr>
            <a:r>
              <a:rPr lang="en-US" sz="1100" dirty="0">
                <a:solidFill>
                  <a:srgbClr val="13203A"/>
                </a:solidFill>
                <a:latin typeface="Courier New" pitchFamily="34" charset="0"/>
                <a:ea typeface="Courier New" pitchFamily="34" charset="-122"/>
                <a:cs typeface="Courier New" pitchFamily="34" charset="-120"/>
              </a:rPr>
              <a:t>score = Σ 1/(60 + rank)</a:t>
            </a:r>
            <a:endParaRPr lang="en-US" sz="1100" dirty="0"/>
          </a:p>
        </p:txBody>
      </p:sp>
      <p:graphicFrame>
        <p:nvGraphicFramePr>
          <p:cNvPr id="9" name="table-253"/>
          <p:cNvGraphicFramePr>
            <a:graphicFrameLocks noGrp="1"/>
          </p:cNvGraphicFramePr>
          <p:nvPr>
            <p:extLst>
              <p:ext uri="{D42A27DB-BD31-4B8C-83A1-F6EECF244321}">
                <p14:modId xmlns:p14="http://schemas.microsoft.com/office/powerpoint/2010/main" val="1579011935"/>
              </p:ext>
            </p:extLst>
          </p:nvPr>
        </p:nvGraphicFramePr>
        <p:xfrm>
          <a:off x="8759952" y="2944368"/>
          <a:ext cx="2718511" cy="914400"/>
        </p:xfrm>
        <a:graphic>
          <a:graphicData uri="http://schemas.openxmlformats.org/drawingml/2006/table">
            <a:tbl>
              <a:tblPr/>
              <a:tblGrid>
                <a:gridCol w="640080"/>
                <a:gridCol w="621792"/>
                <a:gridCol w="621792"/>
                <a:gridCol w="834847"/>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Chunk</a:t>
                      </a:r>
                      <a:endParaRPr lang="en-US" sz="11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Dense</a:t>
                      </a:r>
                      <a:endParaRPr lang="en-US" sz="11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BM25</a:t>
                      </a:r>
                      <a:endParaRPr lang="en-US" sz="11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329184">
                <a:tc>
                  <a:txBody>
                    <a:bodyPr/>
                    <a:lstStyle/>
                    <a:p>
                      <a:pPr indent="0" marL="0">
                        <a:buNone/>
                      </a:pPr>
                      <a:r>
                        <a:rPr lang="en-US" sz="1200" b="1" dirty="0">
                          <a:solidFill>
                            <a:srgbClr val="13203A"/>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0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0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03A"/>
                          </a:solidFill>
                          <a:latin typeface="Calibri" pitchFamily="34" charset="0"/>
                          <a:ea typeface="Calibri" pitchFamily="34" charset="-122"/>
                          <a:cs typeface="Calibri" pitchFamily="34" charset="-120"/>
                        </a:rPr>
                        <a:t>0.0323</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3203A"/>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0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03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03A"/>
                          </a:solidFill>
                          <a:latin typeface="Calibri" pitchFamily="34" charset="0"/>
                          <a:ea typeface="Calibri" pitchFamily="34" charset="-122"/>
                          <a:cs typeface="Calibri" pitchFamily="34" charset="-120"/>
                        </a:rPr>
                        <a:t>0.0161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3203A"/>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03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0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03A"/>
                          </a:solidFill>
                          <a:latin typeface="Calibri" pitchFamily="34" charset="0"/>
                          <a:ea typeface="Calibri" pitchFamily="34" charset="-122"/>
                          <a:cs typeface="Calibri" pitchFamily="34" charset="-120"/>
                        </a:rPr>
                        <a:t>0.0164</a:t>
                      </a:r>
                      <a:endParaRPr lang="en-US" sz="12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bl>
          </a:graphicData>
        </a:graphic>
      </p:graphicFrame>
      <p:sp>
        <p:nvSpPr>
          <p:cNvPr id="45" name="text-254"/>
          <p:cNvSpPr txBox="1"/>
          <p:nvPr/>
        </p:nvSpPr>
        <p:spPr>
          <a:xfrm>
            <a:off x="8759952" y="4434840"/>
            <a:ext cx="2718511" cy="1691640"/>
          </a:xfrm>
          <a:prstGeom prst="rect">
            <a:avLst/>
          </a:prstGeom>
          <a:noFill/>
          <a:ln/>
        </p:spPr>
        <p:txBody>
          <a:bodyPr wrap="square" lIns="0" tIns="0" rIns="0" bIns="0" rtlCol="0" anchor="t"/>
          <a:lstStyle/>
          <a:p>
            <a:pPr indent="0" marL="0">
              <a:buNone/>
            </a:pPr>
            <a:r>
              <a:rPr lang="en-US" sz="1250" b="1" dirty="0">
                <a:solidFill>
                  <a:srgbClr val="2B3A55"/>
                </a:solidFill>
              </a:rPr>
              <a:t>Result: A, then C, then B.</a:t>
            </a:r>
            <a:endParaRPr lang="en-US" sz="1250" dirty="0"/>
          </a:p>
          <a:p>
            <a:pPr indent="0" marL="0">
              <a:buNone/>
            </a:pPr>
            <a:r>
              <a:rPr lang="en-US" sz="1250" dirty="0">
                <a:solidFill>
                  <a:srgbClr val="2B3A55"/>
                </a:solidFill>
              </a:rPr>
              <a:t>A chunk both retrievers rank well wins. Only ranks are used, so there are no weights to tune and the two score scales never need to match.</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4 OF 11  ·  LLM GATEWAY</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The LLM gateway: one chat() for every model</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Free providers in a fallback chain, wrapped in retries and a disk cache. The pipeline never imports an SDK.</a:t>
            </a:r>
            <a:endParaRPr lang="en-US" sz="1600" dirty="0"/>
          </a:p>
        </p:txBody>
      </p:sp>
      <p:sp>
        <p:nvSpPr>
          <p:cNvPr id="6" name="chip-255"/>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256"/>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257"/>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io-258"/>
          <p:cNvSpPr txBox="1"/>
          <p:nvPr/>
        </p:nvSpPr>
        <p:spPr>
          <a:xfrm>
            <a:off x="548640" y="1965960"/>
            <a:ext cx="6903720" cy="502920"/>
          </a:xfrm>
          <a:prstGeom prst="roundRect">
            <a:avLst>
              <a:gd name="adj" fmla="val 12727"/>
            </a:avLst>
          </a:prstGeom>
          <a:solidFill>
            <a:srgbClr val="13203A"/>
          </a:solidFill>
          <a:ln/>
        </p:spPr>
        <p:txBody>
          <a:bodyPr wrap="square" lIns="381" tIns="889" rIns="889" bIns="381" rtlCol="0" anchor="ctr"/>
          <a:lstStyle/>
          <a:p>
            <a:pPr algn="ctr" indent="0" marL="0">
              <a:buNone/>
            </a:pPr>
            <a:r>
              <a:rPr lang="en-US" sz="1250" b="1" dirty="0">
                <a:solidFill>
                  <a:srgbClr val="FFFFFF"/>
                </a:solidFill>
              </a:rPr>
              <a:t>Caller: RagPipeline.ask() or classify()</a:t>
            </a:r>
            <a:endParaRPr lang="en-US" sz="1250" dirty="0"/>
          </a:p>
          <a:p>
            <a:pPr algn="ctr" indent="0" marL="0">
              <a:buNone/>
            </a:pPr>
            <a:r>
              <a:rPr lang="en-US" sz="1100" dirty="0">
                <a:solidFill>
                  <a:srgbClr val="FFFFFF"/>
                </a:solidFill>
              </a:rPr>
              <a:t>llm.chat(messages, tools, temperature)</a:t>
            </a:r>
            <a:endParaRPr lang="en-US" sz="1250" dirty="0"/>
          </a:p>
        </p:txBody>
      </p:sp>
      <p:sp>
        <p:nvSpPr>
          <p:cNvPr id="10" name="arrow-259"/>
          <p:cNvSpPr/>
          <p:nvPr/>
        </p:nvSpPr>
        <p:spPr>
          <a:xfrm>
            <a:off x="2377440" y="2468880"/>
            <a:ext cx="0" cy="320040"/>
          </a:xfrm>
          <a:prstGeom prst="line">
            <a:avLst/>
          </a:prstGeom>
          <a:noFill/>
          <a:ln w="19050">
            <a:solidFill>
              <a:srgbClr val="5B6B82"/>
            </a:solidFill>
            <a:prstDash val="solid"/>
            <a:tailEnd type="triangle"/>
          </a:ln>
        </p:spPr>
      </p:sp>
      <p:sp>
        <p:nvSpPr>
          <p:cNvPr id="11" name="arrow-260"/>
          <p:cNvSpPr/>
          <p:nvPr/>
        </p:nvSpPr>
        <p:spPr>
          <a:xfrm flipV="1">
            <a:off x="5120640" y="2468880"/>
            <a:ext cx="0" cy="320040"/>
          </a:xfrm>
          <a:prstGeom prst="line">
            <a:avLst/>
          </a:prstGeom>
          <a:noFill/>
          <a:ln w="19050">
            <a:solidFill>
              <a:srgbClr val="5B6B82"/>
            </a:solidFill>
            <a:prstDash val="solid"/>
            <a:tailEnd type="triangle"/>
          </a:ln>
        </p:spPr>
      </p:sp>
      <p:sp>
        <p:nvSpPr>
          <p:cNvPr id="12" name="text-261"/>
          <p:cNvSpPr txBox="1"/>
          <p:nvPr/>
        </p:nvSpPr>
        <p:spPr>
          <a:xfrm>
            <a:off x="2468880" y="2514600"/>
            <a:ext cx="1097280" cy="219456"/>
          </a:xfrm>
          <a:prstGeom prst="rect">
            <a:avLst/>
          </a:prstGeom>
          <a:noFill/>
          <a:ln/>
        </p:spPr>
        <p:txBody>
          <a:bodyPr wrap="square" lIns="0" tIns="0" rIns="0" bIns="0" rtlCol="0" anchor="ctr"/>
          <a:lstStyle/>
          <a:p>
            <a:pPr algn="l" indent="0" marL="0">
              <a:buNone/>
            </a:pPr>
            <a:r>
              <a:rPr lang="en-US" sz="1050" i="1" dirty="0">
                <a:solidFill>
                  <a:srgbClr val="5B6B82"/>
                </a:solidFill>
              </a:rPr>
              <a:t>request</a:t>
            </a:r>
            <a:endParaRPr lang="en-US" sz="1050" dirty="0"/>
          </a:p>
        </p:txBody>
      </p:sp>
      <p:sp>
        <p:nvSpPr>
          <p:cNvPr id="13" name="text-262"/>
          <p:cNvSpPr txBox="1"/>
          <p:nvPr/>
        </p:nvSpPr>
        <p:spPr>
          <a:xfrm>
            <a:off x="5212080" y="2514600"/>
            <a:ext cx="2377440" cy="219456"/>
          </a:xfrm>
          <a:prstGeom prst="rect">
            <a:avLst/>
          </a:prstGeom>
          <a:noFill/>
          <a:ln/>
        </p:spPr>
        <p:txBody>
          <a:bodyPr wrap="square" lIns="0" tIns="0" rIns="0" bIns="0" rtlCol="0" anchor="ctr"/>
          <a:lstStyle/>
          <a:p>
            <a:pPr algn="l" indent="0" marL="0">
              <a:buNone/>
            </a:pPr>
            <a:r>
              <a:rPr lang="en-US" sz="1050" i="1" dirty="0">
                <a:solidFill>
                  <a:srgbClr val="5B6B82"/>
                </a:solidFill>
              </a:rPr>
              <a:t>LLMResponse: text, tool calls, tokens</a:t>
            </a:r>
            <a:endParaRPr lang="en-US" sz="1050" dirty="0"/>
          </a:p>
        </p:txBody>
      </p:sp>
      <p:sp>
        <p:nvSpPr>
          <p:cNvPr id="14" name="box-263"/>
          <p:cNvSpPr/>
          <p:nvPr/>
        </p:nvSpPr>
        <p:spPr>
          <a:xfrm>
            <a:off x="548640" y="2788920"/>
            <a:ext cx="6903720" cy="3383280"/>
          </a:xfrm>
          <a:prstGeom prst="roundRect">
            <a:avLst>
              <a:gd name="adj" fmla="val 2162"/>
            </a:avLst>
          </a:prstGeom>
          <a:solidFill>
            <a:srgbClr val="FFFFFF"/>
          </a:solidFill>
          <a:ln w="12700">
            <a:solidFill>
              <a:srgbClr val="5B6B82"/>
            </a:solidFill>
            <a:prstDash val="solid"/>
          </a:ln>
        </p:spPr>
      </p:sp>
      <p:sp>
        <p:nvSpPr>
          <p:cNvPr id="15" name="text-264"/>
          <p:cNvSpPr txBox="1"/>
          <p:nvPr/>
        </p:nvSpPr>
        <p:spPr>
          <a:xfrm>
            <a:off x="731520" y="2862072"/>
            <a:ext cx="6537960" cy="457200"/>
          </a:xfrm>
          <a:prstGeom prst="rect">
            <a:avLst/>
          </a:prstGeom>
          <a:noFill/>
          <a:ln/>
        </p:spPr>
        <p:txBody>
          <a:bodyPr wrap="square" lIns="0" tIns="0" rIns="0" bIns="0" rtlCol="0" anchor="t"/>
          <a:lstStyle/>
          <a:p>
            <a:pPr indent="0" marL="0">
              <a:buNone/>
            </a:pPr>
            <a:r>
              <a:rPr lang="en-US" sz="1200" b="1" dirty="0">
                <a:solidFill>
                  <a:srgbClr val="2B3A55"/>
                </a:solidFill>
                <a:latin typeface="Courier New" pitchFamily="34" charset="0"/>
                <a:ea typeface="Courier New" pitchFamily="34" charset="-122"/>
                <a:cs typeface="Courier New" pitchFamily="34" charset="-120"/>
              </a:rPr>
              <a:t>CachedLLM  </a:t>
            </a:r>
            <a:pPr indent="0" marL="0">
              <a:buNone/>
            </a:pPr>
            <a:r>
              <a:rPr lang="en-US" sz="1200" dirty="0">
                <a:solidFill>
                  <a:srgbClr val="2B3A55"/>
                </a:solidFill>
              </a:rPr>
              <a:t>disk cache in .cache/llm; key = hash of messages, tools, temperature, model names and max_tokens</a:t>
            </a:r>
            <a:endParaRPr lang="en-US" sz="1200" dirty="0"/>
          </a:p>
        </p:txBody>
      </p:sp>
      <p:sp>
        <p:nvSpPr>
          <p:cNvPr id="16" name="box-265"/>
          <p:cNvSpPr/>
          <p:nvPr/>
        </p:nvSpPr>
        <p:spPr>
          <a:xfrm>
            <a:off x="731520" y="3383280"/>
            <a:ext cx="6537960" cy="2633472"/>
          </a:xfrm>
          <a:prstGeom prst="roundRect">
            <a:avLst>
              <a:gd name="adj" fmla="val 2778"/>
            </a:avLst>
          </a:prstGeom>
          <a:solidFill>
            <a:srgbClr val="EEF1F6"/>
          </a:solidFill>
          <a:ln/>
        </p:spPr>
      </p:sp>
      <p:sp>
        <p:nvSpPr>
          <p:cNvPr id="17" name="text-266"/>
          <p:cNvSpPr txBox="1"/>
          <p:nvPr/>
        </p:nvSpPr>
        <p:spPr>
          <a:xfrm>
            <a:off x="914400" y="3456432"/>
            <a:ext cx="6172200" cy="274320"/>
          </a:xfrm>
          <a:prstGeom prst="rect">
            <a:avLst/>
          </a:prstGeom>
          <a:noFill/>
          <a:ln/>
        </p:spPr>
        <p:txBody>
          <a:bodyPr wrap="square" lIns="0" tIns="0" rIns="0" bIns="0" rtlCol="0" anchor="t"/>
          <a:lstStyle/>
          <a:p>
            <a:pPr indent="0" marL="0">
              <a:buNone/>
            </a:pPr>
            <a:r>
              <a:rPr lang="en-US" sz="1200" b="1" dirty="0">
                <a:solidFill>
                  <a:srgbClr val="2B3A55"/>
                </a:solidFill>
                <a:latin typeface="Courier New" pitchFamily="34" charset="0"/>
                <a:ea typeface="Courier New" pitchFamily="34" charset="-122"/>
                <a:cs typeface="Courier New" pitchFamily="34" charset="-120"/>
              </a:rPr>
              <a:t>FallbackLLM  </a:t>
            </a:r>
            <a:pPr indent="0" marL="0">
              <a:buNone/>
            </a:pPr>
            <a:r>
              <a:rPr lang="en-US" sz="1200" dirty="0">
                <a:solidFill>
                  <a:srgbClr val="2B3A55"/>
                </a:solidFill>
              </a:rPr>
              <a:t>tries providers in LLM_PROVIDER_ORDER; the first answer wins</a:t>
            </a:r>
            <a:endParaRPr lang="en-US" sz="1200" dirty="0"/>
          </a:p>
        </p:txBody>
      </p:sp>
      <p:sp>
        <p:nvSpPr>
          <p:cNvPr id="18" name="node-step-267"/>
          <p:cNvSpPr txBox="1"/>
          <p:nvPr/>
        </p:nvSpPr>
        <p:spPr>
          <a:xfrm>
            <a:off x="914400" y="3931920"/>
            <a:ext cx="1337310" cy="1874520"/>
          </a:xfrm>
          <a:prstGeom prst="roundRect">
            <a:avLst>
              <a:gd name="adj" fmla="val 4786"/>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400" b="1" dirty="0">
                <a:solidFill>
                  <a:srgbClr val="2B3A55"/>
                </a:solidFill>
              </a:rPr>
              <a:t>Gemini</a:t>
            </a:r>
            <a:endParaRPr lang="en-US" sz="1400" dirty="0"/>
          </a:p>
          <a:p>
            <a:pPr algn="ctr" indent="0" marL="0">
              <a:buNone/>
            </a:pPr>
            <a:r>
              <a:rPr lang="en-US" sz="1150" dirty="0">
                <a:solidFill>
                  <a:srgbClr val="2B3A55"/>
                </a:solidFill>
              </a:rPr>
              <a:t>OpenAI SDK</a:t>
            </a:r>
            <a:endParaRPr lang="en-US" sz="1400" dirty="0"/>
          </a:p>
          <a:p>
            <a:pPr algn="ctr" indent="0" marL="0">
              <a:buNone/>
            </a:pPr>
            <a:r>
              <a:rPr lang="en-US" sz="1150" dirty="0">
                <a:solidFill>
                  <a:srgbClr val="2B3A55"/>
                </a:solidFill>
              </a:rPr>
              <a:t>free tier</a:t>
            </a:r>
            <a:endParaRPr lang="en-US" sz="1400" dirty="0"/>
          </a:p>
          <a:p>
            <a:pPr algn="ctr" indent="0" marL="0">
              <a:buNone/>
            </a:pPr>
            <a:r>
              <a:rPr lang="en-US" sz="1150" dirty="0">
                <a:solidFill>
                  <a:srgbClr val="2B3A55"/>
                </a:solidFill>
              </a:rPr>
              <a:t>retry, 4 s spacing</a:t>
            </a:r>
            <a:endParaRPr lang="en-US" sz="1400" dirty="0"/>
          </a:p>
        </p:txBody>
      </p:sp>
      <p:sp>
        <p:nvSpPr>
          <p:cNvPr id="19" name="arrow-268"/>
          <p:cNvSpPr/>
          <p:nvPr/>
        </p:nvSpPr>
        <p:spPr>
          <a:xfrm>
            <a:off x="2251710" y="4869180"/>
            <a:ext cx="274320" cy="0"/>
          </a:xfrm>
          <a:prstGeom prst="line">
            <a:avLst/>
          </a:prstGeom>
          <a:noFill/>
          <a:ln w="25400">
            <a:solidFill>
              <a:srgbClr val="E3A21A"/>
            </a:solidFill>
            <a:prstDash val="solid"/>
            <a:tailEnd type="triangle"/>
          </a:ln>
        </p:spPr>
      </p:sp>
      <p:sp>
        <p:nvSpPr>
          <p:cNvPr id="20" name="node-step-269"/>
          <p:cNvSpPr txBox="1"/>
          <p:nvPr/>
        </p:nvSpPr>
        <p:spPr>
          <a:xfrm>
            <a:off x="2526030" y="3931920"/>
            <a:ext cx="1337310" cy="1874520"/>
          </a:xfrm>
          <a:prstGeom prst="roundRect">
            <a:avLst>
              <a:gd name="adj" fmla="val 4786"/>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400" b="1" dirty="0">
                <a:solidFill>
                  <a:srgbClr val="2B3A55"/>
                </a:solidFill>
              </a:rPr>
              <a:t>Groq</a:t>
            </a:r>
            <a:endParaRPr lang="en-US" sz="1400" dirty="0"/>
          </a:p>
          <a:p>
            <a:pPr algn="ctr" indent="0" marL="0">
              <a:buNone/>
            </a:pPr>
            <a:r>
              <a:rPr lang="en-US" sz="1150" dirty="0">
                <a:solidFill>
                  <a:srgbClr val="2B3A55"/>
                </a:solidFill>
              </a:rPr>
              <a:t>OpenAI SDK</a:t>
            </a:r>
            <a:endParaRPr lang="en-US" sz="1400" dirty="0"/>
          </a:p>
          <a:p>
            <a:pPr algn="ctr" indent="0" marL="0">
              <a:buNone/>
            </a:pPr>
            <a:r>
              <a:rPr lang="en-US" sz="1150" dirty="0">
                <a:solidFill>
                  <a:srgbClr val="2B3A55"/>
                </a:solidFill>
              </a:rPr>
              <a:t>gpt-oss-20b</a:t>
            </a:r>
            <a:endParaRPr lang="en-US" sz="1400" dirty="0"/>
          </a:p>
          <a:p>
            <a:pPr algn="ctr" indent="0" marL="0">
              <a:buNone/>
            </a:pPr>
            <a:r>
              <a:rPr lang="en-US" sz="1150" dirty="0">
                <a:solidFill>
                  <a:srgbClr val="2B3A55"/>
                </a:solidFill>
              </a:rPr>
              <a:t>retry, 2 s spacing</a:t>
            </a:r>
            <a:endParaRPr lang="en-US" sz="1400" dirty="0"/>
          </a:p>
        </p:txBody>
      </p:sp>
      <p:sp>
        <p:nvSpPr>
          <p:cNvPr id="21" name="arrow-270"/>
          <p:cNvSpPr/>
          <p:nvPr/>
        </p:nvSpPr>
        <p:spPr>
          <a:xfrm>
            <a:off x="3863340" y="4869180"/>
            <a:ext cx="274320" cy="0"/>
          </a:xfrm>
          <a:prstGeom prst="line">
            <a:avLst/>
          </a:prstGeom>
          <a:noFill/>
          <a:ln w="25400">
            <a:solidFill>
              <a:srgbClr val="E3A21A"/>
            </a:solidFill>
            <a:prstDash val="solid"/>
            <a:tailEnd type="triangle"/>
          </a:ln>
        </p:spPr>
      </p:sp>
      <p:sp>
        <p:nvSpPr>
          <p:cNvPr id="22" name="node-step-271"/>
          <p:cNvSpPr txBox="1"/>
          <p:nvPr/>
        </p:nvSpPr>
        <p:spPr>
          <a:xfrm>
            <a:off x="4137660" y="3931920"/>
            <a:ext cx="1337310" cy="1874520"/>
          </a:xfrm>
          <a:prstGeom prst="roundRect">
            <a:avLst>
              <a:gd name="adj" fmla="val 4786"/>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400" b="1" dirty="0">
                <a:solidFill>
                  <a:srgbClr val="2B3A55"/>
                </a:solidFill>
              </a:rPr>
              <a:t>Ollama</a:t>
            </a:r>
            <a:endParaRPr lang="en-US" sz="1400" dirty="0"/>
          </a:p>
          <a:p>
            <a:pPr algn="ctr" indent="0" marL="0">
              <a:buNone/>
            </a:pPr>
            <a:r>
              <a:rPr lang="en-US" sz="1150" dirty="0">
                <a:solidFill>
                  <a:srgbClr val="2B3A55"/>
                </a:solidFill>
              </a:rPr>
              <a:t>OpenAI SDK</a:t>
            </a:r>
            <a:endParaRPr lang="en-US" sz="1400" dirty="0"/>
          </a:p>
          <a:p>
            <a:pPr algn="ctr" indent="0" marL="0">
              <a:buNone/>
            </a:pPr>
            <a:r>
              <a:rPr lang="en-US" sz="1150" dirty="0">
                <a:solidFill>
                  <a:srgbClr val="2B3A55"/>
                </a:solidFill>
              </a:rPr>
              <a:t>local qwen3:4b</a:t>
            </a:r>
            <a:endParaRPr lang="en-US" sz="1400" dirty="0"/>
          </a:p>
          <a:p>
            <a:pPr algn="ctr" indent="0" marL="0">
              <a:buNone/>
            </a:pPr>
            <a:r>
              <a:rPr lang="en-US" sz="1150" dirty="0">
                <a:solidFill>
                  <a:srgbClr val="2B3A55"/>
                </a:solidFill>
              </a:rPr>
              <a:t>no retry</a:t>
            </a:r>
            <a:endParaRPr lang="en-US" sz="1400" dirty="0"/>
          </a:p>
        </p:txBody>
      </p:sp>
      <p:sp>
        <p:nvSpPr>
          <p:cNvPr id="23" name="node-step-272"/>
          <p:cNvSpPr txBox="1"/>
          <p:nvPr/>
        </p:nvSpPr>
        <p:spPr>
          <a:xfrm>
            <a:off x="5749290" y="3931920"/>
            <a:ext cx="1337310" cy="1874520"/>
          </a:xfrm>
          <a:prstGeom prst="roundRect">
            <a:avLst>
              <a:gd name="adj" fmla="val 4786"/>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400" b="1" dirty="0">
                <a:solidFill>
                  <a:srgbClr val="2B3A55"/>
                </a:solidFill>
              </a:rPr>
              <a:t>Anthropic</a:t>
            </a:r>
            <a:endParaRPr lang="en-US" sz="1400" dirty="0"/>
          </a:p>
          <a:p>
            <a:pPr algn="ctr" indent="0" marL="0">
              <a:buNone/>
            </a:pPr>
            <a:r>
              <a:rPr lang="en-US" sz="1150" dirty="0">
                <a:solidFill>
                  <a:srgbClr val="2B3A55"/>
                </a:solidFill>
              </a:rPr>
              <a:t>Anthropic SDK</a:t>
            </a:r>
            <a:endParaRPr lang="en-US" sz="1400" dirty="0"/>
          </a:p>
          <a:p>
            <a:pPr algn="ctr" indent="0" marL="0">
              <a:buNone/>
            </a:pPr>
            <a:r>
              <a:rPr lang="en-US" sz="1150" dirty="0">
                <a:solidFill>
                  <a:srgbClr val="2B3A55"/>
                </a:solidFill>
              </a:rPr>
              <a:t>only with credits</a:t>
            </a:r>
            <a:endParaRPr lang="en-US" sz="1400" dirty="0"/>
          </a:p>
          <a:p>
            <a:pPr algn="ctr" indent="0" marL="0">
              <a:buNone/>
            </a:pPr>
            <a:r>
              <a:rPr lang="en-US" sz="1150" dirty="0">
                <a:solidFill>
                  <a:srgbClr val="2B3A55"/>
                </a:solidFill>
              </a:rPr>
              <a:t>retry</a:t>
            </a:r>
            <a:endParaRPr lang="en-US" sz="1400" dirty="0"/>
          </a:p>
        </p:txBody>
      </p:sp>
      <p:sp>
        <p:nvSpPr>
          <p:cNvPr id="24" name="box-273"/>
          <p:cNvSpPr/>
          <p:nvPr/>
        </p:nvSpPr>
        <p:spPr>
          <a:xfrm>
            <a:off x="7726680" y="1965960"/>
            <a:ext cx="3916375" cy="4251960"/>
          </a:xfrm>
          <a:prstGeom prst="roundRect">
            <a:avLst>
              <a:gd name="adj" fmla="val 1868"/>
            </a:avLst>
          </a:prstGeom>
          <a:solidFill>
            <a:srgbClr val="EEF1F6"/>
          </a:solidFill>
          <a:ln/>
        </p:spPr>
      </p:sp>
      <p:sp>
        <p:nvSpPr>
          <p:cNvPr id="25" name="text-274"/>
          <p:cNvSpPr txBox="1"/>
          <p:nvPr/>
        </p:nvSpPr>
        <p:spPr>
          <a:xfrm>
            <a:off x="7909560" y="2057400"/>
            <a:ext cx="3550615" cy="274320"/>
          </a:xfrm>
          <a:prstGeom prst="rect">
            <a:avLst/>
          </a:prstGeom>
          <a:noFill/>
          <a:ln/>
        </p:spPr>
        <p:txBody>
          <a:bodyPr wrap="square" lIns="0" tIns="0" rIns="0" bIns="0" rtlCol="0" anchor="t"/>
          <a:lstStyle/>
          <a:p>
            <a:pPr indent="0" marL="0">
              <a:buNone/>
            </a:pPr>
            <a:r>
              <a:rPr lang="en-US" sz="1400" b="1" dirty="0">
                <a:solidFill>
                  <a:srgbClr val="13203A"/>
                </a:solidFill>
              </a:rPr>
              <a:t>Why this layer exists</a:t>
            </a:r>
            <a:endParaRPr lang="en-US" sz="1400" dirty="0"/>
          </a:p>
        </p:txBody>
      </p:sp>
      <p:sp>
        <p:nvSpPr>
          <p:cNvPr id="26" name="text-275"/>
          <p:cNvSpPr txBox="1"/>
          <p:nvPr/>
        </p:nvSpPr>
        <p:spPr>
          <a:xfrm>
            <a:off x="7909560" y="2423160"/>
            <a:ext cx="3596335" cy="3749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3A55"/>
                </a:solidFill>
              </a:rPr>
              <a:t>Free tiers have rate limits: retries ride out 429 and 5xx with backoff (2, 4, 8 s).</a:t>
            </a:r>
            <a:endParaRPr lang="en-US" sz="1250" dirty="0"/>
          </a:p>
          <a:p>
            <a:pPr marL="342900" indent="-342900">
              <a:spcAft>
                <a:spcPts val="500"/>
              </a:spcAft>
              <a:buSzPct val="100000"/>
              <a:buChar char="•"/>
            </a:pPr>
            <a:r>
              <a:rPr lang="en-US" sz="1250" dirty="0">
                <a:solidFill>
                  <a:srgbClr val="2B3A55"/>
                </a:solidFill>
              </a:rPr>
              <a:t>One OpenAI-protocol adapter covers Gemini, Groq and Ollama via base_url.</a:t>
            </a:r>
            <a:endParaRPr lang="en-US" sz="1250" dirty="0"/>
          </a:p>
          <a:p>
            <a:pPr marL="342900" indent="-342900">
              <a:spcAft>
                <a:spcPts val="500"/>
              </a:spcAft>
              <a:buSzPct val="100000"/>
              <a:buChar char="•"/>
            </a:pPr>
            <a:r>
              <a:rPr lang="en-US" sz="1250" dirty="0">
                <a:solidFill>
                  <a:srgbClr val="2B3A55"/>
                </a:solidFill>
              </a:rPr>
              <a:t>The Anthropic adapter moves the system prompt out and merges tool results into one user message.</a:t>
            </a:r>
            <a:endParaRPr lang="en-US" sz="1250" dirty="0"/>
          </a:p>
          <a:p>
            <a:pPr marL="342900" indent="-342900">
              <a:spcAft>
                <a:spcPts val="500"/>
              </a:spcAft>
              <a:buSzPct val="100000"/>
              <a:buChar char="•"/>
            </a:pPr>
            <a:r>
              <a:rPr lang="en-US" sz="1250" dirty="0">
                <a:solidFill>
                  <a:srgbClr val="2B3A55"/>
                </a:solidFill>
              </a:rPr>
              <a:t>Serving fails over fast (2 tries) so a request fits Cloud Run's 60 s.</a:t>
            </a:r>
            <a:endParaRPr lang="en-US" sz="1250" dirty="0"/>
          </a:p>
          <a:p>
            <a:pPr marL="342900" indent="-342900">
              <a:spcAft>
                <a:spcPts val="500"/>
              </a:spcAft>
              <a:buSzPct val="100000"/>
              <a:buChar char="•"/>
            </a:pPr>
            <a:r>
              <a:rPr lang="en-US" sz="1250" dirty="0">
                <a:solidFill>
                  <a:srgbClr val="2B3A55"/>
                </a:solidFill>
              </a:rPr>
              <a:t>The cache makes evaluation reruns free and repeatable.</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5 OF 11  ·  CITED ANSWERS</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Cited answers: generate, then verify</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The model may only cite what was retrieved. Anything else is removed before the user sees it.</a:t>
            </a:r>
            <a:endParaRPr lang="en-US" sz="1600" dirty="0"/>
          </a:p>
        </p:txBody>
      </p:sp>
      <p:sp>
        <p:nvSpPr>
          <p:cNvPr id="6" name="chip-276"/>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277"/>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278"/>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io-279"/>
          <p:cNvSpPr txBox="1"/>
          <p:nvPr/>
        </p:nvSpPr>
        <p:spPr>
          <a:xfrm>
            <a:off x="548640" y="2057400"/>
            <a:ext cx="1920240" cy="713232"/>
          </a:xfrm>
          <a:prstGeom prst="roundRect">
            <a:avLst>
              <a:gd name="adj" fmla="val 8974"/>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Question + lang</a:t>
            </a:r>
            <a:endParaRPr lang="en-US" sz="1300" dirty="0"/>
          </a:p>
        </p:txBody>
      </p:sp>
      <p:sp>
        <p:nvSpPr>
          <p:cNvPr id="10" name="arrow-280"/>
          <p:cNvSpPr/>
          <p:nvPr/>
        </p:nvSpPr>
        <p:spPr>
          <a:xfrm>
            <a:off x="2468880" y="2414016"/>
            <a:ext cx="365760" cy="0"/>
          </a:xfrm>
          <a:prstGeom prst="line">
            <a:avLst/>
          </a:prstGeom>
          <a:noFill/>
          <a:ln w="19050">
            <a:solidFill>
              <a:srgbClr val="5B6B82"/>
            </a:solidFill>
            <a:prstDash val="solid"/>
            <a:tailEnd type="triangle"/>
          </a:ln>
        </p:spPr>
      </p:sp>
      <p:sp>
        <p:nvSpPr>
          <p:cNvPr id="11" name="node-step-281"/>
          <p:cNvSpPr txBox="1"/>
          <p:nvPr/>
        </p:nvSpPr>
        <p:spPr>
          <a:xfrm>
            <a:off x="2834640" y="2057400"/>
            <a:ext cx="1920240" cy="713232"/>
          </a:xfrm>
          <a:prstGeom prst="roundRect">
            <a:avLst>
              <a:gd name="adj" fmla="val 8974"/>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Guardrails</a:t>
            </a:r>
            <a:endParaRPr lang="en-US" sz="1300" dirty="0"/>
          </a:p>
          <a:p>
            <a:pPr algn="ctr" indent="0" marL="0">
              <a:buNone/>
            </a:pPr>
            <a:r>
              <a:rPr lang="en-US" sz="1100" dirty="0">
                <a:solidFill>
                  <a:srgbClr val="2B3A55"/>
                </a:solidFill>
              </a:rPr>
              <a:t>redact PII · flag injection</a:t>
            </a:r>
            <a:endParaRPr lang="en-US" sz="1300" dirty="0"/>
          </a:p>
        </p:txBody>
      </p:sp>
      <p:sp>
        <p:nvSpPr>
          <p:cNvPr id="12" name="arrow-282"/>
          <p:cNvSpPr/>
          <p:nvPr/>
        </p:nvSpPr>
        <p:spPr>
          <a:xfrm>
            <a:off x="4754880" y="2414016"/>
            <a:ext cx="365760" cy="0"/>
          </a:xfrm>
          <a:prstGeom prst="line">
            <a:avLst/>
          </a:prstGeom>
          <a:noFill/>
          <a:ln w="19050">
            <a:solidFill>
              <a:srgbClr val="5B6B82"/>
            </a:solidFill>
            <a:prstDash val="solid"/>
            <a:tailEnd type="triangle"/>
          </a:ln>
        </p:spPr>
      </p:sp>
      <p:sp>
        <p:nvSpPr>
          <p:cNvPr id="13" name="node-step-283"/>
          <p:cNvSpPr txBox="1"/>
          <p:nvPr/>
        </p:nvSpPr>
        <p:spPr>
          <a:xfrm>
            <a:off x="5120640" y="2057400"/>
            <a:ext cx="1920240" cy="713232"/>
          </a:xfrm>
          <a:prstGeom prst="roundRect">
            <a:avLst>
              <a:gd name="adj" fmla="val 8974"/>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Retrieve top 5</a:t>
            </a:r>
            <a:endParaRPr lang="en-US" sz="1300" dirty="0"/>
          </a:p>
          <a:p>
            <a:pPr algn="ctr" indent="0" marL="0">
              <a:buNone/>
            </a:pPr>
            <a:r>
              <a:rPr lang="en-US" sz="1100" dirty="0">
                <a:solidFill>
                  <a:srgbClr val="2B3A55"/>
                </a:solidFill>
              </a:rPr>
              <a:t>hybrid (stage 3)</a:t>
            </a:r>
            <a:endParaRPr lang="en-US" sz="1300" dirty="0"/>
          </a:p>
        </p:txBody>
      </p:sp>
      <p:sp>
        <p:nvSpPr>
          <p:cNvPr id="14" name="arrow-284"/>
          <p:cNvSpPr/>
          <p:nvPr/>
        </p:nvSpPr>
        <p:spPr>
          <a:xfrm>
            <a:off x="7040880" y="2414016"/>
            <a:ext cx="365760" cy="0"/>
          </a:xfrm>
          <a:prstGeom prst="line">
            <a:avLst/>
          </a:prstGeom>
          <a:noFill/>
          <a:ln w="19050">
            <a:solidFill>
              <a:srgbClr val="5B6B82"/>
            </a:solidFill>
            <a:prstDash val="solid"/>
            <a:tailEnd type="triangle"/>
          </a:ln>
        </p:spPr>
      </p:sp>
      <p:sp>
        <p:nvSpPr>
          <p:cNvPr id="15" name="node-step-285"/>
          <p:cNvSpPr txBox="1"/>
          <p:nvPr/>
        </p:nvSpPr>
        <p:spPr>
          <a:xfrm>
            <a:off x="7406640" y="2057400"/>
            <a:ext cx="1920240" cy="713232"/>
          </a:xfrm>
          <a:prstGeom prst="roundRect">
            <a:avLst>
              <a:gd name="adj" fmla="val 8974"/>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Build prompt</a:t>
            </a:r>
            <a:endParaRPr lang="en-US" sz="1300" dirty="0"/>
          </a:p>
          <a:p>
            <a:pPr algn="ctr" indent="0" marL="0">
              <a:buNone/>
            </a:pPr>
            <a:r>
              <a:rPr lang="en-US" sz="1100" dirty="0">
                <a:solidFill>
                  <a:srgbClr val="2B3A55"/>
                </a:solidFill>
              </a:rPr>
              <a:t>sources tagged [ID]</a:t>
            </a:r>
            <a:endParaRPr lang="en-US" sz="1300" dirty="0"/>
          </a:p>
        </p:txBody>
      </p:sp>
      <p:sp>
        <p:nvSpPr>
          <p:cNvPr id="16" name="arrow-286"/>
          <p:cNvSpPr/>
          <p:nvPr/>
        </p:nvSpPr>
        <p:spPr>
          <a:xfrm>
            <a:off x="9326880" y="2414016"/>
            <a:ext cx="365760" cy="0"/>
          </a:xfrm>
          <a:prstGeom prst="line">
            <a:avLst/>
          </a:prstGeom>
          <a:noFill/>
          <a:ln w="19050">
            <a:solidFill>
              <a:srgbClr val="5B6B82"/>
            </a:solidFill>
            <a:prstDash val="solid"/>
            <a:tailEnd type="triangle"/>
          </a:ln>
        </p:spPr>
      </p:sp>
      <p:sp>
        <p:nvSpPr>
          <p:cNvPr id="17" name="node-step-287"/>
          <p:cNvSpPr txBox="1"/>
          <p:nvPr/>
        </p:nvSpPr>
        <p:spPr>
          <a:xfrm>
            <a:off x="9692640" y="2057400"/>
            <a:ext cx="1920240" cy="713232"/>
          </a:xfrm>
          <a:prstGeom prst="roundRect">
            <a:avLst>
              <a:gd name="adj" fmla="val 8974"/>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LLM</a:t>
            </a:r>
            <a:endParaRPr lang="en-US" sz="1300" dirty="0"/>
          </a:p>
          <a:p>
            <a:pPr algn="ctr" indent="0" marL="0">
              <a:buNone/>
            </a:pPr>
            <a:r>
              <a:rPr lang="en-US" sz="1100" dirty="0">
                <a:solidFill>
                  <a:srgbClr val="2B3A55"/>
                </a:solidFill>
              </a:rPr>
              <a:t>temperature 0 (stage 4)</a:t>
            </a:r>
            <a:endParaRPr lang="en-US" sz="1300" dirty="0"/>
          </a:p>
        </p:txBody>
      </p:sp>
      <p:sp>
        <p:nvSpPr>
          <p:cNvPr id="18" name="arrow-288"/>
          <p:cNvSpPr/>
          <p:nvPr/>
        </p:nvSpPr>
        <p:spPr>
          <a:xfrm>
            <a:off x="10652760" y="2770632"/>
            <a:ext cx="0" cy="338328"/>
          </a:xfrm>
          <a:prstGeom prst="line">
            <a:avLst/>
          </a:prstGeom>
          <a:noFill/>
          <a:ln w="19050">
            <a:solidFill>
              <a:srgbClr val="5B6B82"/>
            </a:solidFill>
            <a:prstDash val="solid"/>
            <a:tailEnd type="triangle"/>
          </a:ln>
        </p:spPr>
      </p:sp>
      <p:sp>
        <p:nvSpPr>
          <p:cNvPr id="19" name="node-decision-289"/>
          <p:cNvSpPr txBox="1"/>
          <p:nvPr/>
        </p:nvSpPr>
        <p:spPr>
          <a:xfrm>
            <a:off x="9738360" y="3108960"/>
            <a:ext cx="1828800" cy="960120"/>
          </a:xfrm>
          <a:prstGeom prst="diamond">
            <a:avLst/>
          </a:prstGeom>
          <a:solidFill>
            <a:srgbClr val="FBEFD3"/>
          </a:solidFill>
          <a:ln w="15875">
            <a:solidFill>
              <a:srgbClr val="E3A21A"/>
            </a:solidFill>
          </a:ln>
        </p:spPr>
        <p:txBody>
          <a:bodyPr wrap="square" lIns="381" tIns="889" rIns="889" bIns="381" rtlCol="0" anchor="ctr"/>
          <a:lstStyle/>
          <a:p>
            <a:pPr algn="ctr" indent="0" marL="0">
              <a:buNone/>
            </a:pPr>
            <a:r>
              <a:rPr lang="en-US" sz="1250" b="1" dirty="0">
                <a:solidFill>
                  <a:srgbClr val="13203A"/>
                </a:solidFill>
              </a:rPr>
              <a:t>Not covered?</a:t>
            </a:r>
            <a:endParaRPr lang="en-US" sz="1250" dirty="0"/>
          </a:p>
        </p:txBody>
      </p:sp>
      <p:sp>
        <p:nvSpPr>
          <p:cNvPr id="20" name="node-step-290"/>
          <p:cNvSpPr txBox="1"/>
          <p:nvPr/>
        </p:nvSpPr>
        <p:spPr>
          <a:xfrm>
            <a:off x="7178040" y="3246120"/>
            <a:ext cx="214884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Verify citations</a:t>
            </a:r>
            <a:endParaRPr lang="en-US" sz="1300" dirty="0"/>
          </a:p>
          <a:p>
            <a:pPr algn="ctr" indent="0" marL="0">
              <a:buNone/>
            </a:pPr>
            <a:r>
              <a:rPr lang="en-US" sz="1100" dirty="0">
                <a:solidFill>
                  <a:srgbClr val="2B3A55"/>
                </a:solidFill>
              </a:rPr>
              <a:t>invented = cited − retrieved</a:t>
            </a:r>
            <a:endParaRPr lang="en-US" sz="1300" dirty="0"/>
          </a:p>
        </p:txBody>
      </p:sp>
      <p:sp>
        <p:nvSpPr>
          <p:cNvPr id="21" name="node-step-291"/>
          <p:cNvSpPr txBox="1"/>
          <p:nvPr/>
        </p:nvSpPr>
        <p:spPr>
          <a:xfrm>
            <a:off x="4846320" y="3246120"/>
            <a:ext cx="201168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Human labels</a:t>
            </a:r>
            <a:endParaRPr lang="en-US" sz="1300" dirty="0"/>
          </a:p>
          <a:p>
            <a:pPr algn="ctr" indent="0" marL="0">
              <a:buNone/>
            </a:pPr>
            <a:r>
              <a:rPr lang="en-US" sz="1050" dirty="0">
                <a:solidFill>
                  <a:srgbClr val="2B3A55"/>
                </a:solidFill>
              </a:rPr>
              <a:t>AIA-Art6-2 → AI Act, Art. 6(2)</a:t>
            </a:r>
            <a:endParaRPr lang="en-US" sz="1300" dirty="0"/>
          </a:p>
        </p:txBody>
      </p:sp>
      <p:sp>
        <p:nvSpPr>
          <p:cNvPr id="22" name="node-io-292"/>
          <p:cNvSpPr txBox="1"/>
          <p:nvPr/>
        </p:nvSpPr>
        <p:spPr>
          <a:xfrm>
            <a:off x="2606040" y="3246120"/>
            <a:ext cx="1920240" cy="685800"/>
          </a:xfrm>
          <a:prstGeom prst="roundRect">
            <a:avLst>
              <a:gd name="adj" fmla="val 9333"/>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AskResult</a:t>
            </a:r>
            <a:endParaRPr lang="en-US" sz="1300" dirty="0"/>
          </a:p>
          <a:p>
            <a:pPr algn="ctr" indent="0" marL="0">
              <a:buNone/>
            </a:pPr>
            <a:r>
              <a:rPr lang="en-US" sz="1050" dirty="0">
                <a:solidFill>
                  <a:srgbClr val="FFFFFF"/>
                </a:solidFill>
              </a:rPr>
              <a:t>answer · citations · sources</a:t>
            </a:r>
            <a:endParaRPr lang="en-US" sz="1300" dirty="0"/>
          </a:p>
        </p:txBody>
      </p:sp>
      <p:sp>
        <p:nvSpPr>
          <p:cNvPr id="23" name="arrow-293"/>
          <p:cNvSpPr/>
          <p:nvPr/>
        </p:nvSpPr>
        <p:spPr>
          <a:xfrm flipH="1">
            <a:off x="9326880" y="3589020"/>
            <a:ext cx="411480" cy="0"/>
          </a:xfrm>
          <a:prstGeom prst="line">
            <a:avLst/>
          </a:prstGeom>
          <a:noFill/>
          <a:ln w="19050">
            <a:solidFill>
              <a:srgbClr val="5B6B82"/>
            </a:solidFill>
            <a:prstDash val="solid"/>
            <a:tailEnd type="triangle"/>
          </a:ln>
        </p:spPr>
      </p:sp>
      <p:sp>
        <p:nvSpPr>
          <p:cNvPr id="24" name="text-294"/>
          <p:cNvSpPr txBox="1"/>
          <p:nvPr/>
        </p:nvSpPr>
        <p:spPr>
          <a:xfrm>
            <a:off x="9345168" y="3310128"/>
            <a:ext cx="365760" cy="219456"/>
          </a:xfrm>
          <a:prstGeom prst="rect">
            <a:avLst/>
          </a:prstGeom>
          <a:noFill/>
          <a:ln/>
        </p:spPr>
        <p:txBody>
          <a:bodyPr wrap="square" lIns="0" tIns="0" rIns="0" bIns="0" rtlCol="0" anchor="ctr"/>
          <a:lstStyle/>
          <a:p>
            <a:pPr algn="l" indent="0" marL="0">
              <a:buNone/>
            </a:pPr>
            <a:r>
              <a:rPr lang="en-US" sz="1050" i="1" dirty="0">
                <a:solidFill>
                  <a:srgbClr val="5B6B82"/>
                </a:solidFill>
              </a:rPr>
              <a:t>no</a:t>
            </a:r>
            <a:endParaRPr lang="en-US" sz="1050" dirty="0"/>
          </a:p>
        </p:txBody>
      </p:sp>
      <p:sp>
        <p:nvSpPr>
          <p:cNvPr id="25" name="arrow-295"/>
          <p:cNvSpPr/>
          <p:nvPr/>
        </p:nvSpPr>
        <p:spPr>
          <a:xfrm flipH="1">
            <a:off x="6858000" y="3589020"/>
            <a:ext cx="320040" cy="0"/>
          </a:xfrm>
          <a:prstGeom prst="line">
            <a:avLst/>
          </a:prstGeom>
          <a:noFill/>
          <a:ln w="19050">
            <a:solidFill>
              <a:srgbClr val="5B6B82"/>
            </a:solidFill>
            <a:prstDash val="solid"/>
            <a:tailEnd type="triangle"/>
          </a:ln>
        </p:spPr>
      </p:sp>
      <p:sp>
        <p:nvSpPr>
          <p:cNvPr id="26" name="arrow-296"/>
          <p:cNvSpPr/>
          <p:nvPr/>
        </p:nvSpPr>
        <p:spPr>
          <a:xfrm flipH="1">
            <a:off x="4526280" y="3589020"/>
            <a:ext cx="320040" cy="0"/>
          </a:xfrm>
          <a:prstGeom prst="line">
            <a:avLst/>
          </a:prstGeom>
          <a:noFill/>
          <a:ln w="19050">
            <a:solidFill>
              <a:srgbClr val="5B6B82"/>
            </a:solidFill>
            <a:prstDash val="solid"/>
            <a:tailEnd type="triangle"/>
          </a:ln>
        </p:spPr>
      </p:sp>
      <p:sp>
        <p:nvSpPr>
          <p:cNvPr id="27" name="node-step-297"/>
          <p:cNvSpPr txBox="1"/>
          <p:nvPr/>
        </p:nvSpPr>
        <p:spPr>
          <a:xfrm>
            <a:off x="9692640" y="4434840"/>
            <a:ext cx="1920240" cy="658368"/>
          </a:xfrm>
          <a:prstGeom prst="roundRect">
            <a:avLst>
              <a:gd name="adj" fmla="val 9722"/>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Refusal</a:t>
            </a:r>
            <a:endParaRPr lang="en-US" sz="1300" dirty="0"/>
          </a:p>
          <a:p>
            <a:pPr algn="ctr" indent="0" marL="0">
              <a:buNone/>
            </a:pPr>
            <a:r>
              <a:rPr lang="en-US" sz="1100" dirty="0">
                <a:solidFill>
                  <a:srgbClr val="2B3A55"/>
                </a:solidFill>
              </a:rPr>
              <a:t>in the user's language</a:t>
            </a:r>
            <a:endParaRPr lang="en-US" sz="1300" dirty="0"/>
          </a:p>
        </p:txBody>
      </p:sp>
      <p:sp>
        <p:nvSpPr>
          <p:cNvPr id="28" name="arrow-298"/>
          <p:cNvSpPr/>
          <p:nvPr/>
        </p:nvSpPr>
        <p:spPr>
          <a:xfrm>
            <a:off x="10652760" y="4069080"/>
            <a:ext cx="0" cy="365760"/>
          </a:xfrm>
          <a:prstGeom prst="line">
            <a:avLst/>
          </a:prstGeom>
          <a:noFill/>
          <a:ln w="19050">
            <a:solidFill>
              <a:srgbClr val="5B6B82"/>
            </a:solidFill>
            <a:prstDash val="solid"/>
            <a:tailEnd type="triangle"/>
          </a:ln>
        </p:spPr>
      </p:sp>
      <p:sp>
        <p:nvSpPr>
          <p:cNvPr id="29" name="text-299"/>
          <p:cNvSpPr txBox="1"/>
          <p:nvPr/>
        </p:nvSpPr>
        <p:spPr>
          <a:xfrm>
            <a:off x="10716768" y="4114800"/>
            <a:ext cx="457200" cy="219456"/>
          </a:xfrm>
          <a:prstGeom prst="rect">
            <a:avLst/>
          </a:prstGeom>
          <a:noFill/>
          <a:ln/>
        </p:spPr>
        <p:txBody>
          <a:bodyPr wrap="square" lIns="0" tIns="0" rIns="0" bIns="0" rtlCol="0" anchor="ctr"/>
          <a:lstStyle/>
          <a:p>
            <a:pPr algn="l" indent="0" marL="0">
              <a:buNone/>
            </a:pPr>
            <a:r>
              <a:rPr lang="en-US" sz="1050" i="1" dirty="0">
                <a:solidFill>
                  <a:srgbClr val="5B6B82"/>
                </a:solidFill>
              </a:rPr>
              <a:t>yes</a:t>
            </a:r>
            <a:endParaRPr lang="en-US" sz="1050" dirty="0"/>
          </a:p>
        </p:txBody>
      </p:sp>
      <p:sp>
        <p:nvSpPr>
          <p:cNvPr id="30" name="arrow-300"/>
          <p:cNvSpPr/>
          <p:nvPr/>
        </p:nvSpPr>
        <p:spPr>
          <a:xfrm flipH="1">
            <a:off x="3566160" y="4764024"/>
            <a:ext cx="6126480" cy="0"/>
          </a:xfrm>
          <a:prstGeom prst="line">
            <a:avLst/>
          </a:prstGeom>
          <a:noFill/>
          <a:ln w="19050">
            <a:solidFill>
              <a:srgbClr val="5B6B82"/>
            </a:solidFill>
            <a:prstDash val="solid"/>
          </a:ln>
        </p:spPr>
      </p:sp>
      <p:sp>
        <p:nvSpPr>
          <p:cNvPr id="31" name="arrow-301"/>
          <p:cNvSpPr/>
          <p:nvPr/>
        </p:nvSpPr>
        <p:spPr>
          <a:xfrm flipV="1">
            <a:off x="3566160" y="3931920"/>
            <a:ext cx="0" cy="832104"/>
          </a:xfrm>
          <a:prstGeom prst="line">
            <a:avLst/>
          </a:prstGeom>
          <a:noFill/>
          <a:ln w="19050">
            <a:solidFill>
              <a:srgbClr val="5B6B82"/>
            </a:solidFill>
            <a:prstDash val="solid"/>
            <a:tailEnd type="triangle"/>
          </a:ln>
        </p:spPr>
      </p:sp>
      <p:sp>
        <p:nvSpPr>
          <p:cNvPr id="32" name="text-302"/>
          <p:cNvSpPr txBox="1"/>
          <p:nvPr/>
        </p:nvSpPr>
        <p:spPr>
          <a:xfrm>
            <a:off x="5486400" y="4498848"/>
            <a:ext cx="2377440" cy="219456"/>
          </a:xfrm>
          <a:prstGeom prst="rect">
            <a:avLst/>
          </a:prstGeom>
          <a:noFill/>
          <a:ln/>
        </p:spPr>
        <p:txBody>
          <a:bodyPr wrap="square" lIns="0" tIns="0" rIns="0" bIns="0" rtlCol="0" anchor="ctr"/>
          <a:lstStyle/>
          <a:p>
            <a:pPr algn="l" indent="0" marL="0">
              <a:buNone/>
            </a:pPr>
            <a:r>
              <a:rPr lang="en-US" sz="1050" i="1" dirty="0">
                <a:solidFill>
                  <a:srgbClr val="5B6B82"/>
                </a:solidFill>
              </a:rPr>
              <a:t>refused = true, no citations</a:t>
            </a:r>
            <a:endParaRPr lang="en-US" sz="1050" dirty="0"/>
          </a:p>
        </p:txBody>
      </p:sp>
      <p:sp>
        <p:nvSpPr>
          <p:cNvPr id="33" name="box-303"/>
          <p:cNvSpPr/>
          <p:nvPr/>
        </p:nvSpPr>
        <p:spPr>
          <a:xfrm>
            <a:off x="548640" y="3108960"/>
            <a:ext cx="1874520" cy="1965960"/>
          </a:xfrm>
          <a:prstGeom prst="roundRect">
            <a:avLst>
              <a:gd name="adj" fmla="val 3902"/>
            </a:avLst>
          </a:prstGeom>
          <a:solidFill>
            <a:srgbClr val="F9E3DD"/>
          </a:solidFill>
          <a:ln/>
        </p:spPr>
      </p:sp>
      <p:sp>
        <p:nvSpPr>
          <p:cNvPr id="34" name="text-304"/>
          <p:cNvSpPr txBox="1"/>
          <p:nvPr/>
        </p:nvSpPr>
        <p:spPr>
          <a:xfrm>
            <a:off x="685800" y="3200400"/>
            <a:ext cx="1600200" cy="274320"/>
          </a:xfrm>
          <a:prstGeom prst="rect">
            <a:avLst/>
          </a:prstGeom>
          <a:noFill/>
          <a:ln/>
        </p:spPr>
        <p:txBody>
          <a:bodyPr wrap="square" lIns="0" tIns="0" rIns="0" bIns="0" rtlCol="0" anchor="t"/>
          <a:lstStyle/>
          <a:p>
            <a:pPr indent="0" marL="0">
              <a:buNone/>
            </a:pPr>
            <a:r>
              <a:rPr lang="en-US" sz="1300" b="1" dirty="0">
                <a:solidFill>
                  <a:srgbClr val="13203A"/>
                </a:solidFill>
              </a:rPr>
              <a:t>Invented ID</a:t>
            </a:r>
            <a:endParaRPr lang="en-US" sz="1300" dirty="0"/>
          </a:p>
        </p:txBody>
      </p:sp>
      <p:sp>
        <p:nvSpPr>
          <p:cNvPr id="35" name="text-305"/>
          <p:cNvSpPr txBox="1"/>
          <p:nvPr/>
        </p:nvSpPr>
        <p:spPr>
          <a:xfrm>
            <a:off x="685800" y="3493008"/>
            <a:ext cx="1627632" cy="1508760"/>
          </a:xfrm>
          <a:prstGeom prst="rect">
            <a:avLst/>
          </a:prstGeom>
          <a:noFill/>
          <a:ln/>
        </p:spPr>
        <p:txBody>
          <a:bodyPr wrap="square" lIns="0" tIns="0" rIns="0" bIns="0" rtlCol="0" anchor="t"/>
          <a:lstStyle/>
          <a:p>
            <a:pPr indent="0" marL="0">
              <a:buNone/>
            </a:pPr>
            <a:r>
              <a:rPr lang="en-US" sz="1150" dirty="0">
                <a:solidFill>
                  <a:srgbClr val="2B3A55"/>
                </a:solidFill>
              </a:rPr>
              <a:t>Model cites [AIA-Art6] but only AIA-Art6-2 was retrieved: [AIA-Art6] is removed and logged; AIA-Art6-2 stays.</a:t>
            </a:r>
            <a:endParaRPr lang="en-US" sz="1150" dirty="0"/>
          </a:p>
        </p:txBody>
      </p:sp>
      <p:sp>
        <p:nvSpPr>
          <p:cNvPr id="36" name="text-306"/>
          <p:cNvSpPr txBox="1"/>
          <p:nvPr/>
        </p:nvSpPr>
        <p:spPr>
          <a:xfrm>
            <a:off x="548640" y="5321808"/>
            <a:ext cx="7315200" cy="274320"/>
          </a:xfrm>
          <a:prstGeom prst="rect">
            <a:avLst/>
          </a:prstGeom>
          <a:noFill/>
          <a:ln/>
        </p:spPr>
        <p:txBody>
          <a:bodyPr wrap="square" lIns="0" tIns="0" rIns="0" bIns="0" rtlCol="0" anchor="t"/>
          <a:lstStyle/>
          <a:p>
            <a:pPr indent="0" marL="0">
              <a:buNone/>
            </a:pPr>
            <a:r>
              <a:rPr lang="en-US" sz="1300" b="1" dirty="0">
                <a:solidFill>
                  <a:srgbClr val="13203A"/>
                </a:solidFill>
              </a:rPr>
              <a:t>Answer prompt rules (configs/prompts/answer.v1.md)</a:t>
            </a:r>
            <a:endParaRPr lang="en-US" sz="1300" dirty="0"/>
          </a:p>
        </p:txBody>
      </p:sp>
      <p:sp>
        <p:nvSpPr>
          <p:cNvPr id="37" name="node-neutral-307"/>
          <p:cNvSpPr txBox="1"/>
          <p:nvPr/>
        </p:nvSpPr>
        <p:spPr>
          <a:xfrm>
            <a:off x="548640" y="5641848"/>
            <a:ext cx="2131101" cy="502920"/>
          </a:xfrm>
          <a:prstGeom prst="roundRect">
            <a:avLst>
              <a:gd name="adj" fmla="val 12727"/>
            </a:avLst>
          </a:prstGeom>
          <a:solidFill>
            <a:srgbClr val="EEF1F6"/>
          </a:solidFill>
          <a:ln/>
        </p:spPr>
        <p:txBody>
          <a:bodyPr wrap="square" lIns="381" tIns="889" rIns="889" bIns="381" rtlCol="0" anchor="ctr"/>
          <a:lstStyle/>
          <a:p>
            <a:pPr algn="ctr" indent="0" marL="0">
              <a:buNone/>
            </a:pPr>
            <a:r>
              <a:rPr lang="en-US" sz="1200" b="1" dirty="0">
                <a:solidFill>
                  <a:srgbClr val="13203A"/>
                </a:solidFill>
              </a:rPr>
              <a:t>Use only the sources</a:t>
            </a:r>
            <a:endParaRPr lang="en-US" sz="1200" dirty="0"/>
          </a:p>
        </p:txBody>
      </p:sp>
      <p:sp>
        <p:nvSpPr>
          <p:cNvPr id="38" name="node-neutral-308"/>
          <p:cNvSpPr txBox="1"/>
          <p:nvPr/>
        </p:nvSpPr>
        <p:spPr>
          <a:xfrm>
            <a:off x="2789469" y="5641848"/>
            <a:ext cx="2131101" cy="502920"/>
          </a:xfrm>
          <a:prstGeom prst="roundRect">
            <a:avLst>
              <a:gd name="adj" fmla="val 12727"/>
            </a:avLst>
          </a:prstGeom>
          <a:solidFill>
            <a:srgbClr val="EEF1F6"/>
          </a:solidFill>
          <a:ln/>
        </p:spPr>
        <p:txBody>
          <a:bodyPr wrap="square" lIns="381" tIns="889" rIns="889" bIns="381" rtlCol="0" anchor="ctr"/>
          <a:lstStyle/>
          <a:p>
            <a:pPr algn="ctr" indent="0" marL="0">
              <a:buNone/>
            </a:pPr>
            <a:r>
              <a:rPr lang="en-US" sz="1200" b="1" dirty="0">
                <a:solidFill>
                  <a:srgbClr val="13203A"/>
                </a:solidFill>
              </a:rPr>
              <a:t>Cite [ID] after each rule</a:t>
            </a:r>
            <a:endParaRPr lang="en-US" sz="1200" dirty="0"/>
          </a:p>
        </p:txBody>
      </p:sp>
      <p:sp>
        <p:nvSpPr>
          <p:cNvPr id="39" name="node-neutral-309"/>
          <p:cNvSpPr txBox="1"/>
          <p:nvPr/>
        </p:nvSpPr>
        <p:spPr>
          <a:xfrm>
            <a:off x="5030297" y="5641848"/>
            <a:ext cx="2131101" cy="502920"/>
          </a:xfrm>
          <a:prstGeom prst="roundRect">
            <a:avLst>
              <a:gd name="adj" fmla="val 12727"/>
            </a:avLst>
          </a:prstGeom>
          <a:solidFill>
            <a:srgbClr val="EEF1F6"/>
          </a:solidFill>
          <a:ln/>
        </p:spPr>
        <p:txBody>
          <a:bodyPr wrap="square" lIns="381" tIns="889" rIns="889" bIns="381" rtlCol="0" anchor="ctr"/>
          <a:lstStyle/>
          <a:p>
            <a:pPr algn="ctr" indent="0" marL="0">
              <a:buNone/>
            </a:pPr>
            <a:r>
              <a:rPr lang="en-US" sz="1200" b="1" dirty="0">
                <a:solidFill>
                  <a:srgbClr val="13203A"/>
                </a:solidFill>
              </a:rPr>
              <a:t>Answer in the question's language</a:t>
            </a:r>
            <a:endParaRPr lang="en-US" sz="1200" dirty="0"/>
          </a:p>
        </p:txBody>
      </p:sp>
      <p:sp>
        <p:nvSpPr>
          <p:cNvPr id="40" name="node-neutral-310"/>
          <p:cNvSpPr txBox="1"/>
          <p:nvPr/>
        </p:nvSpPr>
        <p:spPr>
          <a:xfrm>
            <a:off x="7271126" y="5641848"/>
            <a:ext cx="2131101" cy="502920"/>
          </a:xfrm>
          <a:prstGeom prst="roundRect">
            <a:avLst>
              <a:gd name="adj" fmla="val 12727"/>
            </a:avLst>
          </a:prstGeom>
          <a:solidFill>
            <a:srgbClr val="EEF1F6"/>
          </a:solidFill>
          <a:ln/>
        </p:spPr>
        <p:txBody>
          <a:bodyPr wrap="square" lIns="381" tIns="889" rIns="889" bIns="381" rtlCol="0" anchor="ctr"/>
          <a:lstStyle/>
          <a:p>
            <a:pPr algn="ctr" indent="0" marL="0">
              <a:buNone/>
            </a:pPr>
            <a:r>
              <a:rPr lang="en-US" sz="1200" b="1" dirty="0">
                <a:solidFill>
                  <a:srgbClr val="13203A"/>
                </a:solidFill>
              </a:rPr>
              <a:t>Reply NOT_COVERED if missing</a:t>
            </a:r>
            <a:endParaRPr lang="en-US" sz="1200" dirty="0"/>
          </a:p>
        </p:txBody>
      </p:sp>
      <p:sp>
        <p:nvSpPr>
          <p:cNvPr id="41" name="node-neutral-311"/>
          <p:cNvSpPr txBox="1"/>
          <p:nvPr/>
        </p:nvSpPr>
        <p:spPr>
          <a:xfrm>
            <a:off x="9511955" y="5641848"/>
            <a:ext cx="2131101" cy="502920"/>
          </a:xfrm>
          <a:prstGeom prst="roundRect">
            <a:avLst>
              <a:gd name="adj" fmla="val 12727"/>
            </a:avLst>
          </a:prstGeom>
          <a:solidFill>
            <a:srgbClr val="EEF1F6"/>
          </a:solidFill>
          <a:ln/>
        </p:spPr>
        <p:txBody>
          <a:bodyPr wrap="square" lIns="381" tIns="889" rIns="889" bIns="381" rtlCol="0" anchor="ctr"/>
          <a:lstStyle/>
          <a:p>
            <a:pPr algn="ctr" indent="0" marL="0">
              <a:buNone/>
            </a:pPr>
            <a:r>
              <a:rPr lang="en-US" sz="1200" b="1" dirty="0">
                <a:solidFill>
                  <a:srgbClr val="13203A"/>
                </a:solidFill>
              </a:rPr>
              <a:t>Never judge a company's compliance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6 OF 11  ·  RISK CLASSIFIER</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The classifier agent loop</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The model searches the Act as often as it needs, but it can only finish with a valid, grounded verdict.</a:t>
            </a:r>
            <a:endParaRPr lang="en-US" sz="1600" dirty="0"/>
          </a:p>
        </p:txBody>
      </p:sp>
      <p:sp>
        <p:nvSpPr>
          <p:cNvPr id="6" name="chip-312"/>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313"/>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314"/>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io-315"/>
          <p:cNvSpPr txBox="1"/>
          <p:nvPr/>
        </p:nvSpPr>
        <p:spPr>
          <a:xfrm>
            <a:off x="548640" y="2057400"/>
            <a:ext cx="2468880" cy="777240"/>
          </a:xfrm>
          <a:prstGeom prst="roundRect">
            <a:avLst>
              <a:gd name="adj" fmla="val 8235"/>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AI system description</a:t>
            </a:r>
            <a:endParaRPr lang="en-US" sz="1300" dirty="0"/>
          </a:p>
          <a:p>
            <a:pPr algn="ctr" indent="0" marL="0">
              <a:buNone/>
            </a:pPr>
            <a:r>
              <a:rPr lang="en-US" sz="1100" dirty="0">
                <a:solidFill>
                  <a:srgbClr val="FFFFFF"/>
                </a:solidFill>
              </a:rPr>
              <a:t>+ ordered checks in the system prompt</a:t>
            </a:r>
            <a:endParaRPr lang="en-US" sz="1300" dirty="0"/>
          </a:p>
        </p:txBody>
      </p:sp>
      <p:sp>
        <p:nvSpPr>
          <p:cNvPr id="10" name="node-step-316"/>
          <p:cNvSpPr txBox="1"/>
          <p:nvPr/>
        </p:nvSpPr>
        <p:spPr>
          <a:xfrm>
            <a:off x="3657600" y="2057400"/>
            <a:ext cx="210312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LLM with 2 tools</a:t>
            </a:r>
            <a:endParaRPr lang="en-US" sz="1300" dirty="0"/>
          </a:p>
          <a:p>
            <a:pPr algn="ctr" indent="0" marL="0">
              <a:buNone/>
            </a:pPr>
            <a:r>
              <a:rPr lang="en-US" sz="1150" dirty="0">
                <a:solidFill>
                  <a:srgbClr val="2B3A55"/>
                </a:solidFill>
              </a:rPr>
              <a:t>temperature 0</a:t>
            </a:r>
            <a:endParaRPr lang="en-US" sz="1300" dirty="0"/>
          </a:p>
        </p:txBody>
      </p:sp>
      <p:sp>
        <p:nvSpPr>
          <p:cNvPr id="11" name="node-step-317"/>
          <p:cNvSpPr txBox="1"/>
          <p:nvPr/>
        </p:nvSpPr>
        <p:spPr>
          <a:xfrm>
            <a:off x="6903720" y="2057400"/>
            <a:ext cx="219456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latin typeface="Courier New" pitchFamily="34" charset="0"/>
                <a:ea typeface="Courier New" pitchFamily="34" charset="-122"/>
                <a:cs typeface="Courier New" pitchFamily="34" charset="-120"/>
              </a:rPr>
              <a:t>search_corpus</a:t>
            </a:r>
            <a:endParaRPr lang="en-US" sz="1300" dirty="0"/>
          </a:p>
          <a:p>
            <a:pPr algn="ctr" indent="0" marL="0">
              <a:buNone/>
            </a:pPr>
            <a:r>
              <a:rPr lang="en-US" sz="1050" dirty="0">
                <a:solidFill>
                  <a:srgbClr val="2B3A55"/>
                </a:solidFill>
              </a:rPr>
              <a:t>query, top_k ≤ 8 → retriever</a:t>
            </a:r>
            <a:endParaRPr lang="en-US" sz="1300" dirty="0"/>
          </a:p>
        </p:txBody>
      </p:sp>
      <p:sp>
        <p:nvSpPr>
          <p:cNvPr id="12" name="arrow-318"/>
          <p:cNvSpPr/>
          <p:nvPr/>
        </p:nvSpPr>
        <p:spPr>
          <a:xfrm>
            <a:off x="3017520" y="2446020"/>
            <a:ext cx="640080" cy="0"/>
          </a:xfrm>
          <a:prstGeom prst="line">
            <a:avLst/>
          </a:prstGeom>
          <a:noFill/>
          <a:ln w="19050">
            <a:solidFill>
              <a:srgbClr val="5B6B82"/>
            </a:solidFill>
            <a:prstDash val="solid"/>
            <a:tailEnd type="triangle"/>
          </a:ln>
        </p:spPr>
      </p:sp>
      <p:sp>
        <p:nvSpPr>
          <p:cNvPr id="13" name="arrow-319"/>
          <p:cNvSpPr/>
          <p:nvPr/>
        </p:nvSpPr>
        <p:spPr>
          <a:xfrm>
            <a:off x="5760720" y="2267712"/>
            <a:ext cx="1188720" cy="0"/>
          </a:xfrm>
          <a:prstGeom prst="line">
            <a:avLst/>
          </a:prstGeom>
          <a:noFill/>
          <a:ln w="19050">
            <a:solidFill>
              <a:srgbClr val="5B6B82"/>
            </a:solidFill>
            <a:prstDash val="solid"/>
            <a:tailEnd type="triangle"/>
          </a:ln>
        </p:spPr>
      </p:sp>
      <p:sp>
        <p:nvSpPr>
          <p:cNvPr id="14" name="arrow-320"/>
          <p:cNvSpPr/>
          <p:nvPr/>
        </p:nvSpPr>
        <p:spPr>
          <a:xfrm flipH="1">
            <a:off x="5760720" y="2651760"/>
            <a:ext cx="1188720" cy="0"/>
          </a:xfrm>
          <a:prstGeom prst="line">
            <a:avLst/>
          </a:prstGeom>
          <a:noFill/>
          <a:ln w="19050">
            <a:solidFill>
              <a:srgbClr val="5B6B82"/>
            </a:solidFill>
            <a:prstDash val="solid"/>
            <a:tailEnd type="triangle"/>
          </a:ln>
        </p:spPr>
      </p:sp>
      <p:sp>
        <p:nvSpPr>
          <p:cNvPr id="15" name="text-321"/>
          <p:cNvSpPr txBox="1"/>
          <p:nvPr/>
        </p:nvSpPr>
        <p:spPr>
          <a:xfrm>
            <a:off x="6080760" y="2039112"/>
            <a:ext cx="731520" cy="219456"/>
          </a:xfrm>
          <a:prstGeom prst="rect">
            <a:avLst/>
          </a:prstGeom>
          <a:noFill/>
          <a:ln/>
        </p:spPr>
        <p:txBody>
          <a:bodyPr wrap="square" lIns="0" tIns="0" rIns="0" bIns="0" rtlCol="0" anchor="ctr"/>
          <a:lstStyle/>
          <a:p>
            <a:pPr algn="l" indent="0" marL="0">
              <a:buNone/>
            </a:pPr>
            <a:r>
              <a:rPr lang="en-US" sz="1050" i="1" dirty="0">
                <a:solidFill>
                  <a:srgbClr val="5B6B82"/>
                </a:solidFill>
              </a:rPr>
              <a:t>query</a:t>
            </a:r>
            <a:endParaRPr lang="en-US" sz="1050" dirty="0"/>
          </a:p>
        </p:txBody>
      </p:sp>
      <p:sp>
        <p:nvSpPr>
          <p:cNvPr id="16" name="text-322"/>
          <p:cNvSpPr txBox="1"/>
          <p:nvPr/>
        </p:nvSpPr>
        <p:spPr>
          <a:xfrm>
            <a:off x="5852160" y="2688336"/>
            <a:ext cx="1097280" cy="219456"/>
          </a:xfrm>
          <a:prstGeom prst="rect">
            <a:avLst/>
          </a:prstGeom>
          <a:noFill/>
          <a:ln/>
        </p:spPr>
        <p:txBody>
          <a:bodyPr wrap="square" lIns="0" tIns="0" rIns="0" bIns="0" rtlCol="0" anchor="ctr"/>
          <a:lstStyle/>
          <a:p>
            <a:pPr algn="l" indent="0" marL="0">
              <a:buNone/>
            </a:pPr>
            <a:r>
              <a:rPr lang="en-US" sz="1050" i="1" dirty="0">
                <a:solidFill>
                  <a:srgbClr val="5B6B82"/>
                </a:solidFill>
              </a:rPr>
              <a:t>chunks + IDs</a:t>
            </a:r>
            <a:endParaRPr lang="en-US" sz="1050" dirty="0"/>
          </a:p>
        </p:txBody>
      </p:sp>
      <p:sp>
        <p:nvSpPr>
          <p:cNvPr id="17" name="node-step-323"/>
          <p:cNvSpPr txBox="1"/>
          <p:nvPr/>
        </p:nvSpPr>
        <p:spPr>
          <a:xfrm>
            <a:off x="3657600" y="3246120"/>
            <a:ext cx="210312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150" b="1" dirty="0">
                <a:solidFill>
                  <a:srgbClr val="2B3A55"/>
                </a:solidFill>
                <a:latin typeface="Courier New" pitchFamily="34" charset="0"/>
                <a:ea typeface="Courier New" pitchFamily="34" charset="-122"/>
                <a:cs typeface="Courier New" pitchFamily="34" charset="-120"/>
              </a:rPr>
              <a:t>submit_classification</a:t>
            </a:r>
            <a:endParaRPr lang="en-US" sz="1150" dirty="0"/>
          </a:p>
          <a:p>
            <a:pPr algn="ctr" indent="0" marL="0">
              <a:buNone/>
            </a:pPr>
            <a:r>
              <a:rPr lang="en-US" sz="1050" dirty="0">
                <a:solidFill>
                  <a:srgbClr val="2B3A55"/>
                </a:solidFill>
              </a:rPr>
              <a:t>tier, reasons, citations ...</a:t>
            </a:r>
            <a:endParaRPr lang="en-US" sz="1150" dirty="0"/>
          </a:p>
        </p:txBody>
      </p:sp>
      <p:sp>
        <p:nvSpPr>
          <p:cNvPr id="18" name="arrow-324"/>
          <p:cNvSpPr/>
          <p:nvPr/>
        </p:nvSpPr>
        <p:spPr>
          <a:xfrm>
            <a:off x="4709160" y="2834640"/>
            <a:ext cx="0" cy="411480"/>
          </a:xfrm>
          <a:prstGeom prst="line">
            <a:avLst/>
          </a:prstGeom>
          <a:noFill/>
          <a:ln w="19050">
            <a:solidFill>
              <a:srgbClr val="5B6B82"/>
            </a:solidFill>
            <a:prstDash val="solid"/>
            <a:tailEnd type="triangle"/>
          </a:ln>
        </p:spPr>
      </p:sp>
      <p:sp>
        <p:nvSpPr>
          <p:cNvPr id="19" name="node-decision-325"/>
          <p:cNvSpPr txBox="1"/>
          <p:nvPr/>
        </p:nvSpPr>
        <p:spPr>
          <a:xfrm>
            <a:off x="3566160" y="4251960"/>
            <a:ext cx="2286000" cy="1051560"/>
          </a:xfrm>
          <a:prstGeom prst="diamond">
            <a:avLst/>
          </a:prstGeom>
          <a:solidFill>
            <a:srgbClr val="FBEFD3"/>
          </a:solidFill>
          <a:ln w="15875">
            <a:solidFill>
              <a:srgbClr val="E3A21A"/>
            </a:solidFill>
          </a:ln>
        </p:spPr>
        <p:txBody>
          <a:bodyPr wrap="square" lIns="381" tIns="889" rIns="889" bIns="381" rtlCol="0" anchor="ctr"/>
          <a:lstStyle/>
          <a:p>
            <a:pPr algn="ctr" indent="0" marL="0">
              <a:buNone/>
            </a:pPr>
            <a:r>
              <a:rPr lang="en-US" sz="1100" b="1" dirty="0">
                <a:solidFill>
                  <a:srgbClr val="13203A"/>
                </a:solidFill>
              </a:rPr>
              <a:t>Valid schema and only retrieved IDs?</a:t>
            </a:r>
            <a:endParaRPr lang="en-US" sz="1100" dirty="0"/>
          </a:p>
        </p:txBody>
      </p:sp>
      <p:sp>
        <p:nvSpPr>
          <p:cNvPr id="20" name="arrow-326"/>
          <p:cNvSpPr/>
          <p:nvPr/>
        </p:nvSpPr>
        <p:spPr>
          <a:xfrm>
            <a:off x="4709160" y="3931920"/>
            <a:ext cx="0" cy="320040"/>
          </a:xfrm>
          <a:prstGeom prst="line">
            <a:avLst/>
          </a:prstGeom>
          <a:noFill/>
          <a:ln w="19050">
            <a:solidFill>
              <a:srgbClr val="5B6B82"/>
            </a:solidFill>
            <a:prstDash val="solid"/>
            <a:tailEnd type="triangle"/>
          </a:ln>
        </p:spPr>
      </p:sp>
      <p:sp>
        <p:nvSpPr>
          <p:cNvPr id="21" name="node-io-327"/>
          <p:cNvSpPr txBox="1"/>
          <p:nvPr/>
        </p:nvSpPr>
        <p:spPr>
          <a:xfrm>
            <a:off x="6675120" y="4434840"/>
            <a:ext cx="2377440" cy="685800"/>
          </a:xfrm>
          <a:prstGeom prst="roundRect">
            <a:avLst>
              <a:gd name="adj" fmla="val 9333"/>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ClassifyResult JSON</a:t>
            </a:r>
            <a:endParaRPr lang="en-US" sz="1300" dirty="0"/>
          </a:p>
          <a:p>
            <a:pPr algn="ctr" indent="0" marL="0">
              <a:buNone/>
            </a:pPr>
            <a:r>
              <a:rPr lang="en-US" sz="1100" dirty="0">
                <a:solidFill>
                  <a:srgbClr val="FFFFFF"/>
                </a:solidFill>
              </a:rPr>
              <a:t>validated, grounded</a:t>
            </a:r>
            <a:endParaRPr lang="en-US" sz="1300" dirty="0"/>
          </a:p>
        </p:txBody>
      </p:sp>
      <p:sp>
        <p:nvSpPr>
          <p:cNvPr id="22" name="arrow-328"/>
          <p:cNvSpPr/>
          <p:nvPr/>
        </p:nvSpPr>
        <p:spPr>
          <a:xfrm>
            <a:off x="5852160" y="4777740"/>
            <a:ext cx="822960" cy="0"/>
          </a:xfrm>
          <a:prstGeom prst="line">
            <a:avLst/>
          </a:prstGeom>
          <a:noFill/>
          <a:ln w="19050">
            <a:solidFill>
              <a:srgbClr val="5B6B82"/>
            </a:solidFill>
            <a:prstDash val="solid"/>
            <a:tailEnd type="triangle"/>
          </a:ln>
        </p:spPr>
      </p:sp>
      <p:sp>
        <p:nvSpPr>
          <p:cNvPr id="23" name="text-329"/>
          <p:cNvSpPr txBox="1"/>
          <p:nvPr/>
        </p:nvSpPr>
        <p:spPr>
          <a:xfrm>
            <a:off x="5989320" y="4526280"/>
            <a:ext cx="457200" cy="219456"/>
          </a:xfrm>
          <a:prstGeom prst="rect">
            <a:avLst/>
          </a:prstGeom>
          <a:noFill/>
          <a:ln/>
        </p:spPr>
        <p:txBody>
          <a:bodyPr wrap="square" lIns="0" tIns="0" rIns="0" bIns="0" rtlCol="0" anchor="ctr"/>
          <a:lstStyle/>
          <a:p>
            <a:pPr algn="l" indent="0" marL="0">
              <a:buNone/>
            </a:pPr>
            <a:r>
              <a:rPr lang="en-US" sz="1050" i="1" dirty="0">
                <a:solidFill>
                  <a:srgbClr val="5B6B82"/>
                </a:solidFill>
              </a:rPr>
              <a:t>yes</a:t>
            </a:r>
            <a:endParaRPr lang="en-US" sz="1050" dirty="0"/>
          </a:p>
        </p:txBody>
      </p:sp>
      <p:sp>
        <p:nvSpPr>
          <p:cNvPr id="24" name="node-step-330"/>
          <p:cNvSpPr txBox="1"/>
          <p:nvPr/>
        </p:nvSpPr>
        <p:spPr>
          <a:xfrm>
            <a:off x="9418320" y="4434840"/>
            <a:ext cx="2224735"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Sheets register row</a:t>
            </a:r>
            <a:endParaRPr lang="en-US" sz="1250" dirty="0"/>
          </a:p>
          <a:p>
            <a:pPr algn="ctr" indent="0" marL="0">
              <a:buNone/>
            </a:pPr>
            <a:r>
              <a:rPr lang="en-US" sz="1050" dirty="0">
                <a:solidFill>
                  <a:srgbClr val="2B3A55"/>
                </a:solidFill>
              </a:rPr>
              <a:t>hash only, never raw text</a:t>
            </a:r>
            <a:endParaRPr lang="en-US" sz="1250" dirty="0"/>
          </a:p>
        </p:txBody>
      </p:sp>
      <p:sp>
        <p:nvSpPr>
          <p:cNvPr id="25" name="arrow-331"/>
          <p:cNvSpPr/>
          <p:nvPr/>
        </p:nvSpPr>
        <p:spPr>
          <a:xfrm>
            <a:off x="9052560" y="4777740"/>
            <a:ext cx="365760" cy="0"/>
          </a:xfrm>
          <a:prstGeom prst="line">
            <a:avLst/>
          </a:prstGeom>
          <a:noFill/>
          <a:ln w="19050">
            <a:solidFill>
              <a:srgbClr val="5B6B82"/>
            </a:solidFill>
            <a:prstDash val="solid"/>
            <a:tailEnd type="triangle"/>
          </a:ln>
        </p:spPr>
      </p:sp>
      <p:sp>
        <p:nvSpPr>
          <p:cNvPr id="26" name="node-step-332"/>
          <p:cNvSpPr txBox="1"/>
          <p:nvPr/>
        </p:nvSpPr>
        <p:spPr>
          <a:xfrm>
            <a:off x="548640" y="4434840"/>
            <a:ext cx="2468880" cy="685800"/>
          </a:xfrm>
          <a:prstGeom prst="roundRect">
            <a:avLst>
              <a:gd name="adj" fmla="val 9333"/>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Error fed back</a:t>
            </a:r>
            <a:endParaRPr lang="en-US" sz="1300" dirty="0"/>
          </a:p>
          <a:p>
            <a:pPr algn="ctr" indent="0" marL="0">
              <a:buNone/>
            </a:pPr>
            <a:r>
              <a:rPr lang="en-US" sz="1100" dirty="0">
                <a:solidFill>
                  <a:srgbClr val="2B3A55"/>
                </a:solidFill>
              </a:rPr>
              <a:t>as a tool result</a:t>
            </a:r>
            <a:endParaRPr lang="en-US" sz="1300" dirty="0"/>
          </a:p>
        </p:txBody>
      </p:sp>
      <p:sp>
        <p:nvSpPr>
          <p:cNvPr id="27" name="arrow-333"/>
          <p:cNvSpPr/>
          <p:nvPr/>
        </p:nvSpPr>
        <p:spPr>
          <a:xfrm flipH="1">
            <a:off x="3017520" y="4777740"/>
            <a:ext cx="548640" cy="0"/>
          </a:xfrm>
          <a:prstGeom prst="line">
            <a:avLst/>
          </a:prstGeom>
          <a:noFill/>
          <a:ln w="19050">
            <a:solidFill>
              <a:srgbClr val="5B6B82"/>
            </a:solidFill>
            <a:prstDash val="solid"/>
            <a:tailEnd type="triangle"/>
          </a:ln>
        </p:spPr>
      </p:sp>
      <p:sp>
        <p:nvSpPr>
          <p:cNvPr id="28" name="text-334"/>
          <p:cNvSpPr txBox="1"/>
          <p:nvPr/>
        </p:nvSpPr>
        <p:spPr>
          <a:xfrm>
            <a:off x="3127248" y="4526280"/>
            <a:ext cx="365760" cy="219456"/>
          </a:xfrm>
          <a:prstGeom prst="rect">
            <a:avLst/>
          </a:prstGeom>
          <a:noFill/>
          <a:ln/>
        </p:spPr>
        <p:txBody>
          <a:bodyPr wrap="square" lIns="0" tIns="0" rIns="0" bIns="0" rtlCol="0" anchor="ctr"/>
          <a:lstStyle/>
          <a:p>
            <a:pPr algn="l" indent="0" marL="0">
              <a:buNone/>
            </a:pPr>
            <a:r>
              <a:rPr lang="en-US" sz="1050" i="1" dirty="0">
                <a:solidFill>
                  <a:srgbClr val="5B6B82"/>
                </a:solidFill>
              </a:rPr>
              <a:t>no</a:t>
            </a:r>
            <a:endParaRPr lang="en-US" sz="1050" dirty="0"/>
          </a:p>
        </p:txBody>
      </p:sp>
      <p:sp>
        <p:nvSpPr>
          <p:cNvPr id="29" name="arrow-335"/>
          <p:cNvSpPr/>
          <p:nvPr/>
        </p:nvSpPr>
        <p:spPr>
          <a:xfrm flipV="1">
            <a:off x="1783080" y="3035808"/>
            <a:ext cx="0" cy="1399032"/>
          </a:xfrm>
          <a:prstGeom prst="line">
            <a:avLst/>
          </a:prstGeom>
          <a:noFill/>
          <a:ln w="19050">
            <a:solidFill>
              <a:srgbClr val="D6573B"/>
            </a:solidFill>
            <a:prstDash val="solid"/>
          </a:ln>
        </p:spPr>
      </p:sp>
      <p:sp>
        <p:nvSpPr>
          <p:cNvPr id="30" name="arrow-336"/>
          <p:cNvSpPr/>
          <p:nvPr/>
        </p:nvSpPr>
        <p:spPr>
          <a:xfrm>
            <a:off x="1783080" y="3035808"/>
            <a:ext cx="2377440" cy="0"/>
          </a:xfrm>
          <a:prstGeom prst="line">
            <a:avLst/>
          </a:prstGeom>
          <a:noFill/>
          <a:ln w="19050">
            <a:solidFill>
              <a:srgbClr val="D6573B"/>
            </a:solidFill>
            <a:prstDash val="solid"/>
          </a:ln>
        </p:spPr>
      </p:sp>
      <p:sp>
        <p:nvSpPr>
          <p:cNvPr id="31" name="arrow-337"/>
          <p:cNvSpPr/>
          <p:nvPr/>
        </p:nvSpPr>
        <p:spPr>
          <a:xfrm flipV="1">
            <a:off x="4160520" y="2834640"/>
            <a:ext cx="0" cy="201168"/>
          </a:xfrm>
          <a:prstGeom prst="line">
            <a:avLst/>
          </a:prstGeom>
          <a:noFill/>
          <a:ln w="19050">
            <a:solidFill>
              <a:srgbClr val="D6573B"/>
            </a:solidFill>
            <a:prstDash val="solid"/>
            <a:tailEnd type="triangle"/>
          </a:ln>
        </p:spPr>
      </p:sp>
      <p:sp>
        <p:nvSpPr>
          <p:cNvPr id="32" name="text-338"/>
          <p:cNvSpPr txBox="1"/>
          <p:nvPr/>
        </p:nvSpPr>
        <p:spPr>
          <a:xfrm>
            <a:off x="1874520" y="2788920"/>
            <a:ext cx="1828800" cy="219456"/>
          </a:xfrm>
          <a:prstGeom prst="rect">
            <a:avLst/>
          </a:prstGeom>
          <a:noFill/>
          <a:ln/>
        </p:spPr>
        <p:txBody>
          <a:bodyPr wrap="square" lIns="0" tIns="0" rIns="0" bIns="0" rtlCol="0" anchor="ctr"/>
          <a:lstStyle/>
          <a:p>
            <a:pPr algn="l" indent="0" marL="0">
              <a:buNone/>
            </a:pPr>
            <a:r>
              <a:rPr lang="en-US" sz="1050" i="1" dirty="0">
                <a:solidFill>
                  <a:srgbClr val="5B6B82"/>
                </a:solidFill>
              </a:rPr>
              <a:t>the model tries again</a:t>
            </a:r>
            <a:endParaRPr lang="en-US" sz="1050" dirty="0"/>
          </a:p>
        </p:txBody>
      </p:sp>
      <p:sp>
        <p:nvSpPr>
          <p:cNvPr id="33" name="box-339"/>
          <p:cNvSpPr/>
          <p:nvPr/>
        </p:nvSpPr>
        <p:spPr>
          <a:xfrm>
            <a:off x="9418320" y="2057400"/>
            <a:ext cx="2224735" cy="2240280"/>
          </a:xfrm>
          <a:prstGeom prst="roundRect">
            <a:avLst>
              <a:gd name="adj" fmla="val 3288"/>
            </a:avLst>
          </a:prstGeom>
          <a:solidFill>
            <a:srgbClr val="EEF1F6"/>
          </a:solidFill>
          <a:ln/>
        </p:spPr>
      </p:sp>
      <p:sp>
        <p:nvSpPr>
          <p:cNvPr id="34" name="text-340"/>
          <p:cNvSpPr txBox="1"/>
          <p:nvPr/>
        </p:nvSpPr>
        <p:spPr>
          <a:xfrm>
            <a:off x="9555480" y="2130552"/>
            <a:ext cx="1950415" cy="274320"/>
          </a:xfrm>
          <a:prstGeom prst="rect">
            <a:avLst/>
          </a:prstGeom>
          <a:noFill/>
          <a:ln/>
        </p:spPr>
        <p:txBody>
          <a:bodyPr wrap="square" lIns="0" tIns="0" rIns="0" bIns="0" rtlCol="0" anchor="t"/>
          <a:lstStyle/>
          <a:p>
            <a:pPr indent="0" marL="0">
              <a:buNone/>
            </a:pPr>
            <a:r>
              <a:rPr lang="en-US" sz="1300" b="1" dirty="0">
                <a:solidFill>
                  <a:srgbClr val="13203A"/>
                </a:solidFill>
              </a:rPr>
              <a:t>Guards in the loop</a:t>
            </a:r>
            <a:endParaRPr lang="en-US" sz="1300" dirty="0"/>
          </a:p>
        </p:txBody>
      </p:sp>
      <p:sp>
        <p:nvSpPr>
          <p:cNvPr id="35" name="text-341"/>
          <p:cNvSpPr txBox="1"/>
          <p:nvPr/>
        </p:nvSpPr>
        <p:spPr>
          <a:xfrm>
            <a:off x="9555480" y="2450592"/>
            <a:ext cx="1996135" cy="1783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55"/>
                </a:solidFill>
              </a:rPr>
              <a:t>Schema errors go back to the model</a:t>
            </a:r>
            <a:endParaRPr lang="en-US" sz="1200" dirty="0"/>
          </a:p>
          <a:p>
            <a:pPr marL="342900" indent="-342900">
              <a:spcAft>
                <a:spcPts val="500"/>
              </a:spcAft>
              <a:buSzPct val="100000"/>
              <a:buChar char="•"/>
            </a:pPr>
            <a:r>
              <a:rPr lang="en-US" sz="1200" dirty="0">
                <a:solidFill>
                  <a:srgbClr val="2B3A55"/>
                </a:solidFill>
              </a:rPr>
              <a:t>Only IDs it retrieved can be cited</a:t>
            </a:r>
            <a:endParaRPr lang="en-US" sz="1200" dirty="0"/>
          </a:p>
          <a:p>
            <a:pPr marL="342900" indent="-342900">
              <a:spcAft>
                <a:spcPts val="500"/>
              </a:spcAft>
              <a:buSzPct val="100000"/>
              <a:buChar char="•"/>
            </a:pPr>
            <a:r>
              <a:rPr lang="en-US" sz="1200" dirty="0">
                <a:solidFill>
                  <a:srgbClr val="2B3A55"/>
                </a:solidFill>
              </a:rPr>
              <a:t>A plain-text reply gets one nudge</a:t>
            </a:r>
            <a:endParaRPr lang="en-US" sz="1200" dirty="0"/>
          </a:p>
          <a:p>
            <a:pPr marL="342900" indent="-342900">
              <a:spcAft>
                <a:spcPts val="500"/>
              </a:spcAft>
              <a:buSzPct val="100000"/>
              <a:buChar char="•"/>
            </a:pPr>
            <a:r>
              <a:rPr lang="en-US" sz="1200" dirty="0">
                <a:solidFill>
                  <a:srgbClr val="2B3A55"/>
                </a:solidFill>
              </a:rPr>
              <a:t>8 steps max, then ClassificationError</a:t>
            </a:r>
            <a:endParaRPr lang="en-US" sz="1200" dirty="0"/>
          </a:p>
        </p:txBody>
      </p:sp>
      <p:sp>
        <p:nvSpPr>
          <p:cNvPr id="36" name="box-342"/>
          <p:cNvSpPr/>
          <p:nvPr/>
        </p:nvSpPr>
        <p:spPr>
          <a:xfrm>
            <a:off x="548640" y="5486400"/>
            <a:ext cx="11094415" cy="685800"/>
          </a:xfrm>
          <a:prstGeom prst="roundRect">
            <a:avLst>
              <a:gd name="adj" fmla="val 10667"/>
            </a:avLst>
          </a:prstGeom>
          <a:solidFill>
            <a:srgbClr val="FBEFD3"/>
          </a:solidFill>
          <a:ln/>
        </p:spPr>
      </p:sp>
      <p:sp>
        <p:nvSpPr>
          <p:cNvPr id="37" name="text-343"/>
          <p:cNvSpPr txBox="1"/>
          <p:nvPr/>
        </p:nvSpPr>
        <p:spPr>
          <a:xfrm>
            <a:off x="731520" y="5486400"/>
            <a:ext cx="10728655" cy="685800"/>
          </a:xfrm>
          <a:prstGeom prst="rect">
            <a:avLst/>
          </a:prstGeom>
          <a:noFill/>
          <a:ln/>
        </p:spPr>
        <p:txBody>
          <a:bodyPr wrap="square" lIns="0" tIns="0" rIns="0" bIns="0" rtlCol="0" anchor="ctr"/>
          <a:lstStyle/>
          <a:p>
            <a:pPr indent="0" marL="0">
              <a:buNone/>
            </a:pPr>
            <a:r>
              <a:rPr lang="en-US" sz="1300" dirty="0">
                <a:solidFill>
                  <a:srgbClr val="13203A"/>
                </a:solidFill>
              </a:rPr>
              <a:t>Order of checks: 1 Art. 5 prohibited  →  2 Art. 6(1) + Annex I  →  3 Art. 6(2) + Annex III  →  4 Art. 50 transparency  →  else minimal risk.  Missing facts: needs_more_info.</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6 OF 11  ·  RISK CLASSIFIER</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How the agent decides: the AI Act ladder</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Stop at the first rule that applies. The verdict cites the articles it read.</a:t>
            </a:r>
            <a:endParaRPr lang="en-US" sz="1600" dirty="0"/>
          </a:p>
        </p:txBody>
      </p:sp>
      <p:sp>
        <p:nvSpPr>
          <p:cNvPr id="6" name="box-344"/>
          <p:cNvSpPr/>
          <p:nvPr/>
        </p:nvSpPr>
        <p:spPr>
          <a:xfrm>
            <a:off x="548640" y="1965960"/>
            <a:ext cx="4526280" cy="850392"/>
          </a:xfrm>
          <a:prstGeom prst="roundRect">
            <a:avLst>
              <a:gd name="adj" fmla="val 8602"/>
            </a:avLst>
          </a:prstGeom>
          <a:solidFill>
            <a:srgbClr val="EEF1F6"/>
          </a:solidFill>
          <a:ln/>
        </p:spPr>
      </p:sp>
      <p:sp>
        <p:nvSpPr>
          <p:cNvPr id="7" name="badge-345"/>
          <p:cNvSpPr txBox="1"/>
          <p:nvPr/>
        </p:nvSpPr>
        <p:spPr>
          <a:xfrm>
            <a:off x="685800" y="2194560"/>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1</a:t>
            </a:r>
            <a:endParaRPr lang="en-US" sz="1400" dirty="0"/>
          </a:p>
        </p:txBody>
      </p:sp>
      <p:sp>
        <p:nvSpPr>
          <p:cNvPr id="8" name="tier-346"/>
          <p:cNvSpPr txBox="1"/>
          <p:nvPr/>
        </p:nvSpPr>
        <p:spPr>
          <a:xfrm>
            <a:off x="1207008" y="2075688"/>
            <a:ext cx="1325880" cy="274320"/>
          </a:xfrm>
          <a:prstGeom prst="roundRect">
            <a:avLst>
              <a:gd name="adj" fmla="val 43333"/>
            </a:avLst>
          </a:prstGeom>
          <a:solidFill>
            <a:srgbClr val="D6573B"/>
          </a:solidFill>
          <a:ln/>
        </p:spPr>
        <p:txBody>
          <a:bodyPr wrap="square" lIns="0" tIns="0" rIns="0" bIns="0" rtlCol="0" anchor="ctr"/>
          <a:lstStyle/>
          <a:p>
            <a:pPr algn="ctr" indent="0" marL="0">
              <a:buNone/>
            </a:pPr>
            <a:r>
              <a:rPr lang="en-US" sz="1200" b="1" dirty="0">
                <a:solidFill>
                  <a:srgbClr val="FFFFFF"/>
                </a:solidFill>
              </a:rPr>
              <a:t>Prohibited</a:t>
            </a:r>
            <a:endParaRPr lang="en-US" sz="1200" dirty="0"/>
          </a:p>
        </p:txBody>
      </p:sp>
      <p:sp>
        <p:nvSpPr>
          <p:cNvPr id="9" name="text-347"/>
          <p:cNvSpPr txBox="1"/>
          <p:nvPr/>
        </p:nvSpPr>
        <p:spPr>
          <a:xfrm>
            <a:off x="2651760" y="2057400"/>
            <a:ext cx="2331720" cy="329184"/>
          </a:xfrm>
          <a:prstGeom prst="rect">
            <a:avLst/>
          </a:prstGeom>
          <a:noFill/>
          <a:ln/>
        </p:spPr>
        <p:txBody>
          <a:bodyPr wrap="square" lIns="0" tIns="0" rIns="0" bIns="0" rtlCol="0" anchor="ctr"/>
          <a:lstStyle/>
          <a:p>
            <a:pPr indent="0" marL="0">
              <a:buNone/>
            </a:pPr>
            <a:r>
              <a:rPr lang="en-US" sz="1200" b="1" dirty="0">
                <a:solidFill>
                  <a:srgbClr val="13203A"/>
                </a:solidFill>
              </a:rPr>
              <a:t>Art. 5</a:t>
            </a:r>
            <a:endParaRPr lang="en-US" sz="1200" dirty="0"/>
          </a:p>
        </p:txBody>
      </p:sp>
      <p:sp>
        <p:nvSpPr>
          <p:cNvPr id="10" name="text-348"/>
          <p:cNvSpPr txBox="1"/>
          <p:nvPr/>
        </p:nvSpPr>
        <p:spPr>
          <a:xfrm>
            <a:off x="1207008" y="2395728"/>
            <a:ext cx="3749040" cy="384048"/>
          </a:xfrm>
          <a:prstGeom prst="rect">
            <a:avLst/>
          </a:prstGeom>
          <a:noFill/>
          <a:ln/>
        </p:spPr>
        <p:txBody>
          <a:bodyPr wrap="square" lIns="0" tIns="0" rIns="0" bIns="0" rtlCol="0" anchor="t"/>
          <a:lstStyle/>
          <a:p>
            <a:pPr indent="0" marL="0">
              <a:buNone/>
            </a:pPr>
            <a:r>
              <a:rPr lang="en-US" sz="1200" dirty="0">
                <a:solidFill>
                  <a:srgbClr val="2B3A55"/>
                </a:solidFill>
              </a:rPr>
              <a:t>Social scoring for public housing; emotion recognition at work</a:t>
            </a:r>
            <a:endParaRPr lang="en-US" sz="1200" dirty="0"/>
          </a:p>
        </p:txBody>
      </p:sp>
      <p:sp>
        <p:nvSpPr>
          <p:cNvPr id="11" name="arrow-349"/>
          <p:cNvSpPr/>
          <p:nvPr/>
        </p:nvSpPr>
        <p:spPr>
          <a:xfrm>
            <a:off x="877824" y="2816352"/>
            <a:ext cx="0" cy="137160"/>
          </a:xfrm>
          <a:prstGeom prst="line">
            <a:avLst/>
          </a:prstGeom>
          <a:noFill/>
          <a:ln w="19050">
            <a:solidFill>
              <a:srgbClr val="5B6B82"/>
            </a:solidFill>
            <a:prstDash val="solid"/>
            <a:tailEnd type="triangle"/>
          </a:ln>
        </p:spPr>
      </p:sp>
      <p:sp>
        <p:nvSpPr>
          <p:cNvPr id="12" name="text-350"/>
          <p:cNvSpPr txBox="1"/>
          <p:nvPr/>
        </p:nvSpPr>
        <p:spPr>
          <a:xfrm>
            <a:off x="932688" y="2798064"/>
            <a:ext cx="365760" cy="164592"/>
          </a:xfrm>
          <a:prstGeom prst="rect">
            <a:avLst/>
          </a:prstGeom>
          <a:noFill/>
          <a:ln/>
        </p:spPr>
        <p:txBody>
          <a:bodyPr wrap="square" lIns="0" tIns="0" rIns="0" bIns="0" rtlCol="0" anchor="ctr"/>
          <a:lstStyle/>
          <a:p>
            <a:pPr algn="l" indent="0" marL="0">
              <a:buNone/>
            </a:pPr>
            <a:r>
              <a:rPr lang="en-US" sz="1000" i="1" dirty="0">
                <a:solidFill>
                  <a:srgbClr val="5B6B82"/>
                </a:solidFill>
              </a:rPr>
              <a:t>no</a:t>
            </a:r>
            <a:endParaRPr lang="en-US" sz="1000" dirty="0"/>
          </a:p>
        </p:txBody>
      </p:sp>
      <p:sp>
        <p:nvSpPr>
          <p:cNvPr id="13" name="box-351"/>
          <p:cNvSpPr/>
          <p:nvPr/>
        </p:nvSpPr>
        <p:spPr>
          <a:xfrm>
            <a:off x="1234440" y="2953512"/>
            <a:ext cx="4526280" cy="850392"/>
          </a:xfrm>
          <a:prstGeom prst="roundRect">
            <a:avLst>
              <a:gd name="adj" fmla="val 8602"/>
            </a:avLst>
          </a:prstGeom>
          <a:solidFill>
            <a:srgbClr val="EEF1F6"/>
          </a:solidFill>
          <a:ln/>
        </p:spPr>
      </p:sp>
      <p:sp>
        <p:nvSpPr>
          <p:cNvPr id="14" name="badge-352"/>
          <p:cNvSpPr txBox="1"/>
          <p:nvPr/>
        </p:nvSpPr>
        <p:spPr>
          <a:xfrm>
            <a:off x="1371600" y="3182112"/>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2</a:t>
            </a:r>
            <a:endParaRPr lang="en-US" sz="1400" dirty="0"/>
          </a:p>
        </p:txBody>
      </p:sp>
      <p:sp>
        <p:nvSpPr>
          <p:cNvPr id="15" name="tier-353"/>
          <p:cNvSpPr txBox="1"/>
          <p:nvPr/>
        </p:nvSpPr>
        <p:spPr>
          <a:xfrm>
            <a:off x="1892808" y="3063240"/>
            <a:ext cx="1325880" cy="274320"/>
          </a:xfrm>
          <a:prstGeom prst="roundRect">
            <a:avLst>
              <a:gd name="adj" fmla="val 43333"/>
            </a:avLst>
          </a:prstGeom>
          <a:solidFill>
            <a:srgbClr val="E3A21A"/>
          </a:solidFill>
          <a:ln/>
        </p:spPr>
        <p:txBody>
          <a:bodyPr wrap="square" lIns="0" tIns="0" rIns="0" bIns="0" rtlCol="0" anchor="ctr"/>
          <a:lstStyle/>
          <a:p>
            <a:pPr algn="ctr" indent="0" marL="0">
              <a:buNone/>
            </a:pPr>
            <a:r>
              <a:rPr lang="en-US" sz="1200" b="1" dirty="0">
                <a:solidFill>
                  <a:srgbClr val="13203A"/>
                </a:solidFill>
              </a:rPr>
              <a:t>High risk</a:t>
            </a:r>
            <a:endParaRPr lang="en-US" sz="1200" dirty="0"/>
          </a:p>
        </p:txBody>
      </p:sp>
      <p:sp>
        <p:nvSpPr>
          <p:cNvPr id="16" name="text-354"/>
          <p:cNvSpPr txBox="1"/>
          <p:nvPr/>
        </p:nvSpPr>
        <p:spPr>
          <a:xfrm>
            <a:off x="3337560" y="3044952"/>
            <a:ext cx="2331720" cy="329184"/>
          </a:xfrm>
          <a:prstGeom prst="rect">
            <a:avLst/>
          </a:prstGeom>
          <a:noFill/>
          <a:ln/>
        </p:spPr>
        <p:txBody>
          <a:bodyPr wrap="square" lIns="0" tIns="0" rIns="0" bIns="0" rtlCol="0" anchor="ctr"/>
          <a:lstStyle/>
          <a:p>
            <a:pPr indent="0" marL="0">
              <a:buNone/>
            </a:pPr>
            <a:r>
              <a:rPr lang="en-US" sz="1200" b="1" dirty="0">
                <a:solidFill>
                  <a:srgbClr val="13203A"/>
                </a:solidFill>
              </a:rPr>
              <a:t>Art. 6 + Annex I or III</a:t>
            </a:r>
            <a:endParaRPr lang="en-US" sz="1200" dirty="0"/>
          </a:p>
        </p:txBody>
      </p:sp>
      <p:sp>
        <p:nvSpPr>
          <p:cNvPr id="17" name="text-355"/>
          <p:cNvSpPr txBox="1"/>
          <p:nvPr/>
        </p:nvSpPr>
        <p:spPr>
          <a:xfrm>
            <a:off x="1892808" y="3383280"/>
            <a:ext cx="3749040" cy="384048"/>
          </a:xfrm>
          <a:prstGeom prst="rect">
            <a:avLst/>
          </a:prstGeom>
          <a:noFill/>
          <a:ln/>
        </p:spPr>
        <p:txBody>
          <a:bodyPr wrap="square" lIns="0" tIns="0" rIns="0" bIns="0" rtlCol="0" anchor="t"/>
          <a:lstStyle/>
          <a:p>
            <a:pPr indent="0" marL="0">
              <a:buNone/>
            </a:pPr>
            <a:r>
              <a:rPr lang="en-US" sz="1200" dirty="0">
                <a:solidFill>
                  <a:srgbClr val="2B3A55"/>
                </a:solidFill>
              </a:rPr>
              <a:t>Ranks job applicants (III.4); grades entrance essays (III.3); credit scoring (III.5)</a:t>
            </a:r>
            <a:endParaRPr lang="en-US" sz="1200" dirty="0"/>
          </a:p>
        </p:txBody>
      </p:sp>
      <p:sp>
        <p:nvSpPr>
          <p:cNvPr id="18" name="arrow-356"/>
          <p:cNvSpPr/>
          <p:nvPr/>
        </p:nvSpPr>
        <p:spPr>
          <a:xfrm>
            <a:off x="1563624" y="3803904"/>
            <a:ext cx="0" cy="137160"/>
          </a:xfrm>
          <a:prstGeom prst="line">
            <a:avLst/>
          </a:prstGeom>
          <a:noFill/>
          <a:ln w="19050">
            <a:solidFill>
              <a:srgbClr val="5B6B82"/>
            </a:solidFill>
            <a:prstDash val="solid"/>
            <a:tailEnd type="triangle"/>
          </a:ln>
        </p:spPr>
      </p:sp>
      <p:sp>
        <p:nvSpPr>
          <p:cNvPr id="19" name="text-357"/>
          <p:cNvSpPr txBox="1"/>
          <p:nvPr/>
        </p:nvSpPr>
        <p:spPr>
          <a:xfrm>
            <a:off x="1618488" y="3785616"/>
            <a:ext cx="365760" cy="164592"/>
          </a:xfrm>
          <a:prstGeom prst="rect">
            <a:avLst/>
          </a:prstGeom>
          <a:noFill/>
          <a:ln/>
        </p:spPr>
        <p:txBody>
          <a:bodyPr wrap="square" lIns="0" tIns="0" rIns="0" bIns="0" rtlCol="0" anchor="ctr"/>
          <a:lstStyle/>
          <a:p>
            <a:pPr algn="l" indent="0" marL="0">
              <a:buNone/>
            </a:pPr>
            <a:r>
              <a:rPr lang="en-US" sz="1000" i="1" dirty="0">
                <a:solidFill>
                  <a:srgbClr val="5B6B82"/>
                </a:solidFill>
              </a:rPr>
              <a:t>no</a:t>
            </a:r>
            <a:endParaRPr lang="en-US" sz="1000" dirty="0"/>
          </a:p>
        </p:txBody>
      </p:sp>
      <p:sp>
        <p:nvSpPr>
          <p:cNvPr id="20" name="box-358"/>
          <p:cNvSpPr/>
          <p:nvPr/>
        </p:nvSpPr>
        <p:spPr>
          <a:xfrm>
            <a:off x="1920240" y="3941064"/>
            <a:ext cx="4526280" cy="850392"/>
          </a:xfrm>
          <a:prstGeom prst="roundRect">
            <a:avLst>
              <a:gd name="adj" fmla="val 8602"/>
            </a:avLst>
          </a:prstGeom>
          <a:solidFill>
            <a:srgbClr val="EEF1F6"/>
          </a:solidFill>
          <a:ln/>
        </p:spPr>
      </p:sp>
      <p:sp>
        <p:nvSpPr>
          <p:cNvPr id="21" name="badge-359"/>
          <p:cNvSpPr txBox="1"/>
          <p:nvPr/>
        </p:nvSpPr>
        <p:spPr>
          <a:xfrm>
            <a:off x="2057400" y="4169664"/>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3</a:t>
            </a:r>
            <a:endParaRPr lang="en-US" sz="1400" dirty="0"/>
          </a:p>
        </p:txBody>
      </p:sp>
      <p:sp>
        <p:nvSpPr>
          <p:cNvPr id="22" name="tier-360"/>
          <p:cNvSpPr txBox="1"/>
          <p:nvPr/>
        </p:nvSpPr>
        <p:spPr>
          <a:xfrm>
            <a:off x="2578608" y="4050792"/>
            <a:ext cx="1325880" cy="274320"/>
          </a:xfrm>
          <a:prstGeom prst="roundRect">
            <a:avLst>
              <a:gd name="adj" fmla="val 43333"/>
            </a:avLst>
          </a:prstGeom>
          <a:solidFill>
            <a:srgbClr val="4F6D99"/>
          </a:solidFill>
          <a:ln/>
        </p:spPr>
        <p:txBody>
          <a:bodyPr wrap="square" lIns="0" tIns="0" rIns="0" bIns="0" rtlCol="0" anchor="ctr"/>
          <a:lstStyle/>
          <a:p>
            <a:pPr algn="ctr" indent="0" marL="0">
              <a:buNone/>
            </a:pPr>
            <a:r>
              <a:rPr lang="en-US" sz="1200" b="1" dirty="0">
                <a:solidFill>
                  <a:srgbClr val="FFFFFF"/>
                </a:solidFill>
              </a:rPr>
              <a:t>Transparency</a:t>
            </a:r>
            <a:endParaRPr lang="en-US" sz="1200" dirty="0"/>
          </a:p>
        </p:txBody>
      </p:sp>
      <p:sp>
        <p:nvSpPr>
          <p:cNvPr id="23" name="text-361"/>
          <p:cNvSpPr txBox="1"/>
          <p:nvPr/>
        </p:nvSpPr>
        <p:spPr>
          <a:xfrm>
            <a:off x="4023360" y="4032504"/>
            <a:ext cx="2331720" cy="329184"/>
          </a:xfrm>
          <a:prstGeom prst="rect">
            <a:avLst/>
          </a:prstGeom>
          <a:noFill/>
          <a:ln/>
        </p:spPr>
        <p:txBody>
          <a:bodyPr wrap="square" lIns="0" tIns="0" rIns="0" bIns="0" rtlCol="0" anchor="ctr"/>
          <a:lstStyle/>
          <a:p>
            <a:pPr indent="0" marL="0">
              <a:buNone/>
            </a:pPr>
            <a:r>
              <a:rPr lang="en-US" sz="1200" b="1" dirty="0">
                <a:solidFill>
                  <a:srgbClr val="13203A"/>
                </a:solidFill>
              </a:rPr>
              <a:t>Art. 50</a:t>
            </a:r>
            <a:endParaRPr lang="en-US" sz="1200" dirty="0"/>
          </a:p>
        </p:txBody>
      </p:sp>
      <p:sp>
        <p:nvSpPr>
          <p:cNvPr id="24" name="text-362"/>
          <p:cNvSpPr txBox="1"/>
          <p:nvPr/>
        </p:nvSpPr>
        <p:spPr>
          <a:xfrm>
            <a:off x="2578608" y="4370832"/>
            <a:ext cx="3749040" cy="384048"/>
          </a:xfrm>
          <a:prstGeom prst="rect">
            <a:avLst/>
          </a:prstGeom>
          <a:noFill/>
          <a:ln/>
        </p:spPr>
        <p:txBody>
          <a:bodyPr wrap="square" lIns="0" tIns="0" rIns="0" bIns="0" rtlCol="0" anchor="t"/>
          <a:lstStyle/>
          <a:p>
            <a:pPr indent="0" marL="0">
              <a:buNone/>
            </a:pPr>
            <a:r>
              <a:rPr lang="en-US" sz="1200" dirty="0">
                <a:solidFill>
                  <a:srgbClr val="2B3A55"/>
                </a:solidFill>
              </a:rPr>
              <a:t>Customer-support chatbot; generated marketing images</a:t>
            </a:r>
            <a:endParaRPr lang="en-US" sz="1200" dirty="0"/>
          </a:p>
        </p:txBody>
      </p:sp>
      <p:sp>
        <p:nvSpPr>
          <p:cNvPr id="25" name="arrow-363"/>
          <p:cNvSpPr/>
          <p:nvPr/>
        </p:nvSpPr>
        <p:spPr>
          <a:xfrm>
            <a:off x="2249424" y="4791456"/>
            <a:ext cx="0" cy="137160"/>
          </a:xfrm>
          <a:prstGeom prst="line">
            <a:avLst/>
          </a:prstGeom>
          <a:noFill/>
          <a:ln w="19050">
            <a:solidFill>
              <a:srgbClr val="5B6B82"/>
            </a:solidFill>
            <a:prstDash val="solid"/>
            <a:tailEnd type="triangle"/>
          </a:ln>
        </p:spPr>
      </p:sp>
      <p:sp>
        <p:nvSpPr>
          <p:cNvPr id="26" name="text-364"/>
          <p:cNvSpPr txBox="1"/>
          <p:nvPr/>
        </p:nvSpPr>
        <p:spPr>
          <a:xfrm>
            <a:off x="2304288" y="4773168"/>
            <a:ext cx="365760" cy="164592"/>
          </a:xfrm>
          <a:prstGeom prst="rect">
            <a:avLst/>
          </a:prstGeom>
          <a:noFill/>
          <a:ln/>
        </p:spPr>
        <p:txBody>
          <a:bodyPr wrap="square" lIns="0" tIns="0" rIns="0" bIns="0" rtlCol="0" anchor="ctr"/>
          <a:lstStyle/>
          <a:p>
            <a:pPr algn="l" indent="0" marL="0">
              <a:buNone/>
            </a:pPr>
            <a:r>
              <a:rPr lang="en-US" sz="1000" i="1" dirty="0">
                <a:solidFill>
                  <a:srgbClr val="5B6B82"/>
                </a:solidFill>
              </a:rPr>
              <a:t>no</a:t>
            </a:r>
            <a:endParaRPr lang="en-US" sz="1000" dirty="0"/>
          </a:p>
        </p:txBody>
      </p:sp>
      <p:sp>
        <p:nvSpPr>
          <p:cNvPr id="27" name="box-365"/>
          <p:cNvSpPr/>
          <p:nvPr/>
        </p:nvSpPr>
        <p:spPr>
          <a:xfrm>
            <a:off x="2606040" y="4928616"/>
            <a:ext cx="4526280" cy="850392"/>
          </a:xfrm>
          <a:prstGeom prst="roundRect">
            <a:avLst>
              <a:gd name="adj" fmla="val 8602"/>
            </a:avLst>
          </a:prstGeom>
          <a:solidFill>
            <a:srgbClr val="EEF1F6"/>
          </a:solidFill>
          <a:ln/>
        </p:spPr>
      </p:sp>
      <p:sp>
        <p:nvSpPr>
          <p:cNvPr id="28" name="badge-366"/>
          <p:cNvSpPr txBox="1"/>
          <p:nvPr/>
        </p:nvSpPr>
        <p:spPr>
          <a:xfrm>
            <a:off x="2743200" y="5157216"/>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4</a:t>
            </a:r>
            <a:endParaRPr lang="en-US" sz="1400" dirty="0"/>
          </a:p>
        </p:txBody>
      </p:sp>
      <p:sp>
        <p:nvSpPr>
          <p:cNvPr id="29" name="tier-367"/>
          <p:cNvSpPr txBox="1"/>
          <p:nvPr/>
        </p:nvSpPr>
        <p:spPr>
          <a:xfrm>
            <a:off x="3264408" y="5038344"/>
            <a:ext cx="1325880" cy="274320"/>
          </a:xfrm>
          <a:prstGeom prst="roundRect">
            <a:avLst>
              <a:gd name="adj" fmla="val 43333"/>
            </a:avLst>
          </a:prstGeom>
          <a:solidFill>
            <a:srgbClr val="14917F"/>
          </a:solidFill>
          <a:ln/>
        </p:spPr>
        <p:txBody>
          <a:bodyPr wrap="square" lIns="0" tIns="0" rIns="0" bIns="0" rtlCol="0" anchor="ctr"/>
          <a:lstStyle/>
          <a:p>
            <a:pPr algn="ctr" indent="0" marL="0">
              <a:buNone/>
            </a:pPr>
            <a:r>
              <a:rPr lang="en-US" sz="1200" b="1" dirty="0">
                <a:solidFill>
                  <a:srgbClr val="FFFFFF"/>
                </a:solidFill>
              </a:rPr>
              <a:t>Minimal risk</a:t>
            </a:r>
            <a:endParaRPr lang="en-US" sz="1200" dirty="0"/>
          </a:p>
        </p:txBody>
      </p:sp>
      <p:sp>
        <p:nvSpPr>
          <p:cNvPr id="30" name="text-368"/>
          <p:cNvSpPr txBox="1"/>
          <p:nvPr/>
        </p:nvSpPr>
        <p:spPr>
          <a:xfrm>
            <a:off x="4709160" y="5020056"/>
            <a:ext cx="2331720" cy="329184"/>
          </a:xfrm>
          <a:prstGeom prst="rect">
            <a:avLst/>
          </a:prstGeom>
          <a:noFill/>
          <a:ln/>
        </p:spPr>
        <p:txBody>
          <a:bodyPr wrap="square" lIns="0" tIns="0" rIns="0" bIns="0" rtlCol="0" anchor="ctr"/>
          <a:lstStyle/>
          <a:p>
            <a:pPr indent="0" marL="0">
              <a:buNone/>
            </a:pPr>
            <a:r>
              <a:rPr lang="en-US" sz="1200" b="1" dirty="0">
                <a:solidFill>
                  <a:srgbClr val="13203A"/>
                </a:solidFill>
              </a:rPr>
              <a:t>none of the above</a:t>
            </a:r>
            <a:endParaRPr lang="en-US" sz="1200" dirty="0"/>
          </a:p>
        </p:txBody>
      </p:sp>
      <p:sp>
        <p:nvSpPr>
          <p:cNvPr id="31" name="text-369"/>
          <p:cNvSpPr txBox="1"/>
          <p:nvPr/>
        </p:nvSpPr>
        <p:spPr>
          <a:xfrm>
            <a:off x="3264408" y="5358384"/>
            <a:ext cx="3749040" cy="384048"/>
          </a:xfrm>
          <a:prstGeom prst="rect">
            <a:avLst/>
          </a:prstGeom>
          <a:noFill/>
          <a:ln/>
        </p:spPr>
        <p:txBody>
          <a:bodyPr wrap="square" lIns="0" tIns="0" rIns="0" bIns="0" rtlCol="0" anchor="t"/>
          <a:lstStyle/>
          <a:p>
            <a:pPr indent="0" marL="0">
              <a:buNone/>
            </a:pPr>
            <a:r>
              <a:rPr lang="en-US" sz="1200" dirty="0">
                <a:solidFill>
                  <a:srgbClr val="2B3A55"/>
                </a:solidFill>
              </a:rPr>
              <a:t>Spam filter in a mailbox</a:t>
            </a:r>
            <a:endParaRPr lang="en-US" sz="1200" dirty="0"/>
          </a:p>
        </p:txBody>
      </p:sp>
      <p:sp>
        <p:nvSpPr>
          <p:cNvPr id="32" name="box-370"/>
          <p:cNvSpPr/>
          <p:nvPr/>
        </p:nvSpPr>
        <p:spPr>
          <a:xfrm>
            <a:off x="548640" y="5074920"/>
            <a:ext cx="1874520" cy="1097280"/>
          </a:xfrm>
          <a:prstGeom prst="roundRect">
            <a:avLst>
              <a:gd name="adj" fmla="val 6667"/>
            </a:avLst>
          </a:prstGeom>
          <a:solidFill>
            <a:srgbClr val="F1F3F7"/>
          </a:solidFill>
          <a:ln w="12700">
            <a:solidFill>
              <a:srgbClr val="D5DBE5"/>
            </a:solidFill>
            <a:prstDash val="solid"/>
          </a:ln>
        </p:spPr>
      </p:sp>
      <p:sp>
        <p:nvSpPr>
          <p:cNvPr id="33" name="text-371"/>
          <p:cNvSpPr txBox="1"/>
          <p:nvPr/>
        </p:nvSpPr>
        <p:spPr>
          <a:xfrm>
            <a:off x="658368" y="5138928"/>
            <a:ext cx="1691640" cy="274320"/>
          </a:xfrm>
          <a:prstGeom prst="rect">
            <a:avLst/>
          </a:prstGeom>
          <a:noFill/>
          <a:ln/>
        </p:spPr>
        <p:txBody>
          <a:bodyPr wrap="square" lIns="0" tIns="0" rIns="0" bIns="0" rtlCol="0" anchor="t"/>
          <a:lstStyle/>
          <a:p>
            <a:pPr indent="0" marL="0">
              <a:buNone/>
            </a:pPr>
            <a:r>
              <a:rPr lang="en-US" sz="1200" b="1" dirty="0">
                <a:solidFill>
                  <a:srgbClr val="13203A"/>
                </a:solidFill>
                <a:latin typeface="Courier New" pitchFamily="34" charset="0"/>
                <a:ea typeface="Courier New" pitchFamily="34" charset="-122"/>
                <a:cs typeface="Courier New" pitchFamily="34" charset="-120"/>
              </a:rPr>
              <a:t>needs_more_info</a:t>
            </a:r>
            <a:endParaRPr lang="en-US" sz="1200" dirty="0"/>
          </a:p>
        </p:txBody>
      </p:sp>
      <p:sp>
        <p:nvSpPr>
          <p:cNvPr id="34" name="text-372"/>
          <p:cNvSpPr txBox="1"/>
          <p:nvPr/>
        </p:nvSpPr>
        <p:spPr>
          <a:xfrm>
            <a:off x="658368" y="5422392"/>
            <a:ext cx="1691640" cy="731520"/>
          </a:xfrm>
          <a:prstGeom prst="rect">
            <a:avLst/>
          </a:prstGeom>
          <a:noFill/>
          <a:ln/>
        </p:spPr>
        <p:txBody>
          <a:bodyPr wrap="square" lIns="0" tIns="0" rIns="0" bIns="0" rtlCol="0" anchor="t"/>
          <a:lstStyle/>
          <a:p>
            <a:pPr indent="0" marL="0">
              <a:buNone/>
            </a:pPr>
            <a:r>
              <a:rPr lang="en-US" sz="1150" dirty="0">
                <a:solidFill>
                  <a:srgbClr val="2B3A55"/>
                </a:solidFill>
              </a:rPr>
              <a:t>Facts missing for a rule: ask follow-up questions instead of guessing.</a:t>
            </a:r>
            <a:endParaRPr lang="en-US" sz="1150" dirty="0"/>
          </a:p>
        </p:txBody>
      </p:sp>
      <p:sp>
        <p:nvSpPr>
          <p:cNvPr id="35" name="text-373"/>
          <p:cNvSpPr txBox="1"/>
          <p:nvPr/>
        </p:nvSpPr>
        <p:spPr>
          <a:xfrm>
            <a:off x="7635240" y="1920240"/>
            <a:ext cx="4007815" cy="274320"/>
          </a:xfrm>
          <a:prstGeom prst="rect">
            <a:avLst/>
          </a:prstGeom>
          <a:noFill/>
          <a:ln/>
        </p:spPr>
        <p:txBody>
          <a:bodyPr wrap="square" lIns="0" tIns="0" rIns="0" bIns="0" rtlCol="0" anchor="t"/>
          <a:lstStyle/>
          <a:p>
            <a:pPr indent="0" marL="0">
              <a:buNone/>
            </a:pPr>
            <a:r>
              <a:rPr lang="en-US" sz="1400" b="1" dirty="0">
                <a:solidFill>
                  <a:srgbClr val="13203A"/>
                </a:solidFill>
              </a:rPr>
              <a:t>Output: validated JSON (illustrative)</a:t>
            </a:r>
            <a:endParaRPr lang="en-US" sz="1400" dirty="0"/>
          </a:p>
        </p:txBody>
      </p:sp>
      <p:sp>
        <p:nvSpPr>
          <p:cNvPr id="36" name="code-374"/>
          <p:cNvSpPr txBox="1"/>
          <p:nvPr/>
        </p:nvSpPr>
        <p:spPr>
          <a:xfrm>
            <a:off x="7635240" y="2267712"/>
            <a:ext cx="4007815" cy="2971800"/>
          </a:xfrm>
          <a:prstGeom prst="roundRect">
            <a:avLst>
              <a:gd name="adj" fmla="val 1846"/>
            </a:avLst>
          </a:prstGeom>
          <a:solidFill>
            <a:srgbClr val="F1F3F7"/>
          </a:solidFill>
          <a:ln w="9525">
            <a:solidFill>
              <a:srgbClr val="D5DBE5"/>
            </a:solidFill>
          </a:ln>
        </p:spPr>
        <p:txBody>
          <a:bodyPr wrap="square" lIns="1270" tIns="1524" rIns="1524" bIns="1270" rtlCol="0" anchor="t"/>
          <a:lstStyle/>
          <a:p>
            <a:pPr algn="l" indent="0" marL="0">
              <a:buNone/>
            </a:pPr>
            <a:r>
              <a:rPr lang="en-US" sz="1100" dirty="0">
                <a:solidFill>
                  <a:srgbClr val="13203A"/>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"tier": "high_risk",</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"reasons": [</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"Not a practice listed in Art. 5",</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"Recruitment use case, Annex III point 4"</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"citations": ["AIA-AnnexIII-4",</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"AIA-Art6-2"],</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"confidence": 0.9,</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"follow_up_questions": [],</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"disclaimer": "Information only,</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not legal advice."</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a:t>
            </a:r>
            <a:endParaRPr lang="en-US" sz="1100" dirty="0"/>
          </a:p>
        </p:txBody>
      </p:sp>
      <p:sp>
        <p:nvSpPr>
          <p:cNvPr id="37" name="box-375"/>
          <p:cNvSpPr/>
          <p:nvPr/>
        </p:nvSpPr>
        <p:spPr>
          <a:xfrm>
            <a:off x="7635240" y="5349240"/>
            <a:ext cx="4007815" cy="822960"/>
          </a:xfrm>
          <a:prstGeom prst="roundRect">
            <a:avLst>
              <a:gd name="adj" fmla="val 8889"/>
            </a:avLst>
          </a:prstGeom>
          <a:solidFill>
            <a:srgbClr val="FBEFD3"/>
          </a:solidFill>
          <a:ln/>
        </p:spPr>
      </p:sp>
      <p:sp>
        <p:nvSpPr>
          <p:cNvPr id="38" name="text-376"/>
          <p:cNvSpPr txBox="1"/>
          <p:nvPr/>
        </p:nvSpPr>
        <p:spPr>
          <a:xfrm>
            <a:off x="7772400" y="5349240"/>
            <a:ext cx="3733495" cy="822960"/>
          </a:xfrm>
          <a:prstGeom prst="rect">
            <a:avLst/>
          </a:prstGeom>
          <a:noFill/>
          <a:ln/>
        </p:spPr>
        <p:txBody>
          <a:bodyPr wrap="square" lIns="0" tIns="0" rIns="0" bIns="0" rtlCol="0" anchor="ctr"/>
          <a:lstStyle/>
          <a:p>
            <a:pPr indent="0" marL="0">
              <a:buNone/>
            </a:pPr>
            <a:r>
              <a:rPr lang="en-US" sz="1200" dirty="0">
                <a:solidFill>
                  <a:srgbClr val="13203A"/>
                </a:solidFill>
              </a:rPr>
              <a:t>AI Omnibus (Reg. 2026/1744): Annex III obligations now apply from 2 Dec 2027. The classification rules did not change.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7 OF 11  ·  API AND INTEGRATIONS</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One API, many front doors</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Every client is a thin HTTP caller of the same FastAPI service, so guards, logs and tests live in one place.</a:t>
            </a:r>
            <a:endParaRPr lang="en-US" sz="1600" dirty="0"/>
          </a:p>
        </p:txBody>
      </p:sp>
      <p:sp>
        <p:nvSpPr>
          <p:cNvPr id="6" name="chip-377"/>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378"/>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379"/>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step-380"/>
          <p:cNvSpPr txBox="1"/>
          <p:nvPr/>
        </p:nvSpPr>
        <p:spPr>
          <a:xfrm>
            <a:off x="548640" y="2057400"/>
            <a:ext cx="278892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Streamlit UI</a:t>
            </a:r>
            <a:endParaRPr lang="en-US" sz="1300" dirty="0"/>
          </a:p>
          <a:p>
            <a:pPr algn="ctr" indent="0" marL="0">
              <a:buNone/>
            </a:pPr>
            <a:r>
              <a:rPr lang="en-US" sz="1100" dirty="0">
                <a:solidFill>
                  <a:srgbClr val="2B3A55"/>
                </a:solidFill>
              </a:rPr>
              <a:t>ask and classify tabs</a:t>
            </a:r>
            <a:endParaRPr lang="en-US" sz="1300" dirty="0"/>
          </a:p>
        </p:txBody>
      </p:sp>
      <p:sp>
        <p:nvSpPr>
          <p:cNvPr id="10" name="arrow-381"/>
          <p:cNvSpPr/>
          <p:nvPr/>
        </p:nvSpPr>
        <p:spPr>
          <a:xfrm>
            <a:off x="3337560" y="2423160"/>
            <a:ext cx="731520" cy="0"/>
          </a:xfrm>
          <a:prstGeom prst="line">
            <a:avLst/>
          </a:prstGeom>
          <a:noFill/>
          <a:ln w="19050">
            <a:solidFill>
              <a:srgbClr val="5B6B82"/>
            </a:solidFill>
            <a:prstDash val="solid"/>
            <a:tailEnd type="triangle"/>
          </a:ln>
        </p:spPr>
      </p:sp>
      <p:sp>
        <p:nvSpPr>
          <p:cNvPr id="11" name="node-step-382"/>
          <p:cNvSpPr txBox="1"/>
          <p:nvPr/>
        </p:nvSpPr>
        <p:spPr>
          <a:xfrm>
            <a:off x="548640" y="2953512"/>
            <a:ext cx="278892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Slack /actwise</a:t>
            </a:r>
            <a:endParaRPr lang="en-US" sz="1300" dirty="0"/>
          </a:p>
          <a:p>
            <a:pPr algn="ctr" indent="0" marL="0">
              <a:buNone/>
            </a:pPr>
            <a:r>
              <a:rPr lang="en-US" sz="1100" dirty="0">
                <a:solidFill>
                  <a:srgbClr val="2B3A55"/>
                </a:solidFill>
              </a:rPr>
              <a:t>Socket Mode; ack within 3 s</a:t>
            </a:r>
            <a:endParaRPr lang="en-US" sz="1300" dirty="0"/>
          </a:p>
        </p:txBody>
      </p:sp>
      <p:sp>
        <p:nvSpPr>
          <p:cNvPr id="12" name="arrow-383"/>
          <p:cNvSpPr/>
          <p:nvPr/>
        </p:nvSpPr>
        <p:spPr>
          <a:xfrm>
            <a:off x="3337560" y="3319272"/>
            <a:ext cx="731520" cy="0"/>
          </a:xfrm>
          <a:prstGeom prst="line">
            <a:avLst/>
          </a:prstGeom>
          <a:noFill/>
          <a:ln w="19050">
            <a:solidFill>
              <a:srgbClr val="5B6B82"/>
            </a:solidFill>
            <a:prstDash val="solid"/>
            <a:tailEnd type="triangle"/>
          </a:ln>
        </p:spPr>
      </p:sp>
      <p:sp>
        <p:nvSpPr>
          <p:cNvPr id="13" name="node-step-384"/>
          <p:cNvSpPr txBox="1"/>
          <p:nvPr/>
        </p:nvSpPr>
        <p:spPr>
          <a:xfrm>
            <a:off x="548640" y="3849624"/>
            <a:ext cx="278892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MCP server</a:t>
            </a:r>
            <a:endParaRPr lang="en-US" sz="1300" dirty="0"/>
          </a:p>
          <a:p>
            <a:pPr algn="ctr" indent="0" marL="0">
              <a:buNone/>
            </a:pPr>
            <a:r>
              <a:rPr lang="en-US" sz="1100" dirty="0">
                <a:solidFill>
                  <a:srgbClr val="2B3A55"/>
                </a:solidFill>
              </a:rPr>
              <a:t>stdio; ask_ai_act, classify_ai_system</a:t>
            </a:r>
            <a:endParaRPr lang="en-US" sz="1300" dirty="0"/>
          </a:p>
        </p:txBody>
      </p:sp>
      <p:sp>
        <p:nvSpPr>
          <p:cNvPr id="14" name="arrow-385"/>
          <p:cNvSpPr/>
          <p:nvPr/>
        </p:nvSpPr>
        <p:spPr>
          <a:xfrm>
            <a:off x="3337560" y="4215384"/>
            <a:ext cx="731520" cy="0"/>
          </a:xfrm>
          <a:prstGeom prst="line">
            <a:avLst/>
          </a:prstGeom>
          <a:noFill/>
          <a:ln w="19050">
            <a:solidFill>
              <a:srgbClr val="5B6B82"/>
            </a:solidFill>
            <a:prstDash val="solid"/>
            <a:tailEnd type="triangle"/>
          </a:ln>
        </p:spPr>
      </p:sp>
      <p:sp>
        <p:nvSpPr>
          <p:cNvPr id="15" name="node-io-386"/>
          <p:cNvSpPr txBox="1"/>
          <p:nvPr/>
        </p:nvSpPr>
        <p:spPr>
          <a:xfrm>
            <a:off x="548640" y="4745736"/>
            <a:ext cx="2788920" cy="731520"/>
          </a:xfrm>
          <a:prstGeom prst="roundRect">
            <a:avLst>
              <a:gd name="adj" fmla="val 8750"/>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Any HTTP client</a:t>
            </a:r>
            <a:endParaRPr lang="en-US" sz="1300" dirty="0"/>
          </a:p>
          <a:p>
            <a:pPr algn="ctr" indent="0" marL="0">
              <a:buNone/>
            </a:pPr>
            <a:r>
              <a:rPr lang="en-US" sz="1100" dirty="0">
                <a:solidFill>
                  <a:srgbClr val="FFFFFF"/>
                </a:solidFill>
              </a:rPr>
              <a:t>curl, scripts</a:t>
            </a:r>
            <a:endParaRPr lang="en-US" sz="1300" dirty="0"/>
          </a:p>
        </p:txBody>
      </p:sp>
      <p:sp>
        <p:nvSpPr>
          <p:cNvPr id="16" name="arrow-387"/>
          <p:cNvSpPr/>
          <p:nvPr/>
        </p:nvSpPr>
        <p:spPr>
          <a:xfrm>
            <a:off x="3337560" y="5111496"/>
            <a:ext cx="731520" cy="0"/>
          </a:xfrm>
          <a:prstGeom prst="line">
            <a:avLst/>
          </a:prstGeom>
          <a:noFill/>
          <a:ln w="19050">
            <a:solidFill>
              <a:srgbClr val="5B6B82"/>
            </a:solidFill>
            <a:prstDash val="solid"/>
            <a:tailEnd type="triangle"/>
          </a:ln>
        </p:spPr>
      </p:sp>
      <p:sp>
        <p:nvSpPr>
          <p:cNvPr id="17" name="box-388"/>
          <p:cNvSpPr/>
          <p:nvPr/>
        </p:nvSpPr>
        <p:spPr>
          <a:xfrm>
            <a:off x="4069080" y="2057400"/>
            <a:ext cx="3931920" cy="3520440"/>
          </a:xfrm>
          <a:prstGeom prst="roundRect">
            <a:avLst>
              <a:gd name="adj" fmla="val 2078"/>
            </a:avLst>
          </a:prstGeom>
          <a:solidFill>
            <a:srgbClr val="FFFFFF"/>
          </a:solidFill>
          <a:ln w="19050">
            <a:solidFill>
              <a:srgbClr val="13203A"/>
            </a:solidFill>
            <a:prstDash val="solid"/>
          </a:ln>
        </p:spPr>
      </p:sp>
      <p:sp>
        <p:nvSpPr>
          <p:cNvPr id="18" name="text-389"/>
          <p:cNvSpPr txBox="1"/>
          <p:nvPr/>
        </p:nvSpPr>
        <p:spPr>
          <a:xfrm>
            <a:off x="4251960" y="2148840"/>
            <a:ext cx="3566160" cy="292608"/>
          </a:xfrm>
          <a:prstGeom prst="rect">
            <a:avLst/>
          </a:prstGeom>
          <a:noFill/>
          <a:ln/>
        </p:spPr>
        <p:txBody>
          <a:bodyPr wrap="square" lIns="0" tIns="0" rIns="0" bIns="0" rtlCol="0" anchor="t"/>
          <a:lstStyle/>
          <a:p>
            <a:pPr indent="0" marL="0">
              <a:buNone/>
            </a:pPr>
            <a:r>
              <a:rPr lang="en-US" sz="1500" b="1" dirty="0">
                <a:solidFill>
                  <a:srgbClr val="13203A"/>
                </a:solidFill>
              </a:rPr>
              <a:t>FastAPI on Cloud Run</a:t>
            </a:r>
            <a:endParaRPr lang="en-US" sz="1500" dirty="0"/>
          </a:p>
        </p:txBody>
      </p:sp>
      <p:sp>
        <p:nvSpPr>
          <p:cNvPr id="19" name="box-390"/>
          <p:cNvSpPr/>
          <p:nvPr/>
        </p:nvSpPr>
        <p:spPr>
          <a:xfrm>
            <a:off x="4251960" y="2514600"/>
            <a:ext cx="3566160" cy="566928"/>
          </a:xfrm>
          <a:prstGeom prst="roundRect">
            <a:avLst>
              <a:gd name="adj" fmla="val 12903"/>
            </a:avLst>
          </a:prstGeom>
          <a:solidFill>
            <a:srgbClr val="FBEFD3"/>
          </a:solidFill>
          <a:ln/>
        </p:spPr>
      </p:sp>
      <p:sp>
        <p:nvSpPr>
          <p:cNvPr id="20" name="text-391"/>
          <p:cNvSpPr txBox="1"/>
          <p:nvPr/>
        </p:nvSpPr>
        <p:spPr>
          <a:xfrm>
            <a:off x="4343400" y="2514600"/>
            <a:ext cx="3383280" cy="566928"/>
          </a:xfrm>
          <a:prstGeom prst="rect">
            <a:avLst/>
          </a:prstGeom>
          <a:noFill/>
          <a:ln/>
        </p:spPr>
        <p:txBody>
          <a:bodyPr wrap="square" lIns="0" tIns="0" rIns="0" bIns="0" rtlCol="0" anchor="ctr"/>
          <a:lstStyle/>
          <a:p>
            <a:pPr indent="0" marL="0">
              <a:buNone/>
            </a:pPr>
            <a:r>
              <a:rPr lang="en-US" sz="1200" dirty="0">
                <a:solidFill>
                  <a:srgbClr val="13203A"/>
                </a:solidFill>
              </a:rPr>
              <a:t>X-API-Key (optional) · daily cap of 200 on LLM endpoints, then 429</a:t>
            </a:r>
            <a:endParaRPr lang="en-US" sz="1200" dirty="0"/>
          </a:p>
        </p:txBody>
      </p:sp>
      <p:sp>
        <p:nvSpPr>
          <p:cNvPr id="21" name="chip-392"/>
          <p:cNvSpPr txBox="1"/>
          <p:nvPr/>
        </p:nvSpPr>
        <p:spPr>
          <a:xfrm>
            <a:off x="4251960" y="3282696"/>
            <a:ext cx="566928" cy="256032"/>
          </a:xfrm>
          <a:prstGeom prst="roundRect">
            <a:avLst>
              <a:gd name="adj" fmla="val 46429"/>
            </a:avLst>
          </a:prstGeom>
          <a:solidFill>
            <a:srgbClr val="D9DEE6"/>
          </a:solidFill>
          <a:ln/>
        </p:spPr>
        <p:txBody>
          <a:bodyPr wrap="square" lIns="0" tIns="0" rIns="0" bIns="0" rtlCol="0" anchor="ctr"/>
          <a:lstStyle/>
          <a:p>
            <a:pPr algn="ctr" indent="0" marL="0">
              <a:buNone/>
            </a:pPr>
            <a:r>
              <a:rPr lang="en-US" sz="1000" b="1" dirty="0">
                <a:solidFill>
                  <a:srgbClr val="2B3A55"/>
                </a:solidFill>
              </a:rPr>
              <a:t>GET</a:t>
            </a:r>
            <a:endParaRPr lang="en-US" sz="1000" dirty="0"/>
          </a:p>
        </p:txBody>
      </p:sp>
      <p:sp>
        <p:nvSpPr>
          <p:cNvPr id="22" name="text-393"/>
          <p:cNvSpPr txBox="1"/>
          <p:nvPr/>
        </p:nvSpPr>
        <p:spPr>
          <a:xfrm>
            <a:off x="4910328" y="3227832"/>
            <a:ext cx="1097280" cy="365760"/>
          </a:xfrm>
          <a:prstGeom prst="rect">
            <a:avLst/>
          </a:prstGeom>
          <a:noFill/>
          <a:ln/>
        </p:spPr>
        <p:txBody>
          <a:bodyPr wrap="square" lIns="0" tIns="0" rIns="0" bIns="0" rtlCol="0" anchor="ctr"/>
          <a:lstStyle/>
          <a:p>
            <a:pPr indent="0" marL="0">
              <a:buNone/>
            </a:pPr>
            <a:r>
              <a:rPr lang="en-US" sz="1250" b="1" dirty="0">
                <a:solidFill>
                  <a:srgbClr val="13203A"/>
                </a:solidFill>
                <a:latin typeface="Courier New" pitchFamily="34" charset="0"/>
                <a:ea typeface="Courier New" pitchFamily="34" charset="-122"/>
                <a:cs typeface="Courier New" pitchFamily="34" charset="-120"/>
              </a:rPr>
              <a:t>/health</a:t>
            </a:r>
            <a:endParaRPr lang="en-US" sz="1250" dirty="0"/>
          </a:p>
        </p:txBody>
      </p:sp>
      <p:sp>
        <p:nvSpPr>
          <p:cNvPr id="23" name="text-394"/>
          <p:cNvSpPr txBox="1"/>
          <p:nvPr/>
        </p:nvSpPr>
        <p:spPr>
          <a:xfrm>
            <a:off x="6035040" y="3227832"/>
            <a:ext cx="1828800" cy="365760"/>
          </a:xfrm>
          <a:prstGeom prst="rect">
            <a:avLst/>
          </a:prstGeom>
          <a:noFill/>
          <a:ln/>
        </p:spPr>
        <p:txBody>
          <a:bodyPr wrap="square" lIns="0" tIns="0" rIns="0" bIns="0" rtlCol="0" anchor="ctr"/>
          <a:lstStyle/>
          <a:p>
            <a:pPr indent="0" marL="0">
              <a:buNone/>
            </a:pPr>
            <a:r>
              <a:rPr lang="en-US" sz="1200" dirty="0">
                <a:solidFill>
                  <a:srgbClr val="2B3A55"/>
                </a:solidFill>
              </a:rPr>
              <a:t>liveness, version</a:t>
            </a:r>
            <a:endParaRPr lang="en-US" sz="1200" dirty="0"/>
          </a:p>
        </p:txBody>
      </p:sp>
      <p:sp>
        <p:nvSpPr>
          <p:cNvPr id="24" name="chip-395"/>
          <p:cNvSpPr txBox="1"/>
          <p:nvPr/>
        </p:nvSpPr>
        <p:spPr>
          <a:xfrm>
            <a:off x="4251960" y="3730752"/>
            <a:ext cx="566928" cy="256032"/>
          </a:xfrm>
          <a:prstGeom prst="roundRect">
            <a:avLst>
              <a:gd name="adj" fmla="val 46429"/>
            </a:avLst>
          </a:prstGeom>
          <a:solidFill>
            <a:srgbClr val="D9DEE6"/>
          </a:solidFill>
          <a:ln/>
        </p:spPr>
        <p:txBody>
          <a:bodyPr wrap="square" lIns="0" tIns="0" rIns="0" bIns="0" rtlCol="0" anchor="ctr"/>
          <a:lstStyle/>
          <a:p>
            <a:pPr algn="ctr" indent="0" marL="0">
              <a:buNone/>
            </a:pPr>
            <a:r>
              <a:rPr lang="en-US" sz="1000" b="1" dirty="0">
                <a:solidFill>
                  <a:srgbClr val="2B3A55"/>
                </a:solidFill>
              </a:rPr>
              <a:t>GET</a:t>
            </a:r>
            <a:endParaRPr lang="en-US" sz="1000" dirty="0"/>
          </a:p>
        </p:txBody>
      </p:sp>
      <p:sp>
        <p:nvSpPr>
          <p:cNvPr id="25" name="text-396"/>
          <p:cNvSpPr txBox="1"/>
          <p:nvPr/>
        </p:nvSpPr>
        <p:spPr>
          <a:xfrm>
            <a:off x="4910328" y="3675888"/>
            <a:ext cx="1097280" cy="365760"/>
          </a:xfrm>
          <a:prstGeom prst="rect">
            <a:avLst/>
          </a:prstGeom>
          <a:noFill/>
          <a:ln/>
        </p:spPr>
        <p:txBody>
          <a:bodyPr wrap="square" lIns="0" tIns="0" rIns="0" bIns="0" rtlCol="0" anchor="ctr"/>
          <a:lstStyle/>
          <a:p>
            <a:pPr indent="0" marL="0">
              <a:buNone/>
            </a:pPr>
            <a:r>
              <a:rPr lang="en-US" sz="1250" b="1" dirty="0">
                <a:solidFill>
                  <a:srgbClr val="13203A"/>
                </a:solidFill>
                <a:latin typeface="Courier New" pitchFamily="34" charset="0"/>
                <a:ea typeface="Courier New" pitchFamily="34" charset="-122"/>
                <a:cs typeface="Courier New" pitchFamily="34" charset="-120"/>
              </a:rPr>
              <a:t>/search</a:t>
            </a:r>
            <a:endParaRPr lang="en-US" sz="1250" dirty="0"/>
          </a:p>
        </p:txBody>
      </p:sp>
      <p:sp>
        <p:nvSpPr>
          <p:cNvPr id="26" name="text-397"/>
          <p:cNvSpPr txBox="1"/>
          <p:nvPr/>
        </p:nvSpPr>
        <p:spPr>
          <a:xfrm>
            <a:off x="6035040" y="3675888"/>
            <a:ext cx="1828800" cy="365760"/>
          </a:xfrm>
          <a:prstGeom prst="rect">
            <a:avLst/>
          </a:prstGeom>
          <a:noFill/>
          <a:ln/>
        </p:spPr>
        <p:txBody>
          <a:bodyPr wrap="square" lIns="0" tIns="0" rIns="0" bIns="0" rtlCol="0" anchor="ctr"/>
          <a:lstStyle/>
          <a:p>
            <a:pPr indent="0" marL="0">
              <a:buNone/>
            </a:pPr>
            <a:r>
              <a:rPr lang="en-US" sz="1200" dirty="0">
                <a:solidFill>
                  <a:srgbClr val="2B3A55"/>
                </a:solidFill>
              </a:rPr>
              <a:t>top chunks, no LLM, no cap</a:t>
            </a:r>
            <a:endParaRPr lang="en-US" sz="1200" dirty="0"/>
          </a:p>
        </p:txBody>
      </p:sp>
      <p:sp>
        <p:nvSpPr>
          <p:cNvPr id="27" name="chip-398"/>
          <p:cNvSpPr txBox="1"/>
          <p:nvPr/>
        </p:nvSpPr>
        <p:spPr>
          <a:xfrm>
            <a:off x="4251960" y="4178808"/>
            <a:ext cx="566928"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000" b="1" dirty="0">
                <a:solidFill>
                  <a:srgbClr val="FFFFFF"/>
                </a:solidFill>
              </a:rPr>
              <a:t>POST</a:t>
            </a:r>
            <a:endParaRPr lang="en-US" sz="1000" dirty="0"/>
          </a:p>
        </p:txBody>
      </p:sp>
      <p:sp>
        <p:nvSpPr>
          <p:cNvPr id="28" name="text-399"/>
          <p:cNvSpPr txBox="1"/>
          <p:nvPr/>
        </p:nvSpPr>
        <p:spPr>
          <a:xfrm>
            <a:off x="4910328" y="4123944"/>
            <a:ext cx="1097280" cy="365760"/>
          </a:xfrm>
          <a:prstGeom prst="rect">
            <a:avLst/>
          </a:prstGeom>
          <a:noFill/>
          <a:ln/>
        </p:spPr>
        <p:txBody>
          <a:bodyPr wrap="square" lIns="0" tIns="0" rIns="0" bIns="0" rtlCol="0" anchor="ctr"/>
          <a:lstStyle/>
          <a:p>
            <a:pPr indent="0" marL="0">
              <a:buNone/>
            </a:pPr>
            <a:r>
              <a:rPr lang="en-US" sz="1250" b="1" dirty="0">
                <a:solidFill>
                  <a:srgbClr val="13203A"/>
                </a:solidFill>
                <a:latin typeface="Courier New" pitchFamily="34" charset="0"/>
                <a:ea typeface="Courier New" pitchFamily="34" charset="-122"/>
                <a:cs typeface="Courier New" pitchFamily="34" charset="-120"/>
              </a:rPr>
              <a:t>/ask</a:t>
            </a:r>
            <a:endParaRPr lang="en-US" sz="1250" dirty="0"/>
          </a:p>
        </p:txBody>
      </p:sp>
      <p:sp>
        <p:nvSpPr>
          <p:cNvPr id="29" name="text-400"/>
          <p:cNvSpPr txBox="1"/>
          <p:nvPr/>
        </p:nvSpPr>
        <p:spPr>
          <a:xfrm>
            <a:off x="6035040" y="4123944"/>
            <a:ext cx="1828800" cy="365760"/>
          </a:xfrm>
          <a:prstGeom prst="rect">
            <a:avLst/>
          </a:prstGeom>
          <a:noFill/>
          <a:ln/>
        </p:spPr>
        <p:txBody>
          <a:bodyPr wrap="square" lIns="0" tIns="0" rIns="0" bIns="0" rtlCol="0" anchor="ctr"/>
          <a:lstStyle/>
          <a:p>
            <a:pPr indent="0" marL="0">
              <a:buNone/>
            </a:pPr>
            <a:r>
              <a:rPr lang="en-US" sz="1200" dirty="0">
                <a:solidFill>
                  <a:srgbClr val="2B3A55"/>
                </a:solidFill>
              </a:rPr>
              <a:t>cited answer</a:t>
            </a:r>
            <a:endParaRPr lang="en-US" sz="1200" dirty="0"/>
          </a:p>
        </p:txBody>
      </p:sp>
      <p:sp>
        <p:nvSpPr>
          <p:cNvPr id="30" name="chip-401"/>
          <p:cNvSpPr txBox="1"/>
          <p:nvPr/>
        </p:nvSpPr>
        <p:spPr>
          <a:xfrm>
            <a:off x="4251960" y="4626864"/>
            <a:ext cx="566928"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000" b="1" dirty="0">
                <a:solidFill>
                  <a:srgbClr val="FFFFFF"/>
                </a:solidFill>
              </a:rPr>
              <a:t>POST</a:t>
            </a:r>
            <a:endParaRPr lang="en-US" sz="1000" dirty="0"/>
          </a:p>
        </p:txBody>
      </p:sp>
      <p:sp>
        <p:nvSpPr>
          <p:cNvPr id="31" name="text-402"/>
          <p:cNvSpPr txBox="1"/>
          <p:nvPr/>
        </p:nvSpPr>
        <p:spPr>
          <a:xfrm>
            <a:off x="4910328" y="4572000"/>
            <a:ext cx="1097280" cy="365760"/>
          </a:xfrm>
          <a:prstGeom prst="rect">
            <a:avLst/>
          </a:prstGeom>
          <a:noFill/>
          <a:ln/>
        </p:spPr>
        <p:txBody>
          <a:bodyPr wrap="square" lIns="0" tIns="0" rIns="0" bIns="0" rtlCol="0" anchor="ctr"/>
          <a:lstStyle/>
          <a:p>
            <a:pPr indent="0" marL="0">
              <a:buNone/>
            </a:pPr>
            <a:r>
              <a:rPr lang="en-US" sz="1250" b="1" dirty="0">
                <a:solidFill>
                  <a:srgbClr val="13203A"/>
                </a:solidFill>
                <a:latin typeface="Courier New" pitchFamily="34" charset="0"/>
                <a:ea typeface="Courier New" pitchFamily="34" charset="-122"/>
                <a:cs typeface="Courier New" pitchFamily="34" charset="-120"/>
              </a:rPr>
              <a:t>/classify</a:t>
            </a:r>
            <a:endParaRPr lang="en-US" sz="1250" dirty="0"/>
          </a:p>
        </p:txBody>
      </p:sp>
      <p:sp>
        <p:nvSpPr>
          <p:cNvPr id="32" name="text-403"/>
          <p:cNvSpPr txBox="1"/>
          <p:nvPr/>
        </p:nvSpPr>
        <p:spPr>
          <a:xfrm>
            <a:off x="6035040" y="4572000"/>
            <a:ext cx="1828800" cy="365760"/>
          </a:xfrm>
          <a:prstGeom prst="rect">
            <a:avLst/>
          </a:prstGeom>
          <a:noFill/>
          <a:ln/>
        </p:spPr>
        <p:txBody>
          <a:bodyPr wrap="square" lIns="0" tIns="0" rIns="0" bIns="0" rtlCol="0" anchor="ctr"/>
          <a:lstStyle/>
          <a:p>
            <a:pPr indent="0" marL="0">
              <a:buNone/>
            </a:pPr>
            <a:r>
              <a:rPr lang="en-US" sz="1200" dirty="0">
                <a:solidFill>
                  <a:srgbClr val="2B3A55"/>
                </a:solidFill>
              </a:rPr>
              <a:t>risk tier</a:t>
            </a:r>
            <a:endParaRPr lang="en-US" sz="1200" dirty="0"/>
          </a:p>
        </p:txBody>
      </p:sp>
      <p:sp>
        <p:nvSpPr>
          <p:cNvPr id="33" name="chip-404"/>
          <p:cNvSpPr txBox="1"/>
          <p:nvPr/>
        </p:nvSpPr>
        <p:spPr>
          <a:xfrm>
            <a:off x="4251960" y="5074920"/>
            <a:ext cx="566928"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000" b="1" dirty="0">
                <a:solidFill>
                  <a:srgbClr val="FFFFFF"/>
                </a:solidFill>
              </a:rPr>
              <a:t>POST</a:t>
            </a:r>
            <a:endParaRPr lang="en-US" sz="1000" dirty="0"/>
          </a:p>
        </p:txBody>
      </p:sp>
      <p:sp>
        <p:nvSpPr>
          <p:cNvPr id="34" name="text-405"/>
          <p:cNvSpPr txBox="1"/>
          <p:nvPr/>
        </p:nvSpPr>
        <p:spPr>
          <a:xfrm>
            <a:off x="4910328" y="5020056"/>
            <a:ext cx="1097280" cy="365760"/>
          </a:xfrm>
          <a:prstGeom prst="rect">
            <a:avLst/>
          </a:prstGeom>
          <a:noFill/>
          <a:ln/>
        </p:spPr>
        <p:txBody>
          <a:bodyPr wrap="square" lIns="0" tIns="0" rIns="0" bIns="0" rtlCol="0" anchor="ctr"/>
          <a:lstStyle/>
          <a:p>
            <a:pPr indent="0" marL="0">
              <a:buNone/>
            </a:pPr>
            <a:r>
              <a:rPr lang="en-US" sz="1250" b="1" dirty="0">
                <a:solidFill>
                  <a:srgbClr val="13203A"/>
                </a:solidFill>
                <a:latin typeface="Courier New" pitchFamily="34" charset="0"/>
                <a:ea typeface="Courier New" pitchFamily="34" charset="-122"/>
                <a:cs typeface="Courier New" pitchFamily="34" charset="-120"/>
              </a:rPr>
              <a:t>/upload</a:t>
            </a:r>
            <a:endParaRPr lang="en-US" sz="1250" dirty="0"/>
          </a:p>
        </p:txBody>
      </p:sp>
      <p:sp>
        <p:nvSpPr>
          <p:cNvPr id="35" name="text-406"/>
          <p:cNvSpPr txBox="1"/>
          <p:nvPr/>
        </p:nvSpPr>
        <p:spPr>
          <a:xfrm>
            <a:off x="6035040" y="5020056"/>
            <a:ext cx="1828800" cy="365760"/>
          </a:xfrm>
          <a:prstGeom prst="rect">
            <a:avLst/>
          </a:prstGeom>
          <a:noFill/>
          <a:ln/>
        </p:spPr>
        <p:txBody>
          <a:bodyPr wrap="square" lIns="0" tIns="0" rIns="0" bIns="0" rtlCol="0" anchor="ctr"/>
          <a:lstStyle/>
          <a:p>
            <a:pPr indent="0" marL="0">
              <a:buNone/>
            </a:pPr>
            <a:r>
              <a:rPr lang="en-US" sz="1200" dirty="0">
                <a:solidFill>
                  <a:srgbClr val="2B3A55"/>
                </a:solidFill>
              </a:rPr>
              <a:t>file, then classify</a:t>
            </a:r>
            <a:endParaRPr lang="en-US" sz="1200" dirty="0"/>
          </a:p>
        </p:txBody>
      </p:sp>
      <p:sp>
        <p:nvSpPr>
          <p:cNvPr id="36" name="node-step-407"/>
          <p:cNvSpPr txBox="1"/>
          <p:nvPr/>
        </p:nvSpPr>
        <p:spPr>
          <a:xfrm>
            <a:off x="8412480" y="2057400"/>
            <a:ext cx="3230575" cy="1024128"/>
          </a:xfrm>
          <a:prstGeom prst="roundRect">
            <a:avLst>
              <a:gd name="adj" fmla="val 62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Google Sheets register</a:t>
            </a:r>
            <a:endParaRPr lang="en-US" sz="1300" dirty="0"/>
          </a:p>
          <a:p>
            <a:pPr algn="ctr" indent="0" marL="0">
              <a:buNone/>
            </a:pPr>
            <a:r>
              <a:rPr lang="en-US" sz="1100" dirty="0">
                <a:solidFill>
                  <a:srgbClr val="2B3A55"/>
                </a:solidFill>
              </a:rPr>
              <a:t>time · hash · tier · confidence · IDs · model</a:t>
            </a:r>
            <a:endParaRPr lang="en-US" sz="1300" dirty="0"/>
          </a:p>
        </p:txBody>
      </p:sp>
      <p:sp>
        <p:nvSpPr>
          <p:cNvPr id="37" name="arrow-408"/>
          <p:cNvSpPr/>
          <p:nvPr/>
        </p:nvSpPr>
        <p:spPr>
          <a:xfrm>
            <a:off x="8001000" y="2569464"/>
            <a:ext cx="411480" cy="0"/>
          </a:xfrm>
          <a:prstGeom prst="line">
            <a:avLst/>
          </a:prstGeom>
          <a:noFill/>
          <a:ln w="19050">
            <a:solidFill>
              <a:srgbClr val="5B6B82"/>
            </a:solidFill>
            <a:prstDash val="solid"/>
            <a:tailEnd type="triangle"/>
          </a:ln>
        </p:spPr>
      </p:sp>
      <p:sp>
        <p:nvSpPr>
          <p:cNvPr id="38" name="node-step-409"/>
          <p:cNvSpPr txBox="1"/>
          <p:nvPr/>
        </p:nvSpPr>
        <p:spPr>
          <a:xfrm>
            <a:off x="8412480" y="3310128"/>
            <a:ext cx="3230575" cy="1024128"/>
          </a:xfrm>
          <a:prstGeom prst="roundRect">
            <a:avLst>
              <a:gd name="adj" fmla="val 62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File upload</a:t>
            </a:r>
            <a:endParaRPr lang="en-US" sz="1300" dirty="0"/>
          </a:p>
          <a:p>
            <a:pPr algn="ctr" indent="0" marL="0">
              <a:buNone/>
            </a:pPr>
            <a:r>
              <a:rPr lang="en-US" sz="1100" dirty="0">
                <a:solidFill>
                  <a:srgbClr val="2B3A55"/>
                </a:solidFill>
              </a:rPr>
              <a:t>PDF, DOCX or TXT up to 2 MB; text cut at 20,000 characters</a:t>
            </a:r>
            <a:endParaRPr lang="en-US" sz="1300" dirty="0"/>
          </a:p>
        </p:txBody>
      </p:sp>
      <p:sp>
        <p:nvSpPr>
          <p:cNvPr id="39" name="arrow-410"/>
          <p:cNvSpPr/>
          <p:nvPr/>
        </p:nvSpPr>
        <p:spPr>
          <a:xfrm>
            <a:off x="8001000" y="3822192"/>
            <a:ext cx="411480" cy="0"/>
          </a:xfrm>
          <a:prstGeom prst="line">
            <a:avLst/>
          </a:prstGeom>
          <a:noFill/>
          <a:ln w="19050">
            <a:solidFill>
              <a:srgbClr val="5B6B82"/>
            </a:solidFill>
            <a:prstDash val="solid"/>
            <a:tailEnd type="triangle"/>
          </a:ln>
        </p:spPr>
      </p:sp>
      <p:sp>
        <p:nvSpPr>
          <p:cNvPr id="40" name="node-step-411"/>
          <p:cNvSpPr txBox="1"/>
          <p:nvPr/>
        </p:nvSpPr>
        <p:spPr>
          <a:xfrm>
            <a:off x="8412480" y="4562856"/>
            <a:ext cx="3230575" cy="868680"/>
          </a:xfrm>
          <a:prstGeom prst="roundRect">
            <a:avLst>
              <a:gd name="adj" fmla="val 7368"/>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Langfuse + JSON logs</a:t>
            </a:r>
            <a:endParaRPr lang="en-US" sz="1300" dirty="0"/>
          </a:p>
          <a:p>
            <a:pPr algn="ctr" indent="0" marL="0">
              <a:buNone/>
            </a:pPr>
            <a:r>
              <a:rPr lang="en-US" sz="1100" dirty="0">
                <a:solidFill>
                  <a:srgbClr val="2B3A55"/>
                </a:solidFill>
              </a:rPr>
              <a:t>traces, tokens, latency (stage 11)</a:t>
            </a:r>
            <a:endParaRPr lang="en-US" sz="1300" dirty="0"/>
          </a:p>
        </p:txBody>
      </p:sp>
      <p:sp>
        <p:nvSpPr>
          <p:cNvPr id="41" name="arrow-412"/>
          <p:cNvSpPr/>
          <p:nvPr/>
        </p:nvSpPr>
        <p:spPr>
          <a:xfrm>
            <a:off x="8001000" y="4997196"/>
            <a:ext cx="411480" cy="0"/>
          </a:xfrm>
          <a:prstGeom prst="line">
            <a:avLst/>
          </a:prstGeom>
          <a:noFill/>
          <a:ln w="19050">
            <a:solidFill>
              <a:srgbClr val="5B6B82"/>
            </a:solidFill>
            <a:prstDash val="solid"/>
            <a:tailEnd type="triangle"/>
          </a:ln>
        </p:spPr>
      </p:sp>
      <p:sp>
        <p:nvSpPr>
          <p:cNvPr id="42" name="box-413"/>
          <p:cNvSpPr/>
          <p:nvPr/>
        </p:nvSpPr>
        <p:spPr>
          <a:xfrm>
            <a:off x="548640" y="5669280"/>
            <a:ext cx="11094415" cy="530352"/>
          </a:xfrm>
          <a:prstGeom prst="roundRect">
            <a:avLst>
              <a:gd name="adj" fmla="val 13793"/>
            </a:avLst>
          </a:prstGeom>
          <a:solidFill>
            <a:srgbClr val="EEF1F6"/>
          </a:solidFill>
          <a:ln/>
        </p:spPr>
      </p:sp>
      <p:sp>
        <p:nvSpPr>
          <p:cNvPr id="43" name="text-414"/>
          <p:cNvSpPr txBox="1"/>
          <p:nvPr/>
        </p:nvSpPr>
        <p:spPr>
          <a:xfrm>
            <a:off x="731520" y="5669280"/>
            <a:ext cx="10728655" cy="530352"/>
          </a:xfrm>
          <a:prstGeom prst="rect">
            <a:avLst/>
          </a:prstGeom>
          <a:noFill/>
          <a:ln/>
        </p:spPr>
        <p:txBody>
          <a:bodyPr wrap="square" lIns="0" tIns="0" rIns="0" bIns="0" rtlCol="0" anchor="ctr"/>
          <a:lstStyle/>
          <a:p>
            <a:pPr indent="0" marL="0">
              <a:buNone/>
            </a:pPr>
            <a:r>
              <a:rPr lang="en-US" sz="1250" dirty="0">
                <a:solidFill>
                  <a:srgbClr val="2B3A55"/>
                </a:solidFill>
              </a:rPr>
              <a:t>Privacy by design: the register stores a 12-character hash of the description, never the text. A Sheets outage is ignored, so /classify still answers.</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8 OF 11  ·  EVALUATION</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The evaluation harness</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Split by article first, then build questions, then score. Retrieval runs on every PR; LLM scoring runs weekly from a cache.</a:t>
            </a:r>
            <a:endParaRPr lang="en-US" sz="1600" dirty="0"/>
          </a:p>
        </p:txBody>
      </p:sp>
      <p:sp>
        <p:nvSpPr>
          <p:cNvPr id="6" name="chip-415"/>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416"/>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417"/>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store-418"/>
          <p:cNvSpPr txBox="1"/>
          <p:nvPr/>
        </p:nvSpPr>
        <p:spPr>
          <a:xfrm>
            <a:off x="548640" y="2029968"/>
            <a:ext cx="1508760" cy="731520"/>
          </a:xfrm>
          <a:prstGeom prst="can">
            <a:avLst/>
          </a:prstGeom>
          <a:solidFill>
            <a:srgbClr val="14917F"/>
          </a:solidFill>
          <a:ln/>
        </p:spPr>
        <p:txBody>
          <a:bodyPr wrap="square" lIns="381" tIns="889" rIns="889" bIns="381"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chunks.jsonl</a:t>
            </a:r>
            <a:endParaRPr lang="en-US" sz="1250" dirty="0"/>
          </a:p>
        </p:txBody>
      </p:sp>
      <p:sp>
        <p:nvSpPr>
          <p:cNvPr id="10" name="arrow-419"/>
          <p:cNvSpPr/>
          <p:nvPr/>
        </p:nvSpPr>
        <p:spPr>
          <a:xfrm>
            <a:off x="2057400" y="2395728"/>
            <a:ext cx="256032" cy="0"/>
          </a:xfrm>
          <a:prstGeom prst="line">
            <a:avLst/>
          </a:prstGeom>
          <a:noFill/>
          <a:ln w="19050">
            <a:solidFill>
              <a:srgbClr val="5B6B82"/>
            </a:solidFill>
            <a:prstDash val="solid"/>
            <a:tailEnd type="triangle"/>
          </a:ln>
        </p:spPr>
      </p:sp>
      <p:sp>
        <p:nvSpPr>
          <p:cNvPr id="11" name="node-step-420"/>
          <p:cNvSpPr txBox="1"/>
          <p:nvPr/>
        </p:nvSpPr>
        <p:spPr>
          <a:xfrm>
            <a:off x="2313432" y="2029968"/>
            <a:ext cx="150876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latin typeface="Courier New" pitchFamily="34" charset="0"/>
                <a:ea typeface="Courier New" pitchFamily="34" charset="-122"/>
                <a:cs typeface="Courier New" pitchFamily="34" charset="-120"/>
              </a:rPr>
              <a:t>splits.json</a:t>
            </a:r>
            <a:endParaRPr lang="en-US" sz="1250" dirty="0"/>
          </a:p>
        </p:txBody>
      </p:sp>
      <p:sp>
        <p:nvSpPr>
          <p:cNvPr id="12" name="arrow-421"/>
          <p:cNvSpPr/>
          <p:nvPr/>
        </p:nvSpPr>
        <p:spPr>
          <a:xfrm>
            <a:off x="3822192" y="2395728"/>
            <a:ext cx="256032" cy="0"/>
          </a:xfrm>
          <a:prstGeom prst="line">
            <a:avLst/>
          </a:prstGeom>
          <a:noFill/>
          <a:ln w="19050">
            <a:solidFill>
              <a:srgbClr val="5B6B82"/>
            </a:solidFill>
            <a:prstDash val="solid"/>
            <a:tailEnd type="triangle"/>
          </a:ln>
        </p:spPr>
      </p:sp>
      <p:sp>
        <p:nvSpPr>
          <p:cNvPr id="13" name="node-store-422"/>
          <p:cNvSpPr txBox="1"/>
          <p:nvPr/>
        </p:nvSpPr>
        <p:spPr>
          <a:xfrm>
            <a:off x="4078224" y="2029968"/>
            <a:ext cx="1508760" cy="731520"/>
          </a:xfrm>
          <a:prstGeom prst="can">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latin typeface="Courier New" pitchFamily="34" charset="0"/>
                <a:ea typeface="Courier New" pitchFamily="34" charset="-122"/>
                <a:cs typeface="Courier New" pitchFamily="34" charset="-120"/>
              </a:rPr>
              <a:t>golden_qa.jsonl</a:t>
            </a:r>
            <a:endParaRPr lang="en-US" sz="1250" dirty="0"/>
          </a:p>
        </p:txBody>
      </p:sp>
      <p:sp>
        <p:nvSpPr>
          <p:cNvPr id="14" name="arrow-423"/>
          <p:cNvSpPr/>
          <p:nvPr/>
        </p:nvSpPr>
        <p:spPr>
          <a:xfrm>
            <a:off x="5586984" y="2395728"/>
            <a:ext cx="256032" cy="0"/>
          </a:xfrm>
          <a:prstGeom prst="line">
            <a:avLst/>
          </a:prstGeom>
          <a:noFill/>
          <a:ln w="19050">
            <a:solidFill>
              <a:srgbClr val="5B6B82"/>
            </a:solidFill>
            <a:prstDash val="solid"/>
            <a:tailEnd type="triangle"/>
          </a:ln>
        </p:spPr>
      </p:sp>
      <p:sp>
        <p:nvSpPr>
          <p:cNvPr id="15" name="node-step-424"/>
          <p:cNvSpPr txBox="1"/>
          <p:nvPr/>
        </p:nvSpPr>
        <p:spPr>
          <a:xfrm>
            <a:off x="5843016" y="2029968"/>
            <a:ext cx="1508760" cy="731520"/>
          </a:xfrm>
          <a:prstGeom prst="roundRect">
            <a:avLst>
              <a:gd name="adj" fmla="val 875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latin typeface="Courier New" pitchFamily="34" charset="0"/>
                <a:ea typeface="Courier New" pitchFamily="34" charset="-122"/>
                <a:cs typeface="Courier New" pitchFamily="34" charset="-120"/>
              </a:rPr>
              <a:t>run_eval.py</a:t>
            </a:r>
            <a:endParaRPr lang="en-US" sz="1250" dirty="0"/>
          </a:p>
        </p:txBody>
      </p:sp>
      <p:sp>
        <p:nvSpPr>
          <p:cNvPr id="16" name="text-425"/>
          <p:cNvSpPr txBox="1"/>
          <p:nvPr/>
        </p:nvSpPr>
        <p:spPr>
          <a:xfrm>
            <a:off x="576072" y="2852928"/>
            <a:ext cx="1453896" cy="868680"/>
          </a:xfrm>
          <a:prstGeom prst="rect">
            <a:avLst/>
          </a:prstGeom>
          <a:noFill/>
          <a:ln/>
        </p:spPr>
        <p:txBody>
          <a:bodyPr wrap="square" lIns="0" tIns="0" rIns="0" bIns="0" rtlCol="0" anchor="t"/>
          <a:lstStyle/>
          <a:p>
            <a:pPr indent="0" marL="0">
              <a:buNone/>
            </a:pPr>
            <a:r>
              <a:rPr lang="en-US" sz="1150" dirty="0">
                <a:solidFill>
                  <a:srgbClr val="2B3A55"/>
                </a:solidFill>
              </a:rPr>
              <a:t>3,799 chunks; unit of the split is the article</a:t>
            </a:r>
            <a:endParaRPr lang="en-US" sz="1150" dirty="0"/>
          </a:p>
        </p:txBody>
      </p:sp>
      <p:sp>
        <p:nvSpPr>
          <p:cNvPr id="17" name="text-426"/>
          <p:cNvSpPr txBox="1"/>
          <p:nvPr/>
        </p:nvSpPr>
        <p:spPr>
          <a:xfrm>
            <a:off x="2340864" y="2852928"/>
            <a:ext cx="1453896" cy="868680"/>
          </a:xfrm>
          <a:prstGeom prst="rect">
            <a:avLst/>
          </a:prstGeom>
          <a:noFill/>
          <a:ln/>
        </p:spPr>
        <p:txBody>
          <a:bodyPr wrap="square" lIns="0" tIns="0" rIns="0" bIns="0" rtlCol="0" anchor="t"/>
          <a:lstStyle/>
          <a:p>
            <a:pPr indent="0" marL="0">
              <a:buNone/>
            </a:pPr>
            <a:r>
              <a:rPr lang="en-US" sz="1150" dirty="0">
                <a:solidFill>
                  <a:srgbClr val="2B3A55"/>
                </a:solidFill>
              </a:rPr>
              <a:t>70 / 15 / 15 by article, seed 42; no leakage</a:t>
            </a:r>
            <a:endParaRPr lang="en-US" sz="1150" dirty="0"/>
          </a:p>
        </p:txBody>
      </p:sp>
      <p:sp>
        <p:nvSpPr>
          <p:cNvPr id="18" name="text-427"/>
          <p:cNvSpPr txBox="1"/>
          <p:nvPr/>
        </p:nvSpPr>
        <p:spPr>
          <a:xfrm>
            <a:off x="4105656" y="2852928"/>
            <a:ext cx="1453896" cy="868680"/>
          </a:xfrm>
          <a:prstGeom prst="rect">
            <a:avLst/>
          </a:prstGeom>
          <a:noFill/>
          <a:ln/>
        </p:spPr>
        <p:txBody>
          <a:bodyPr wrap="square" lIns="0" tIns="0" rIns="0" bIns="0" rtlCol="0" anchor="t"/>
          <a:lstStyle/>
          <a:p>
            <a:pPr indent="0" marL="0">
              <a:buNone/>
            </a:pPr>
            <a:r>
              <a:rPr lang="en-US" sz="1150" dirty="0">
                <a:solidFill>
                  <a:srgbClr val="2B3A55"/>
                </a:solidFill>
              </a:rPr>
              <a:t>50 hand-written + 100 synthetic, all reviewed; 30% French; 5 types</a:t>
            </a:r>
            <a:endParaRPr lang="en-US" sz="1150" dirty="0"/>
          </a:p>
        </p:txBody>
      </p:sp>
      <p:sp>
        <p:nvSpPr>
          <p:cNvPr id="19" name="text-428"/>
          <p:cNvSpPr txBox="1"/>
          <p:nvPr/>
        </p:nvSpPr>
        <p:spPr>
          <a:xfrm>
            <a:off x="5870448" y="2852928"/>
            <a:ext cx="1453896" cy="868680"/>
          </a:xfrm>
          <a:prstGeom prst="rect">
            <a:avLst/>
          </a:prstGeom>
          <a:noFill/>
          <a:ln/>
        </p:spPr>
        <p:txBody>
          <a:bodyPr wrap="square" lIns="0" tIns="0" rIns="0" bIns="0" rtlCol="0" anchor="t"/>
          <a:lstStyle/>
          <a:p>
            <a:pPr indent="0" marL="0">
              <a:buNone/>
            </a:pPr>
            <a:r>
              <a:rPr lang="en-US" sz="1150" dirty="0">
                <a:solidFill>
                  <a:srgbClr val="2B3A55"/>
                </a:solidFill>
              </a:rPr>
              <a:t>--split dev|test  --llm on|off  --slice 0/3</a:t>
            </a:r>
            <a:endParaRPr lang="en-US" sz="1150" dirty="0"/>
          </a:p>
        </p:txBody>
      </p:sp>
      <p:sp>
        <p:nvSpPr>
          <p:cNvPr id="20" name="node-step-429"/>
          <p:cNvSpPr txBox="1"/>
          <p:nvPr/>
        </p:nvSpPr>
        <p:spPr>
          <a:xfrm>
            <a:off x="7763256" y="1901952"/>
            <a:ext cx="2057400" cy="566928"/>
          </a:xfrm>
          <a:prstGeom prst="roundRect">
            <a:avLst>
              <a:gd name="adj" fmla="val 1129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Retrieval metrics</a:t>
            </a:r>
            <a:endParaRPr lang="en-US" sz="1250" dirty="0"/>
          </a:p>
          <a:p>
            <a:pPr algn="ctr" indent="0" marL="0">
              <a:buNone/>
            </a:pPr>
            <a:r>
              <a:rPr lang="en-US" sz="1050" dirty="0">
                <a:solidFill>
                  <a:srgbClr val="2B3A55"/>
                </a:solidFill>
              </a:rPr>
              <a:t>no LLM · every PR · gate -2 pts</a:t>
            </a:r>
            <a:endParaRPr lang="en-US" sz="1250" dirty="0"/>
          </a:p>
        </p:txBody>
      </p:sp>
      <p:sp>
        <p:nvSpPr>
          <p:cNvPr id="21" name="node-step-430"/>
          <p:cNvSpPr txBox="1"/>
          <p:nvPr/>
        </p:nvSpPr>
        <p:spPr>
          <a:xfrm>
            <a:off x="7763256" y="2697480"/>
            <a:ext cx="2057400" cy="566928"/>
          </a:xfrm>
          <a:prstGeom prst="roundRect">
            <a:avLst>
              <a:gd name="adj" fmla="val 1129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Generation metrics</a:t>
            </a:r>
            <a:endParaRPr lang="en-US" sz="1250" dirty="0"/>
          </a:p>
          <a:p>
            <a:pPr algn="ctr" indent="0" marL="0">
              <a:buNone/>
            </a:pPr>
            <a:r>
              <a:rPr lang="en-US" sz="1050" dirty="0">
                <a:solidFill>
                  <a:srgbClr val="2B3A55"/>
                </a:solidFill>
              </a:rPr>
              <a:t>LLM judge · weekly · cached</a:t>
            </a:r>
            <a:endParaRPr lang="en-US" sz="1250" dirty="0"/>
          </a:p>
        </p:txBody>
      </p:sp>
      <p:sp>
        <p:nvSpPr>
          <p:cNvPr id="22" name="arrow-431"/>
          <p:cNvSpPr/>
          <p:nvPr/>
        </p:nvSpPr>
        <p:spPr>
          <a:xfrm>
            <a:off x="7351776" y="2258568"/>
            <a:ext cx="182880" cy="0"/>
          </a:xfrm>
          <a:prstGeom prst="line">
            <a:avLst/>
          </a:prstGeom>
          <a:noFill/>
          <a:ln w="19050">
            <a:solidFill>
              <a:srgbClr val="5B6B82"/>
            </a:solidFill>
            <a:prstDash val="solid"/>
          </a:ln>
        </p:spPr>
      </p:sp>
      <p:sp>
        <p:nvSpPr>
          <p:cNvPr id="23" name="arrow-432"/>
          <p:cNvSpPr/>
          <p:nvPr/>
        </p:nvSpPr>
        <p:spPr>
          <a:xfrm flipV="1">
            <a:off x="7534656" y="2185416"/>
            <a:ext cx="0" cy="73152"/>
          </a:xfrm>
          <a:prstGeom prst="line">
            <a:avLst/>
          </a:prstGeom>
          <a:noFill/>
          <a:ln w="19050">
            <a:solidFill>
              <a:srgbClr val="5B6B82"/>
            </a:solidFill>
            <a:prstDash val="solid"/>
          </a:ln>
        </p:spPr>
      </p:sp>
      <p:sp>
        <p:nvSpPr>
          <p:cNvPr id="24" name="arrow-433"/>
          <p:cNvSpPr/>
          <p:nvPr/>
        </p:nvSpPr>
        <p:spPr>
          <a:xfrm>
            <a:off x="7534656" y="2185416"/>
            <a:ext cx="228600" cy="0"/>
          </a:xfrm>
          <a:prstGeom prst="line">
            <a:avLst/>
          </a:prstGeom>
          <a:noFill/>
          <a:ln w="19050">
            <a:solidFill>
              <a:srgbClr val="5B6B82"/>
            </a:solidFill>
            <a:prstDash val="solid"/>
            <a:tailEnd type="triangle"/>
          </a:ln>
        </p:spPr>
      </p:sp>
      <p:sp>
        <p:nvSpPr>
          <p:cNvPr id="25" name="arrow-434"/>
          <p:cNvSpPr/>
          <p:nvPr/>
        </p:nvSpPr>
        <p:spPr>
          <a:xfrm>
            <a:off x="7351776" y="2532888"/>
            <a:ext cx="182880" cy="0"/>
          </a:xfrm>
          <a:prstGeom prst="line">
            <a:avLst/>
          </a:prstGeom>
          <a:noFill/>
          <a:ln w="19050">
            <a:solidFill>
              <a:srgbClr val="5B6B82"/>
            </a:solidFill>
            <a:prstDash val="solid"/>
          </a:ln>
        </p:spPr>
      </p:sp>
      <p:sp>
        <p:nvSpPr>
          <p:cNvPr id="26" name="arrow-435"/>
          <p:cNvSpPr/>
          <p:nvPr/>
        </p:nvSpPr>
        <p:spPr>
          <a:xfrm>
            <a:off x="7534656" y="2532888"/>
            <a:ext cx="0" cy="448056"/>
          </a:xfrm>
          <a:prstGeom prst="line">
            <a:avLst/>
          </a:prstGeom>
          <a:noFill/>
          <a:ln w="19050">
            <a:solidFill>
              <a:srgbClr val="5B6B82"/>
            </a:solidFill>
            <a:prstDash val="solid"/>
          </a:ln>
        </p:spPr>
      </p:sp>
      <p:sp>
        <p:nvSpPr>
          <p:cNvPr id="27" name="arrow-436"/>
          <p:cNvSpPr/>
          <p:nvPr/>
        </p:nvSpPr>
        <p:spPr>
          <a:xfrm>
            <a:off x="7534656" y="2980944"/>
            <a:ext cx="228600" cy="0"/>
          </a:xfrm>
          <a:prstGeom prst="line">
            <a:avLst/>
          </a:prstGeom>
          <a:noFill/>
          <a:ln w="19050">
            <a:solidFill>
              <a:srgbClr val="5B6B82"/>
            </a:solidFill>
            <a:prstDash val="solid"/>
            <a:tailEnd type="triangle"/>
          </a:ln>
        </p:spPr>
      </p:sp>
      <p:sp>
        <p:nvSpPr>
          <p:cNvPr id="28" name="node-store-437"/>
          <p:cNvSpPr txBox="1"/>
          <p:nvPr/>
        </p:nvSpPr>
        <p:spPr>
          <a:xfrm>
            <a:off x="10094976" y="2029968"/>
            <a:ext cx="1548079" cy="731520"/>
          </a:xfrm>
          <a:prstGeom prst="can">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00" b="1" dirty="0">
                <a:solidFill>
                  <a:srgbClr val="2B3A55"/>
                </a:solidFill>
              </a:rPr>
              <a:t>evals/reports</a:t>
            </a:r>
            <a:endParaRPr lang="en-US" sz="1200" dirty="0"/>
          </a:p>
          <a:p>
            <a:pPr algn="ctr" indent="0" marL="0">
              <a:buNone/>
            </a:pPr>
            <a:r>
              <a:rPr lang="en-US" sz="1050" dirty="0">
                <a:solidFill>
                  <a:srgbClr val="2B3A55"/>
                </a:solidFill>
              </a:rPr>
              <a:t>JSON + markdown</a:t>
            </a:r>
            <a:endParaRPr lang="en-US" sz="1200" dirty="0"/>
          </a:p>
        </p:txBody>
      </p:sp>
      <p:sp>
        <p:nvSpPr>
          <p:cNvPr id="29" name="arrow-438"/>
          <p:cNvSpPr/>
          <p:nvPr/>
        </p:nvSpPr>
        <p:spPr>
          <a:xfrm>
            <a:off x="9820656" y="2185416"/>
            <a:ext cx="274320" cy="118872"/>
          </a:xfrm>
          <a:prstGeom prst="line">
            <a:avLst/>
          </a:prstGeom>
          <a:noFill/>
          <a:ln w="19050">
            <a:solidFill>
              <a:srgbClr val="5B6B82"/>
            </a:solidFill>
            <a:prstDash val="solid"/>
            <a:tailEnd type="triangle"/>
          </a:ln>
        </p:spPr>
      </p:sp>
      <p:sp>
        <p:nvSpPr>
          <p:cNvPr id="30" name="arrow-439"/>
          <p:cNvSpPr/>
          <p:nvPr/>
        </p:nvSpPr>
        <p:spPr>
          <a:xfrm flipV="1">
            <a:off x="9820656" y="2532888"/>
            <a:ext cx="274320" cy="448056"/>
          </a:xfrm>
          <a:prstGeom prst="line">
            <a:avLst/>
          </a:prstGeom>
          <a:noFill/>
          <a:ln w="19050">
            <a:solidFill>
              <a:srgbClr val="5B6B82"/>
            </a:solidFill>
            <a:prstDash val="solid"/>
            <a:tailEnd type="triangle"/>
          </a:ln>
        </p:spPr>
      </p:sp>
      <p:sp>
        <p:nvSpPr>
          <p:cNvPr id="31" name="text-440"/>
          <p:cNvSpPr txBox="1"/>
          <p:nvPr/>
        </p:nvSpPr>
        <p:spPr>
          <a:xfrm>
            <a:off x="7763256" y="3383280"/>
            <a:ext cx="3879799" cy="365760"/>
          </a:xfrm>
          <a:prstGeom prst="rect">
            <a:avLst/>
          </a:prstGeom>
          <a:noFill/>
          <a:ln/>
        </p:spPr>
        <p:txBody>
          <a:bodyPr wrap="square" lIns="0" tIns="0" rIns="0" bIns="0" rtlCol="0" anchor="t"/>
          <a:lstStyle/>
          <a:p>
            <a:pPr indent="0" marL="0">
              <a:buNone/>
            </a:pPr>
            <a:r>
              <a:rPr lang="en-US" sz="1150" i="1" dirty="0">
                <a:solidFill>
                  <a:srgbClr val="5B6B82"/>
                </a:solidFill>
              </a:rPr>
              <a:t>README results table and the review deck read these reports.</a:t>
            </a:r>
            <a:endParaRPr lang="en-US" sz="1150" dirty="0"/>
          </a:p>
        </p:txBody>
      </p:sp>
      <p:sp>
        <p:nvSpPr>
          <p:cNvPr id="32" name="lane-441"/>
          <p:cNvSpPr/>
          <p:nvPr/>
        </p:nvSpPr>
        <p:spPr>
          <a:xfrm>
            <a:off x="548640" y="3977640"/>
            <a:ext cx="11094415" cy="2212848"/>
          </a:xfrm>
          <a:prstGeom prst="rect">
            <a:avLst/>
          </a:prstGeom>
          <a:solidFill>
            <a:srgbClr val="F6F8FB"/>
          </a:solidFill>
          <a:ln/>
        </p:spPr>
      </p:sp>
      <p:sp>
        <p:nvSpPr>
          <p:cNvPr id="33" name="text-442"/>
          <p:cNvSpPr txBox="1"/>
          <p:nvPr/>
        </p:nvSpPr>
        <p:spPr>
          <a:xfrm>
            <a:off x="685800" y="4087368"/>
            <a:ext cx="2286000" cy="274320"/>
          </a:xfrm>
          <a:prstGeom prst="rect">
            <a:avLst/>
          </a:prstGeom>
          <a:noFill/>
          <a:ln/>
        </p:spPr>
        <p:txBody>
          <a:bodyPr wrap="square" lIns="0" tIns="0" rIns="0" bIns="0" rtlCol="0" anchor="t"/>
          <a:lstStyle/>
          <a:p>
            <a:pPr indent="0" marL="0">
              <a:buNone/>
            </a:pPr>
            <a:r>
              <a:rPr lang="en-US" sz="1400" b="1" dirty="0">
                <a:solidFill>
                  <a:srgbClr val="13203A"/>
                </a:solidFill>
              </a:rPr>
              <a:t>Judge calibration</a:t>
            </a:r>
            <a:endParaRPr lang="en-US" sz="1400" dirty="0"/>
          </a:p>
        </p:txBody>
      </p:sp>
      <p:sp>
        <p:nvSpPr>
          <p:cNvPr id="34" name="text-443"/>
          <p:cNvSpPr txBox="1"/>
          <p:nvPr/>
        </p:nvSpPr>
        <p:spPr>
          <a:xfrm>
            <a:off x="685800" y="4361688"/>
            <a:ext cx="2286000" cy="274320"/>
          </a:xfrm>
          <a:prstGeom prst="rect">
            <a:avLst/>
          </a:prstGeom>
          <a:noFill/>
          <a:ln/>
        </p:spPr>
        <p:txBody>
          <a:bodyPr wrap="square" lIns="0" tIns="0" rIns="0" bIns="0" rtlCol="0" anchor="t"/>
          <a:lstStyle/>
          <a:p>
            <a:pPr indent="0" marL="0">
              <a:buNone/>
            </a:pPr>
            <a:r>
              <a:rPr lang="en-US" sz="1100" dirty="0">
                <a:solidFill>
                  <a:srgbClr val="5B6B82"/>
                </a:solidFill>
              </a:rPr>
              <a:t>Before trusting the LLM judge</a:t>
            </a:r>
            <a:endParaRPr lang="en-US" sz="1100" dirty="0"/>
          </a:p>
        </p:txBody>
      </p:sp>
      <p:sp>
        <p:nvSpPr>
          <p:cNvPr id="35" name="node-io-444"/>
          <p:cNvSpPr txBox="1"/>
          <p:nvPr/>
        </p:nvSpPr>
        <p:spPr>
          <a:xfrm>
            <a:off x="685800" y="4846320"/>
            <a:ext cx="1371600" cy="640080"/>
          </a:xfrm>
          <a:prstGeom prst="roundRect">
            <a:avLst>
              <a:gd name="adj" fmla="val 10000"/>
            </a:avLst>
          </a:prstGeom>
          <a:solidFill>
            <a:srgbClr val="13203A"/>
          </a:solidFill>
          <a:ln/>
        </p:spPr>
        <p:txBody>
          <a:bodyPr wrap="square" lIns="381" tIns="889" rIns="889" bIns="381" rtlCol="0" anchor="ctr"/>
          <a:lstStyle/>
          <a:p>
            <a:pPr algn="ctr" indent="0" marL="0">
              <a:buNone/>
            </a:pPr>
            <a:r>
              <a:rPr lang="en-US" sz="1250" b="1" dirty="0">
                <a:solidFill>
                  <a:srgbClr val="FFFFFF"/>
                </a:solidFill>
              </a:rPr>
              <a:t>60 answers</a:t>
            </a:r>
            <a:endParaRPr lang="en-US" sz="1250" dirty="0"/>
          </a:p>
        </p:txBody>
      </p:sp>
      <p:sp>
        <p:nvSpPr>
          <p:cNvPr id="36" name="node-step-445"/>
          <p:cNvSpPr txBox="1"/>
          <p:nvPr/>
        </p:nvSpPr>
        <p:spPr>
          <a:xfrm>
            <a:off x="2377440" y="4480560"/>
            <a:ext cx="1691640" cy="548640"/>
          </a:xfrm>
          <a:prstGeom prst="roundRect">
            <a:avLst>
              <a:gd name="adj" fmla="val 1166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00" b="1" dirty="0">
                <a:solidFill>
                  <a:srgbClr val="2B3A55"/>
                </a:solidFill>
              </a:rPr>
              <a:t>You rate 1 to 5</a:t>
            </a:r>
            <a:endParaRPr lang="en-US" sz="1200" dirty="0"/>
          </a:p>
          <a:p>
            <a:pPr algn="ctr" indent="0" marL="0">
              <a:buNone/>
            </a:pPr>
            <a:r>
              <a:rPr lang="en-US" sz="1000" dirty="0">
                <a:solidFill>
                  <a:srgbClr val="2B3A55"/>
                </a:solidFill>
              </a:rPr>
              <a:t>human_labels.csv</a:t>
            </a:r>
            <a:endParaRPr lang="en-US" sz="1200" dirty="0"/>
          </a:p>
        </p:txBody>
      </p:sp>
      <p:sp>
        <p:nvSpPr>
          <p:cNvPr id="37" name="node-step-446"/>
          <p:cNvSpPr txBox="1"/>
          <p:nvPr/>
        </p:nvSpPr>
        <p:spPr>
          <a:xfrm>
            <a:off x="2377440" y="5257800"/>
            <a:ext cx="1691640" cy="548640"/>
          </a:xfrm>
          <a:prstGeom prst="roundRect">
            <a:avLst>
              <a:gd name="adj" fmla="val 1166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00" b="1" dirty="0">
                <a:solidFill>
                  <a:srgbClr val="2B3A55"/>
                </a:solidFill>
              </a:rPr>
              <a:t>Judge rates 1 to 5</a:t>
            </a:r>
            <a:endParaRPr lang="en-US" sz="1200" dirty="0"/>
          </a:p>
        </p:txBody>
      </p:sp>
      <p:sp>
        <p:nvSpPr>
          <p:cNvPr id="38" name="arrow-447"/>
          <p:cNvSpPr/>
          <p:nvPr/>
        </p:nvSpPr>
        <p:spPr>
          <a:xfrm>
            <a:off x="2057400" y="5166360"/>
            <a:ext cx="137160" cy="0"/>
          </a:xfrm>
          <a:prstGeom prst="line">
            <a:avLst/>
          </a:prstGeom>
          <a:noFill/>
          <a:ln w="19050">
            <a:solidFill>
              <a:srgbClr val="5B6B82"/>
            </a:solidFill>
            <a:prstDash val="solid"/>
          </a:ln>
        </p:spPr>
      </p:sp>
      <p:sp>
        <p:nvSpPr>
          <p:cNvPr id="39" name="arrow-448"/>
          <p:cNvSpPr/>
          <p:nvPr/>
        </p:nvSpPr>
        <p:spPr>
          <a:xfrm flipV="1">
            <a:off x="2194560" y="4754880"/>
            <a:ext cx="0" cy="411480"/>
          </a:xfrm>
          <a:prstGeom prst="line">
            <a:avLst/>
          </a:prstGeom>
          <a:noFill/>
          <a:ln w="19050">
            <a:solidFill>
              <a:srgbClr val="5B6B82"/>
            </a:solidFill>
            <a:prstDash val="solid"/>
          </a:ln>
        </p:spPr>
      </p:sp>
      <p:sp>
        <p:nvSpPr>
          <p:cNvPr id="40" name="arrow-449"/>
          <p:cNvSpPr/>
          <p:nvPr/>
        </p:nvSpPr>
        <p:spPr>
          <a:xfrm>
            <a:off x="2194560" y="4754880"/>
            <a:ext cx="182880" cy="0"/>
          </a:xfrm>
          <a:prstGeom prst="line">
            <a:avLst/>
          </a:prstGeom>
          <a:noFill/>
          <a:ln w="19050">
            <a:solidFill>
              <a:srgbClr val="5B6B82"/>
            </a:solidFill>
            <a:prstDash val="solid"/>
            <a:tailEnd type="triangle"/>
          </a:ln>
        </p:spPr>
      </p:sp>
      <p:sp>
        <p:nvSpPr>
          <p:cNvPr id="41" name="arrow-450"/>
          <p:cNvSpPr/>
          <p:nvPr/>
        </p:nvSpPr>
        <p:spPr>
          <a:xfrm>
            <a:off x="2194560" y="5166360"/>
            <a:ext cx="0" cy="365760"/>
          </a:xfrm>
          <a:prstGeom prst="line">
            <a:avLst/>
          </a:prstGeom>
          <a:noFill/>
          <a:ln w="19050">
            <a:solidFill>
              <a:srgbClr val="5B6B82"/>
            </a:solidFill>
            <a:prstDash val="solid"/>
          </a:ln>
        </p:spPr>
      </p:sp>
      <p:sp>
        <p:nvSpPr>
          <p:cNvPr id="42" name="arrow-451"/>
          <p:cNvSpPr/>
          <p:nvPr/>
        </p:nvSpPr>
        <p:spPr>
          <a:xfrm>
            <a:off x="2194560" y="5532120"/>
            <a:ext cx="182880" cy="0"/>
          </a:xfrm>
          <a:prstGeom prst="line">
            <a:avLst/>
          </a:prstGeom>
          <a:noFill/>
          <a:ln w="19050">
            <a:solidFill>
              <a:srgbClr val="5B6B82"/>
            </a:solidFill>
            <a:prstDash val="solid"/>
            <a:tailEnd type="triangle"/>
          </a:ln>
        </p:spPr>
      </p:sp>
      <p:sp>
        <p:nvSpPr>
          <p:cNvPr id="43" name="node-step-452"/>
          <p:cNvSpPr txBox="1"/>
          <p:nvPr/>
        </p:nvSpPr>
        <p:spPr>
          <a:xfrm>
            <a:off x="4526280" y="4846320"/>
            <a:ext cx="1645920" cy="640080"/>
          </a:xfrm>
          <a:prstGeom prst="roundRect">
            <a:avLst>
              <a:gd name="adj" fmla="val 1000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Cohen's kappa</a:t>
            </a:r>
            <a:endParaRPr lang="en-US" sz="1250" dirty="0"/>
          </a:p>
          <a:p>
            <a:pPr algn="ctr" indent="0" marL="0">
              <a:buNone/>
            </a:pPr>
            <a:r>
              <a:rPr lang="en-US" sz="1000" dirty="0">
                <a:solidFill>
                  <a:srgbClr val="2B3A55"/>
                </a:solidFill>
              </a:rPr>
              <a:t>score ≥ 4 = faithful</a:t>
            </a:r>
            <a:endParaRPr lang="en-US" sz="1250" dirty="0"/>
          </a:p>
        </p:txBody>
      </p:sp>
      <p:sp>
        <p:nvSpPr>
          <p:cNvPr id="44" name="arrow-453"/>
          <p:cNvSpPr/>
          <p:nvPr/>
        </p:nvSpPr>
        <p:spPr>
          <a:xfrm>
            <a:off x="4069080" y="4754880"/>
            <a:ext cx="457200" cy="274320"/>
          </a:xfrm>
          <a:prstGeom prst="line">
            <a:avLst/>
          </a:prstGeom>
          <a:noFill/>
          <a:ln w="19050">
            <a:solidFill>
              <a:srgbClr val="5B6B82"/>
            </a:solidFill>
            <a:prstDash val="solid"/>
            <a:tailEnd type="triangle"/>
          </a:ln>
        </p:spPr>
      </p:sp>
      <p:sp>
        <p:nvSpPr>
          <p:cNvPr id="45" name="arrow-454"/>
          <p:cNvSpPr/>
          <p:nvPr/>
        </p:nvSpPr>
        <p:spPr>
          <a:xfrm flipV="1">
            <a:off x="4069080" y="5303520"/>
            <a:ext cx="457200" cy="228600"/>
          </a:xfrm>
          <a:prstGeom prst="line">
            <a:avLst/>
          </a:prstGeom>
          <a:noFill/>
          <a:ln w="19050">
            <a:solidFill>
              <a:srgbClr val="5B6B82"/>
            </a:solidFill>
            <a:prstDash val="solid"/>
            <a:tailEnd type="triangle"/>
          </a:ln>
        </p:spPr>
      </p:sp>
      <p:sp>
        <p:nvSpPr>
          <p:cNvPr id="46" name="node-decision-455"/>
          <p:cNvSpPr txBox="1"/>
          <p:nvPr/>
        </p:nvSpPr>
        <p:spPr>
          <a:xfrm>
            <a:off x="6583680" y="4736592"/>
            <a:ext cx="1463040" cy="868680"/>
          </a:xfrm>
          <a:prstGeom prst="diamond">
            <a:avLst/>
          </a:prstGeom>
          <a:solidFill>
            <a:srgbClr val="FBEFD3"/>
          </a:solidFill>
          <a:ln w="15875">
            <a:solidFill>
              <a:srgbClr val="E3A21A"/>
            </a:solidFill>
          </a:ln>
        </p:spPr>
        <p:txBody>
          <a:bodyPr wrap="square" lIns="381" tIns="889" rIns="889" bIns="381" rtlCol="0" anchor="ctr"/>
          <a:lstStyle/>
          <a:p>
            <a:pPr algn="ctr" indent="0" marL="0">
              <a:buNone/>
            </a:pPr>
            <a:r>
              <a:rPr lang="en-US" sz="1300" b="1" dirty="0">
                <a:solidFill>
                  <a:srgbClr val="13203A"/>
                </a:solidFill>
              </a:rPr>
              <a:t>κ ≥ 0.6?</a:t>
            </a:r>
            <a:endParaRPr lang="en-US" sz="1300" dirty="0"/>
          </a:p>
        </p:txBody>
      </p:sp>
      <p:sp>
        <p:nvSpPr>
          <p:cNvPr id="47" name="arrow-456"/>
          <p:cNvSpPr/>
          <p:nvPr/>
        </p:nvSpPr>
        <p:spPr>
          <a:xfrm>
            <a:off x="6172200" y="5166360"/>
            <a:ext cx="411480" cy="0"/>
          </a:xfrm>
          <a:prstGeom prst="line">
            <a:avLst/>
          </a:prstGeom>
          <a:noFill/>
          <a:ln w="19050">
            <a:solidFill>
              <a:srgbClr val="5B6B82"/>
            </a:solidFill>
            <a:prstDash val="solid"/>
            <a:tailEnd type="triangle"/>
          </a:ln>
        </p:spPr>
      </p:sp>
      <p:sp>
        <p:nvSpPr>
          <p:cNvPr id="48" name="node-step-457"/>
          <p:cNvSpPr txBox="1"/>
          <p:nvPr/>
        </p:nvSpPr>
        <p:spPr>
          <a:xfrm>
            <a:off x="8503920" y="4846320"/>
            <a:ext cx="1737360" cy="640080"/>
          </a:xfrm>
          <a:prstGeom prst="roundRect">
            <a:avLst>
              <a:gd name="adj" fmla="val 10000"/>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Use the judge in evals</a:t>
            </a:r>
            <a:endParaRPr lang="en-US" sz="1250" dirty="0"/>
          </a:p>
        </p:txBody>
      </p:sp>
      <p:sp>
        <p:nvSpPr>
          <p:cNvPr id="49" name="arrow-458"/>
          <p:cNvSpPr/>
          <p:nvPr/>
        </p:nvSpPr>
        <p:spPr>
          <a:xfrm>
            <a:off x="8046720" y="5166360"/>
            <a:ext cx="457200" cy="0"/>
          </a:xfrm>
          <a:prstGeom prst="line">
            <a:avLst/>
          </a:prstGeom>
          <a:noFill/>
          <a:ln w="19050">
            <a:solidFill>
              <a:srgbClr val="5B6B82"/>
            </a:solidFill>
            <a:prstDash val="solid"/>
            <a:tailEnd type="triangle"/>
          </a:ln>
        </p:spPr>
      </p:sp>
      <p:sp>
        <p:nvSpPr>
          <p:cNvPr id="50" name="text-459"/>
          <p:cNvSpPr txBox="1"/>
          <p:nvPr/>
        </p:nvSpPr>
        <p:spPr>
          <a:xfrm>
            <a:off x="8092440" y="4892040"/>
            <a:ext cx="365760" cy="219456"/>
          </a:xfrm>
          <a:prstGeom prst="rect">
            <a:avLst/>
          </a:prstGeom>
          <a:noFill/>
          <a:ln/>
        </p:spPr>
        <p:txBody>
          <a:bodyPr wrap="square" lIns="0" tIns="0" rIns="0" bIns="0" rtlCol="0" anchor="ctr"/>
          <a:lstStyle/>
          <a:p>
            <a:pPr algn="l" indent="0" marL="0">
              <a:buNone/>
            </a:pPr>
            <a:r>
              <a:rPr lang="en-US" sz="1050" i="1" dirty="0">
                <a:solidFill>
                  <a:srgbClr val="5B6B82"/>
                </a:solidFill>
              </a:rPr>
              <a:t>yes</a:t>
            </a:r>
            <a:endParaRPr lang="en-US" sz="1050" dirty="0"/>
          </a:p>
        </p:txBody>
      </p:sp>
      <p:sp>
        <p:nvSpPr>
          <p:cNvPr id="51" name="node-step-460"/>
          <p:cNvSpPr txBox="1"/>
          <p:nvPr/>
        </p:nvSpPr>
        <p:spPr>
          <a:xfrm>
            <a:off x="8503920" y="5577840"/>
            <a:ext cx="1737360" cy="502920"/>
          </a:xfrm>
          <a:prstGeom prst="roundRect">
            <a:avLst>
              <a:gd name="adj" fmla="val 1272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00" b="1" dirty="0">
                <a:solidFill>
                  <a:srgbClr val="2B3A55"/>
                </a:solidFill>
              </a:rPr>
              <a:t>Rewrite judge prompt</a:t>
            </a:r>
            <a:endParaRPr lang="en-US" sz="1200" dirty="0"/>
          </a:p>
        </p:txBody>
      </p:sp>
      <p:sp>
        <p:nvSpPr>
          <p:cNvPr id="52" name="arrow-461"/>
          <p:cNvSpPr/>
          <p:nvPr/>
        </p:nvSpPr>
        <p:spPr>
          <a:xfrm>
            <a:off x="7315200" y="5605272"/>
            <a:ext cx="0" cy="219456"/>
          </a:xfrm>
          <a:prstGeom prst="line">
            <a:avLst/>
          </a:prstGeom>
          <a:noFill/>
          <a:ln w="19050">
            <a:solidFill>
              <a:srgbClr val="5B6B82"/>
            </a:solidFill>
            <a:prstDash val="solid"/>
          </a:ln>
        </p:spPr>
      </p:sp>
      <p:sp>
        <p:nvSpPr>
          <p:cNvPr id="53" name="arrow-462"/>
          <p:cNvSpPr/>
          <p:nvPr/>
        </p:nvSpPr>
        <p:spPr>
          <a:xfrm>
            <a:off x="7315200" y="5824728"/>
            <a:ext cx="1188720" cy="0"/>
          </a:xfrm>
          <a:prstGeom prst="line">
            <a:avLst/>
          </a:prstGeom>
          <a:noFill/>
          <a:ln w="19050">
            <a:solidFill>
              <a:srgbClr val="5B6B82"/>
            </a:solidFill>
            <a:prstDash val="solid"/>
            <a:tailEnd type="triangle"/>
          </a:ln>
        </p:spPr>
      </p:sp>
      <p:sp>
        <p:nvSpPr>
          <p:cNvPr id="54" name="text-463"/>
          <p:cNvSpPr txBox="1"/>
          <p:nvPr/>
        </p:nvSpPr>
        <p:spPr>
          <a:xfrm>
            <a:off x="7379208" y="5550408"/>
            <a:ext cx="365760" cy="219456"/>
          </a:xfrm>
          <a:prstGeom prst="rect">
            <a:avLst/>
          </a:prstGeom>
          <a:noFill/>
          <a:ln/>
        </p:spPr>
        <p:txBody>
          <a:bodyPr wrap="square" lIns="0" tIns="0" rIns="0" bIns="0" rtlCol="0" anchor="ctr"/>
          <a:lstStyle/>
          <a:p>
            <a:pPr algn="l" indent="0" marL="0">
              <a:buNone/>
            </a:pPr>
            <a:r>
              <a:rPr lang="en-US" sz="1050" i="1" dirty="0">
                <a:solidFill>
                  <a:srgbClr val="5B6B82"/>
                </a:solidFill>
              </a:rPr>
              <a:t>no</a:t>
            </a:r>
            <a:endParaRPr lang="en-US" sz="1050" dirty="0"/>
          </a:p>
        </p:txBody>
      </p:sp>
      <p:sp>
        <p:nvSpPr>
          <p:cNvPr id="55" name="arrow-464"/>
          <p:cNvSpPr/>
          <p:nvPr/>
        </p:nvSpPr>
        <p:spPr>
          <a:xfrm>
            <a:off x="10241280" y="5824728"/>
            <a:ext cx="228600" cy="0"/>
          </a:xfrm>
          <a:prstGeom prst="line">
            <a:avLst/>
          </a:prstGeom>
          <a:noFill/>
          <a:ln w="19050">
            <a:solidFill>
              <a:srgbClr val="D6573B"/>
            </a:solidFill>
            <a:prstDash val="solid"/>
          </a:ln>
        </p:spPr>
      </p:sp>
      <p:sp>
        <p:nvSpPr>
          <p:cNvPr id="56" name="arrow-465"/>
          <p:cNvSpPr/>
          <p:nvPr/>
        </p:nvSpPr>
        <p:spPr>
          <a:xfrm>
            <a:off x="10469880" y="5824728"/>
            <a:ext cx="0" cy="256032"/>
          </a:xfrm>
          <a:prstGeom prst="line">
            <a:avLst/>
          </a:prstGeom>
          <a:noFill/>
          <a:ln w="19050">
            <a:solidFill>
              <a:srgbClr val="D6573B"/>
            </a:solidFill>
            <a:prstDash val="solid"/>
          </a:ln>
        </p:spPr>
      </p:sp>
      <p:sp>
        <p:nvSpPr>
          <p:cNvPr id="57" name="arrow-466"/>
          <p:cNvSpPr/>
          <p:nvPr/>
        </p:nvSpPr>
        <p:spPr>
          <a:xfrm flipH="1">
            <a:off x="3218688" y="6080760"/>
            <a:ext cx="7251192" cy="0"/>
          </a:xfrm>
          <a:prstGeom prst="line">
            <a:avLst/>
          </a:prstGeom>
          <a:noFill/>
          <a:ln w="19050">
            <a:solidFill>
              <a:srgbClr val="D6573B"/>
            </a:solidFill>
            <a:prstDash val="solid"/>
          </a:ln>
        </p:spPr>
      </p:sp>
      <p:sp>
        <p:nvSpPr>
          <p:cNvPr id="58" name="arrow-467"/>
          <p:cNvSpPr/>
          <p:nvPr/>
        </p:nvSpPr>
        <p:spPr>
          <a:xfrm flipV="1">
            <a:off x="3218688" y="5806440"/>
            <a:ext cx="0" cy="274320"/>
          </a:xfrm>
          <a:prstGeom prst="line">
            <a:avLst/>
          </a:prstGeom>
          <a:noFill/>
          <a:ln w="19050">
            <a:solidFill>
              <a:srgbClr val="D6573B"/>
            </a:solidFill>
            <a:prstDash val="solid"/>
            <a:tailEnd type="triangle"/>
          </a:ln>
        </p:spPr>
      </p:sp>
      <p:sp>
        <p:nvSpPr>
          <p:cNvPr id="59" name="text-468"/>
          <p:cNvSpPr txBox="1"/>
          <p:nvPr/>
        </p:nvSpPr>
        <p:spPr>
          <a:xfrm>
            <a:off x="10332720" y="4846320"/>
            <a:ext cx="1264615" cy="685800"/>
          </a:xfrm>
          <a:prstGeom prst="rect">
            <a:avLst/>
          </a:prstGeom>
          <a:noFill/>
          <a:ln/>
        </p:spPr>
        <p:txBody>
          <a:bodyPr wrap="square" lIns="0" tIns="0" rIns="0" bIns="0" rtlCol="0" anchor="t"/>
          <a:lstStyle/>
          <a:p>
            <a:pPr indent="0" marL="0">
              <a:buNone/>
            </a:pPr>
            <a:r>
              <a:rPr lang="en-US" sz="1100" dirty="0">
                <a:solidFill>
                  <a:srgbClr val="2B3A55"/>
                </a:solidFill>
              </a:rPr>
              <a:t>Faithfulness = (score - 1) / 4, averaged over answers.</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8 OF 11  ·  EVALUATION</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Every metric, in one line</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Retrieval is scored at article level; generation by a calibrated judge; the classifier against labels checked by hand.</a:t>
            </a:r>
            <a:endParaRPr lang="en-US" sz="1600" dirty="0"/>
          </a:p>
        </p:txBody>
      </p:sp>
      <p:graphicFrame>
        <p:nvGraphicFramePr>
          <p:cNvPr id="16" name="table-469"/>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011680"/>
                <a:gridCol w="6309360"/>
                <a:gridCol w="1234440"/>
                <a:gridCol w="1536192"/>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Definition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Runs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Recall@5</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Share of gold articles found in the top 5 (windows of one article count once)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0.85</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every PR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MRR@10</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1 / rank of the first gold article, averaged over questions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0.70</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every PR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nDCG@10</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Rank-weighted hits, divided by the best possible ranking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reported</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every PR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Faithfulness</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Judge score 1 to 5 mapped to (score - 1) / 4</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0.85</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weekly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Citation precision</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Cited IDs whose article is gold (strict) or that support the sentence (lenient)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0.90</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weekly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Invented citations</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Cited IDs not in the retrieved set that reach the user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every answer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Refusal accuracy</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Out-of-scope questions answered with a refusal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95%</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weekly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Tier accuracy</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Correct tier on the non-ambiguous risk scenarios (40 in total)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85%</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weekly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Cohen's kappa</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Judge vs human agreement beyond chance, on 60 answers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400" dirty="0">
                          <a:solidFill>
                            <a:srgbClr val="13203A"/>
                          </a:solidFill>
                          <a:latin typeface="Calibri" pitchFamily="34" charset="0"/>
                          <a:ea typeface="Calibri" pitchFamily="34" charset="-122"/>
                          <a:cs typeface="Calibri" pitchFamily="34" charset="-120"/>
                        </a:rPr>
                        <a:t>≥ 0.6</a:t>
                      </a:r>
                      <a:endParaRPr lang="en-US" sz="14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5B6B82"/>
                          </a:solidFill>
                          <a:latin typeface="Calibri" pitchFamily="34" charset="0"/>
                          <a:ea typeface="Calibri" pitchFamily="34" charset="-122"/>
                          <a:cs typeface="Calibri" pitchFamily="34" charset="-120"/>
                        </a:rPr>
                        <a:t>per judge prompt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9 OF 11  ·  FINE-TUNING</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Fine-tune the embedder, then shrink it</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Train only on train-split articles, prove the lift on the test split, and ship an int8 ONNX model with no PyTorch.</a:t>
            </a:r>
            <a:endParaRPr lang="en-US" sz="1600" dirty="0"/>
          </a:p>
        </p:txBody>
      </p:sp>
      <p:sp>
        <p:nvSpPr>
          <p:cNvPr id="6" name="chip-470"/>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471"/>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472"/>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text-473"/>
          <p:cNvSpPr txBox="1"/>
          <p:nvPr/>
        </p:nvSpPr>
        <p:spPr>
          <a:xfrm>
            <a:off x="548640" y="1920240"/>
            <a:ext cx="1828800" cy="256032"/>
          </a:xfrm>
          <a:prstGeom prst="rect">
            <a:avLst/>
          </a:prstGeom>
          <a:noFill/>
          <a:ln/>
        </p:spPr>
        <p:txBody>
          <a:bodyPr wrap="square" lIns="0" tIns="0" rIns="0" bIns="0" rtlCol="0" anchor="t"/>
          <a:lstStyle/>
          <a:p>
            <a:pPr indent="0" marL="0">
              <a:buNone/>
            </a:pPr>
            <a:r>
              <a:rPr lang="en-US" sz="1200" b="1" dirty="0">
                <a:solidFill>
                  <a:srgbClr val="5B6B82"/>
                </a:solidFill>
              </a:rPr>
              <a:t>Data</a:t>
            </a:r>
            <a:endParaRPr lang="en-US" sz="1200" dirty="0"/>
          </a:p>
        </p:txBody>
      </p:sp>
      <p:sp>
        <p:nvSpPr>
          <p:cNvPr id="10" name="node-step-474"/>
          <p:cNvSpPr txBox="1"/>
          <p:nvPr/>
        </p:nvSpPr>
        <p:spPr>
          <a:xfrm>
            <a:off x="548640" y="2194560"/>
            <a:ext cx="2043318"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Train-split chunks</a:t>
            </a:r>
            <a:endParaRPr lang="en-US" sz="1250" dirty="0"/>
          </a:p>
          <a:p>
            <a:pPr algn="ctr" indent="0" marL="0">
              <a:buNone/>
            </a:pPr>
            <a:r>
              <a:rPr lang="en-US" sz="1050" dirty="0">
                <a:solidFill>
                  <a:srgbClr val="2B3A55"/>
                </a:solidFill>
              </a:rPr>
              <a:t>about 800 sampled</a:t>
            </a:r>
            <a:endParaRPr lang="en-US" sz="1250" dirty="0"/>
          </a:p>
        </p:txBody>
      </p:sp>
      <p:sp>
        <p:nvSpPr>
          <p:cNvPr id="11" name="arrow-475"/>
          <p:cNvSpPr/>
          <p:nvPr/>
        </p:nvSpPr>
        <p:spPr>
          <a:xfrm>
            <a:off x="2591958" y="2569464"/>
            <a:ext cx="219456" cy="0"/>
          </a:xfrm>
          <a:prstGeom prst="line">
            <a:avLst/>
          </a:prstGeom>
          <a:noFill/>
          <a:ln w="19050">
            <a:solidFill>
              <a:srgbClr val="5B6B82"/>
            </a:solidFill>
            <a:prstDash val="solid"/>
            <a:tailEnd type="triangle"/>
          </a:ln>
        </p:spPr>
      </p:sp>
      <p:sp>
        <p:nvSpPr>
          <p:cNvPr id="12" name="node-step-476"/>
          <p:cNvSpPr txBox="1"/>
          <p:nvPr/>
        </p:nvSpPr>
        <p:spPr>
          <a:xfrm>
            <a:off x="2811414" y="2194560"/>
            <a:ext cx="2043318"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LLM writes questions</a:t>
            </a:r>
            <a:endParaRPr lang="en-US" sz="1250" dirty="0"/>
          </a:p>
          <a:p>
            <a:pPr algn="ctr" indent="0" marL="0">
              <a:buNone/>
            </a:pPr>
            <a:r>
              <a:rPr lang="en-US" sz="1050" dirty="0">
                <a:solidFill>
                  <a:srgbClr val="2B3A55"/>
                </a:solidFill>
              </a:rPr>
              <a:t>1 EN + 1 FR each, cached</a:t>
            </a:r>
            <a:endParaRPr lang="en-US" sz="1250" dirty="0"/>
          </a:p>
        </p:txBody>
      </p:sp>
      <p:sp>
        <p:nvSpPr>
          <p:cNvPr id="13" name="arrow-477"/>
          <p:cNvSpPr/>
          <p:nvPr/>
        </p:nvSpPr>
        <p:spPr>
          <a:xfrm>
            <a:off x="4854732" y="2569464"/>
            <a:ext cx="219456" cy="0"/>
          </a:xfrm>
          <a:prstGeom prst="line">
            <a:avLst/>
          </a:prstGeom>
          <a:noFill/>
          <a:ln w="19050">
            <a:solidFill>
              <a:srgbClr val="5B6B82"/>
            </a:solidFill>
            <a:prstDash val="solid"/>
            <a:tailEnd type="triangle"/>
          </a:ln>
        </p:spPr>
      </p:sp>
      <p:sp>
        <p:nvSpPr>
          <p:cNvPr id="14" name="node-step-478"/>
          <p:cNvSpPr txBox="1"/>
          <p:nvPr/>
        </p:nvSpPr>
        <p:spPr>
          <a:xfrm>
            <a:off x="5074188" y="2194560"/>
            <a:ext cx="2043318"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Review by hand</a:t>
            </a:r>
            <a:endParaRPr lang="en-US" sz="1250" dirty="0"/>
          </a:p>
          <a:p>
            <a:pPr algn="ctr" indent="0" marL="0">
              <a:buNone/>
            </a:pPr>
            <a:r>
              <a:rPr lang="en-US" sz="1050" dirty="0">
                <a:solidFill>
                  <a:srgbClr val="2B3A55"/>
                </a:solidFill>
              </a:rPr>
              <a:t>read 50, drop bad pairs</a:t>
            </a:r>
            <a:endParaRPr lang="en-US" sz="1250" dirty="0"/>
          </a:p>
        </p:txBody>
      </p:sp>
      <p:sp>
        <p:nvSpPr>
          <p:cNvPr id="15" name="arrow-479"/>
          <p:cNvSpPr/>
          <p:nvPr/>
        </p:nvSpPr>
        <p:spPr>
          <a:xfrm>
            <a:off x="7117507" y="2569464"/>
            <a:ext cx="219456" cy="0"/>
          </a:xfrm>
          <a:prstGeom prst="line">
            <a:avLst/>
          </a:prstGeom>
          <a:noFill/>
          <a:ln w="19050">
            <a:solidFill>
              <a:srgbClr val="5B6B82"/>
            </a:solidFill>
            <a:prstDash val="solid"/>
            <a:tailEnd type="triangle"/>
          </a:ln>
        </p:spPr>
      </p:sp>
      <p:sp>
        <p:nvSpPr>
          <p:cNvPr id="16" name="node-step-480"/>
          <p:cNvSpPr txBox="1"/>
          <p:nvPr/>
        </p:nvSpPr>
        <p:spPr>
          <a:xfrm>
            <a:off x="7336963" y="2194560"/>
            <a:ext cx="2043318"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1,000 to 1,600 pairs</a:t>
            </a:r>
            <a:endParaRPr lang="en-US" sz="1250" dirty="0"/>
          </a:p>
          <a:p>
            <a:pPr algn="ctr" indent="0" marL="0">
              <a:buNone/>
            </a:pPr>
            <a:r>
              <a:rPr lang="en-US" sz="1050" dirty="0">
                <a:solidFill>
                  <a:srgbClr val="2B3A55"/>
                </a:solidFill>
              </a:rPr>
              <a:t>(question, passage)</a:t>
            </a:r>
            <a:endParaRPr lang="en-US" sz="1250" dirty="0"/>
          </a:p>
        </p:txBody>
      </p:sp>
      <p:sp>
        <p:nvSpPr>
          <p:cNvPr id="17" name="arrow-481"/>
          <p:cNvSpPr/>
          <p:nvPr/>
        </p:nvSpPr>
        <p:spPr>
          <a:xfrm>
            <a:off x="9380281" y="2569464"/>
            <a:ext cx="219456" cy="0"/>
          </a:xfrm>
          <a:prstGeom prst="line">
            <a:avLst/>
          </a:prstGeom>
          <a:noFill/>
          <a:ln w="19050">
            <a:solidFill>
              <a:srgbClr val="5B6B82"/>
            </a:solidFill>
            <a:prstDash val="solid"/>
            <a:tailEnd type="triangle"/>
          </a:ln>
        </p:spPr>
      </p:sp>
      <p:sp>
        <p:nvSpPr>
          <p:cNvPr id="18" name="node-step-482"/>
          <p:cNvSpPr txBox="1"/>
          <p:nvPr/>
        </p:nvSpPr>
        <p:spPr>
          <a:xfrm>
            <a:off x="9599737" y="2194560"/>
            <a:ext cx="2043318"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Leakage test</a:t>
            </a:r>
            <a:endParaRPr lang="en-US" sz="1250" dirty="0"/>
          </a:p>
          <a:p>
            <a:pPr algn="ctr" indent="0" marL="0">
              <a:buNone/>
            </a:pPr>
            <a:r>
              <a:rPr lang="en-US" sz="1050" dirty="0">
                <a:solidFill>
                  <a:srgbClr val="2B3A55"/>
                </a:solidFill>
              </a:rPr>
              <a:t>no dev or test article</a:t>
            </a:r>
            <a:endParaRPr lang="en-US" sz="1250" dirty="0"/>
          </a:p>
        </p:txBody>
      </p:sp>
      <p:sp>
        <p:nvSpPr>
          <p:cNvPr id="19" name="text-483"/>
          <p:cNvSpPr txBox="1"/>
          <p:nvPr/>
        </p:nvSpPr>
        <p:spPr>
          <a:xfrm>
            <a:off x="548640" y="3291840"/>
            <a:ext cx="1828800" cy="256032"/>
          </a:xfrm>
          <a:prstGeom prst="rect">
            <a:avLst/>
          </a:prstGeom>
          <a:noFill/>
          <a:ln/>
        </p:spPr>
        <p:txBody>
          <a:bodyPr wrap="square" lIns="0" tIns="0" rIns="0" bIns="0" rtlCol="0" anchor="t"/>
          <a:lstStyle/>
          <a:p>
            <a:pPr indent="0" marL="0">
              <a:buNone/>
            </a:pPr>
            <a:r>
              <a:rPr lang="en-US" sz="1200" b="1" dirty="0">
                <a:solidFill>
                  <a:srgbClr val="5B6B82"/>
                </a:solidFill>
              </a:rPr>
              <a:t>Model</a:t>
            </a:r>
            <a:endParaRPr lang="en-US" sz="1200" dirty="0"/>
          </a:p>
        </p:txBody>
      </p:sp>
      <p:sp>
        <p:nvSpPr>
          <p:cNvPr id="20" name="node-step-484"/>
          <p:cNvSpPr txBox="1"/>
          <p:nvPr/>
        </p:nvSpPr>
        <p:spPr>
          <a:xfrm>
            <a:off x="548640" y="3566160"/>
            <a:ext cx="1666189"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MNRL training</a:t>
            </a:r>
            <a:endParaRPr lang="en-US" sz="1250" dirty="0"/>
          </a:p>
          <a:p>
            <a:pPr algn="ctr" indent="0" marL="0">
              <a:buNone/>
            </a:pPr>
            <a:r>
              <a:rPr lang="en-US" sz="1050" dirty="0">
                <a:solidFill>
                  <a:srgbClr val="2B3A55"/>
                </a:solidFill>
              </a:rPr>
              <a:t>Colab/Kaggle GPU, 3 epochs</a:t>
            </a:r>
            <a:endParaRPr lang="en-US" sz="1250" dirty="0"/>
          </a:p>
        </p:txBody>
      </p:sp>
      <p:sp>
        <p:nvSpPr>
          <p:cNvPr id="21" name="arrow-485"/>
          <p:cNvSpPr/>
          <p:nvPr/>
        </p:nvSpPr>
        <p:spPr>
          <a:xfrm>
            <a:off x="2214829" y="3941064"/>
            <a:ext cx="219456" cy="0"/>
          </a:xfrm>
          <a:prstGeom prst="line">
            <a:avLst/>
          </a:prstGeom>
          <a:noFill/>
          <a:ln w="19050">
            <a:solidFill>
              <a:srgbClr val="5B6B82"/>
            </a:solidFill>
            <a:prstDash val="solid"/>
            <a:tailEnd type="triangle"/>
          </a:ln>
        </p:spPr>
      </p:sp>
      <p:sp>
        <p:nvSpPr>
          <p:cNvPr id="22" name="node-step-486"/>
          <p:cNvSpPr txBox="1"/>
          <p:nvPr/>
        </p:nvSpPr>
        <p:spPr>
          <a:xfrm>
            <a:off x="2434285" y="3566160"/>
            <a:ext cx="1666189"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Base vs fine-tuned</a:t>
            </a:r>
            <a:endParaRPr lang="en-US" sz="1250" dirty="0"/>
          </a:p>
          <a:p>
            <a:pPr algn="ctr" indent="0" marL="0">
              <a:buNone/>
            </a:pPr>
            <a:r>
              <a:rPr lang="en-US" sz="1050" dirty="0">
                <a:solidFill>
                  <a:srgbClr val="2B3A55"/>
                </a:solidFill>
              </a:rPr>
              <a:t>test split, own harness</a:t>
            </a:r>
            <a:endParaRPr lang="en-US" sz="1250" dirty="0"/>
          </a:p>
        </p:txBody>
      </p:sp>
      <p:sp>
        <p:nvSpPr>
          <p:cNvPr id="23" name="arrow-487"/>
          <p:cNvSpPr/>
          <p:nvPr/>
        </p:nvSpPr>
        <p:spPr>
          <a:xfrm>
            <a:off x="4100474" y="3941064"/>
            <a:ext cx="219456" cy="0"/>
          </a:xfrm>
          <a:prstGeom prst="line">
            <a:avLst/>
          </a:prstGeom>
          <a:noFill/>
          <a:ln w="19050">
            <a:solidFill>
              <a:srgbClr val="5B6B82"/>
            </a:solidFill>
            <a:prstDash val="solid"/>
            <a:tailEnd type="triangle"/>
          </a:ln>
        </p:spPr>
      </p:sp>
      <p:sp>
        <p:nvSpPr>
          <p:cNvPr id="24" name="node-step-488"/>
          <p:cNvSpPr txBox="1"/>
          <p:nvPr/>
        </p:nvSpPr>
        <p:spPr>
          <a:xfrm>
            <a:off x="4319930" y="3566160"/>
            <a:ext cx="1666189"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ONNX export</a:t>
            </a:r>
            <a:endParaRPr lang="en-US" sz="1250" dirty="0"/>
          </a:p>
          <a:p>
            <a:pPr algn="ctr" indent="0" marL="0">
              <a:buNone/>
            </a:pPr>
            <a:r>
              <a:rPr lang="en-US" sz="1050" dirty="0">
                <a:solidFill>
                  <a:srgbClr val="2B3A55"/>
                </a:solidFill>
              </a:rPr>
              <a:t>optimum</a:t>
            </a:r>
            <a:endParaRPr lang="en-US" sz="1250" dirty="0"/>
          </a:p>
        </p:txBody>
      </p:sp>
      <p:sp>
        <p:nvSpPr>
          <p:cNvPr id="25" name="arrow-489"/>
          <p:cNvSpPr/>
          <p:nvPr/>
        </p:nvSpPr>
        <p:spPr>
          <a:xfrm>
            <a:off x="5986120" y="3941064"/>
            <a:ext cx="219456" cy="0"/>
          </a:xfrm>
          <a:prstGeom prst="line">
            <a:avLst/>
          </a:prstGeom>
          <a:noFill/>
          <a:ln w="19050">
            <a:solidFill>
              <a:srgbClr val="5B6B82"/>
            </a:solidFill>
            <a:prstDash val="solid"/>
            <a:tailEnd type="triangle"/>
          </a:ln>
        </p:spPr>
      </p:sp>
      <p:sp>
        <p:nvSpPr>
          <p:cNvPr id="26" name="node-step-490"/>
          <p:cNvSpPr txBox="1"/>
          <p:nvPr/>
        </p:nvSpPr>
        <p:spPr>
          <a:xfrm>
            <a:off x="6205576" y="3566160"/>
            <a:ext cx="1666189"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int8 quantization</a:t>
            </a:r>
            <a:endParaRPr lang="en-US" sz="1250" dirty="0"/>
          </a:p>
          <a:p>
            <a:pPr algn="ctr" indent="0" marL="0">
              <a:buNone/>
            </a:pPr>
            <a:r>
              <a:rPr lang="en-US" sz="1050" dirty="0">
                <a:solidFill>
                  <a:srgbClr val="2B3A55"/>
                </a:solidFill>
              </a:rPr>
              <a:t>dynamic, onnxruntime</a:t>
            </a:r>
            <a:endParaRPr lang="en-US" sz="1250" dirty="0"/>
          </a:p>
        </p:txBody>
      </p:sp>
      <p:sp>
        <p:nvSpPr>
          <p:cNvPr id="27" name="arrow-491"/>
          <p:cNvSpPr/>
          <p:nvPr/>
        </p:nvSpPr>
        <p:spPr>
          <a:xfrm>
            <a:off x="7871765" y="3941064"/>
            <a:ext cx="219456" cy="0"/>
          </a:xfrm>
          <a:prstGeom prst="line">
            <a:avLst/>
          </a:prstGeom>
          <a:noFill/>
          <a:ln w="19050">
            <a:solidFill>
              <a:srgbClr val="5B6B82"/>
            </a:solidFill>
            <a:prstDash val="solid"/>
            <a:tailEnd type="triangle"/>
          </a:ln>
        </p:spPr>
      </p:sp>
      <p:sp>
        <p:nvSpPr>
          <p:cNvPr id="28" name="node-step-492"/>
          <p:cNvSpPr txBox="1"/>
          <p:nvPr/>
        </p:nvSpPr>
        <p:spPr>
          <a:xfrm>
            <a:off x="8091221" y="3566160"/>
            <a:ext cx="1666189"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Parity check</a:t>
            </a:r>
            <a:endParaRPr lang="en-US" sz="1250" dirty="0"/>
          </a:p>
          <a:p>
            <a:pPr algn="ctr" indent="0" marL="0">
              <a:buNone/>
            </a:pPr>
            <a:r>
              <a:rPr lang="en-US" sz="1050" dirty="0">
                <a:solidFill>
                  <a:srgbClr val="2B3A55"/>
                </a:solidFill>
              </a:rPr>
              <a:t>cos ≥ 0.98; drop ≤ 1 pt</a:t>
            </a:r>
            <a:endParaRPr lang="en-US" sz="1250" dirty="0"/>
          </a:p>
        </p:txBody>
      </p:sp>
      <p:sp>
        <p:nvSpPr>
          <p:cNvPr id="29" name="arrow-493"/>
          <p:cNvSpPr/>
          <p:nvPr/>
        </p:nvSpPr>
        <p:spPr>
          <a:xfrm>
            <a:off x="9757410" y="3941064"/>
            <a:ext cx="219456" cy="0"/>
          </a:xfrm>
          <a:prstGeom prst="line">
            <a:avLst/>
          </a:prstGeom>
          <a:noFill/>
          <a:ln w="19050">
            <a:solidFill>
              <a:srgbClr val="5B6B82"/>
            </a:solidFill>
            <a:prstDash val="solid"/>
            <a:tailEnd type="triangle"/>
          </a:ln>
        </p:spPr>
      </p:sp>
      <p:sp>
        <p:nvSpPr>
          <p:cNvPr id="30" name="node-step-494"/>
          <p:cNvSpPr txBox="1"/>
          <p:nvPr/>
        </p:nvSpPr>
        <p:spPr>
          <a:xfrm>
            <a:off x="9976866" y="3566160"/>
            <a:ext cx="1666189" cy="749808"/>
          </a:xfrm>
          <a:prstGeom prst="roundRect">
            <a:avLst>
              <a:gd name="adj" fmla="val 8537"/>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Hugging Face Hub</a:t>
            </a:r>
            <a:endParaRPr lang="en-US" sz="1250" dirty="0"/>
          </a:p>
          <a:p>
            <a:pPr algn="ctr" indent="0" marL="0">
              <a:buNone/>
            </a:pPr>
            <a:r>
              <a:rPr lang="en-US" sz="1050" dirty="0">
                <a:solidFill>
                  <a:srgbClr val="2B3A55"/>
                </a:solidFill>
              </a:rPr>
              <a:t>then the cloud index</a:t>
            </a:r>
            <a:endParaRPr lang="en-US" sz="1250" dirty="0"/>
          </a:p>
        </p:txBody>
      </p:sp>
      <p:sp>
        <p:nvSpPr>
          <p:cNvPr id="31" name="arrow-495"/>
          <p:cNvSpPr/>
          <p:nvPr/>
        </p:nvSpPr>
        <p:spPr>
          <a:xfrm>
            <a:off x="10621396" y="2944368"/>
            <a:ext cx="0" cy="256032"/>
          </a:xfrm>
          <a:prstGeom prst="line">
            <a:avLst/>
          </a:prstGeom>
          <a:noFill/>
          <a:ln w="19050">
            <a:solidFill>
              <a:srgbClr val="E3A21A"/>
            </a:solidFill>
            <a:prstDash val="solid"/>
          </a:ln>
        </p:spPr>
      </p:sp>
      <p:sp>
        <p:nvSpPr>
          <p:cNvPr id="32" name="arrow-496"/>
          <p:cNvSpPr/>
          <p:nvPr/>
        </p:nvSpPr>
        <p:spPr>
          <a:xfrm flipH="1">
            <a:off x="1371600" y="3200400"/>
            <a:ext cx="9249796" cy="0"/>
          </a:xfrm>
          <a:prstGeom prst="line">
            <a:avLst/>
          </a:prstGeom>
          <a:noFill/>
          <a:ln w="19050">
            <a:solidFill>
              <a:srgbClr val="E3A21A"/>
            </a:solidFill>
            <a:prstDash val="solid"/>
          </a:ln>
        </p:spPr>
      </p:sp>
      <p:sp>
        <p:nvSpPr>
          <p:cNvPr id="33" name="arrow-497"/>
          <p:cNvSpPr/>
          <p:nvPr/>
        </p:nvSpPr>
        <p:spPr>
          <a:xfrm>
            <a:off x="1371600" y="3200400"/>
            <a:ext cx="0" cy="365760"/>
          </a:xfrm>
          <a:prstGeom prst="line">
            <a:avLst/>
          </a:prstGeom>
          <a:noFill/>
          <a:ln w="19050">
            <a:solidFill>
              <a:srgbClr val="E3A21A"/>
            </a:solidFill>
            <a:prstDash val="solid"/>
            <a:tailEnd type="triangle"/>
          </a:ln>
        </p:spPr>
      </p:sp>
      <p:sp>
        <p:nvSpPr>
          <p:cNvPr id="34" name="box-498"/>
          <p:cNvSpPr/>
          <p:nvPr/>
        </p:nvSpPr>
        <p:spPr>
          <a:xfrm>
            <a:off x="548640" y="4617720"/>
            <a:ext cx="3545738" cy="1280160"/>
          </a:xfrm>
          <a:prstGeom prst="roundRect">
            <a:avLst>
              <a:gd name="adj" fmla="val 5714"/>
            </a:avLst>
          </a:prstGeom>
          <a:solidFill>
            <a:srgbClr val="EEF1F6"/>
          </a:solidFill>
          <a:ln/>
        </p:spPr>
      </p:sp>
      <p:sp>
        <p:nvSpPr>
          <p:cNvPr id="35" name="text-499"/>
          <p:cNvSpPr txBox="1"/>
          <p:nvPr/>
        </p:nvSpPr>
        <p:spPr>
          <a:xfrm>
            <a:off x="685800" y="4709160"/>
            <a:ext cx="3271418" cy="274320"/>
          </a:xfrm>
          <a:prstGeom prst="rect">
            <a:avLst/>
          </a:prstGeom>
          <a:noFill/>
          <a:ln/>
        </p:spPr>
        <p:txBody>
          <a:bodyPr wrap="square" lIns="0" tIns="0" rIns="0" bIns="0" rtlCol="0" anchor="t"/>
          <a:lstStyle/>
          <a:p>
            <a:pPr indent="0" marL="0">
              <a:buNone/>
            </a:pPr>
            <a:r>
              <a:rPr lang="en-US" sz="1300" b="1" dirty="0">
                <a:solidFill>
                  <a:srgbClr val="13203A"/>
                </a:solidFill>
              </a:rPr>
              <a:t>Base model</a:t>
            </a:r>
            <a:endParaRPr lang="en-US" sz="1300" dirty="0"/>
          </a:p>
        </p:txBody>
      </p:sp>
      <p:sp>
        <p:nvSpPr>
          <p:cNvPr id="36" name="text-500"/>
          <p:cNvSpPr txBox="1"/>
          <p:nvPr/>
        </p:nvSpPr>
        <p:spPr>
          <a:xfrm>
            <a:off x="685800" y="5001768"/>
            <a:ext cx="3298850" cy="822960"/>
          </a:xfrm>
          <a:prstGeom prst="rect">
            <a:avLst/>
          </a:prstGeom>
          <a:noFill/>
          <a:ln/>
        </p:spPr>
        <p:txBody>
          <a:bodyPr wrap="square" lIns="0" tIns="0" rIns="0" bIns="0" rtlCol="0" anchor="t"/>
          <a:lstStyle/>
          <a:p>
            <a:pPr indent="0" marL="0">
              <a:buNone/>
            </a:pPr>
            <a:r>
              <a:rPr lang="en-US" sz="1250" dirty="0">
                <a:solidFill>
                  <a:srgbClr val="2B3A55"/>
                </a:solidFill>
              </a:rPr>
              <a:t>paraphrase-multilingual-MiniLM-L12-v2: 118M parameters, 384 dimensions, 50+ languages; max length raised to 256 tokens.</a:t>
            </a:r>
            <a:endParaRPr lang="en-US" sz="1250" dirty="0"/>
          </a:p>
        </p:txBody>
      </p:sp>
      <p:sp>
        <p:nvSpPr>
          <p:cNvPr id="37" name="box-501"/>
          <p:cNvSpPr/>
          <p:nvPr/>
        </p:nvSpPr>
        <p:spPr>
          <a:xfrm>
            <a:off x="4322978" y="4617720"/>
            <a:ext cx="3545738" cy="1280160"/>
          </a:xfrm>
          <a:prstGeom prst="roundRect">
            <a:avLst>
              <a:gd name="adj" fmla="val 5714"/>
            </a:avLst>
          </a:prstGeom>
          <a:solidFill>
            <a:srgbClr val="EEF1F6"/>
          </a:solidFill>
          <a:ln/>
        </p:spPr>
      </p:sp>
      <p:sp>
        <p:nvSpPr>
          <p:cNvPr id="38" name="text-502"/>
          <p:cNvSpPr txBox="1"/>
          <p:nvPr/>
        </p:nvSpPr>
        <p:spPr>
          <a:xfrm>
            <a:off x="4460138" y="4709160"/>
            <a:ext cx="3271418" cy="274320"/>
          </a:xfrm>
          <a:prstGeom prst="rect">
            <a:avLst/>
          </a:prstGeom>
          <a:noFill/>
          <a:ln/>
        </p:spPr>
        <p:txBody>
          <a:bodyPr wrap="square" lIns="0" tIns="0" rIns="0" bIns="0" rtlCol="0" anchor="t"/>
          <a:lstStyle/>
          <a:p>
            <a:pPr indent="0" marL="0">
              <a:buNone/>
            </a:pPr>
            <a:r>
              <a:rPr lang="en-US" sz="1300" b="1" dirty="0">
                <a:solidFill>
                  <a:srgbClr val="13203A"/>
                </a:solidFill>
              </a:rPr>
              <a:t>Why MNRL</a:t>
            </a:r>
            <a:endParaRPr lang="en-US" sz="1300" dirty="0"/>
          </a:p>
        </p:txBody>
      </p:sp>
      <p:sp>
        <p:nvSpPr>
          <p:cNvPr id="39" name="text-503"/>
          <p:cNvSpPr txBox="1"/>
          <p:nvPr/>
        </p:nvSpPr>
        <p:spPr>
          <a:xfrm>
            <a:off x="4460138" y="5001768"/>
            <a:ext cx="3298850" cy="822960"/>
          </a:xfrm>
          <a:prstGeom prst="rect">
            <a:avLst/>
          </a:prstGeom>
          <a:noFill/>
          <a:ln/>
        </p:spPr>
        <p:txBody>
          <a:bodyPr wrap="square" lIns="0" tIns="0" rIns="0" bIns="0" rtlCol="0" anchor="t"/>
          <a:lstStyle/>
          <a:p>
            <a:pPr indent="0" marL="0">
              <a:buNone/>
            </a:pPr>
            <a:r>
              <a:rPr lang="en-US" sz="1250" dirty="0">
                <a:solidFill>
                  <a:srgbClr val="2B3A55"/>
                </a:solidFill>
              </a:rPr>
              <a:t>Every other passage in a batch of 32 acts as a negative, so no hard-negative mining is needed.</a:t>
            </a:r>
            <a:endParaRPr lang="en-US" sz="1250" dirty="0"/>
          </a:p>
        </p:txBody>
      </p:sp>
      <p:sp>
        <p:nvSpPr>
          <p:cNvPr id="40" name="box-504"/>
          <p:cNvSpPr/>
          <p:nvPr/>
        </p:nvSpPr>
        <p:spPr>
          <a:xfrm>
            <a:off x="8097317" y="4617720"/>
            <a:ext cx="3545738" cy="1280160"/>
          </a:xfrm>
          <a:prstGeom prst="roundRect">
            <a:avLst>
              <a:gd name="adj" fmla="val 5714"/>
            </a:avLst>
          </a:prstGeom>
          <a:solidFill>
            <a:srgbClr val="EEF1F6"/>
          </a:solidFill>
          <a:ln/>
        </p:spPr>
      </p:sp>
      <p:sp>
        <p:nvSpPr>
          <p:cNvPr id="41" name="text-505"/>
          <p:cNvSpPr txBox="1"/>
          <p:nvPr/>
        </p:nvSpPr>
        <p:spPr>
          <a:xfrm>
            <a:off x="8234477" y="4709160"/>
            <a:ext cx="3271418" cy="274320"/>
          </a:xfrm>
          <a:prstGeom prst="rect">
            <a:avLst/>
          </a:prstGeom>
          <a:noFill/>
          <a:ln/>
        </p:spPr>
        <p:txBody>
          <a:bodyPr wrap="square" lIns="0" tIns="0" rIns="0" bIns="0" rtlCol="0" anchor="t"/>
          <a:lstStyle/>
          <a:p>
            <a:pPr indent="0" marL="0">
              <a:buNone/>
            </a:pPr>
            <a:r>
              <a:rPr lang="en-US" sz="1300" b="1" dirty="0">
                <a:solidFill>
                  <a:srgbClr val="13203A"/>
                </a:solidFill>
              </a:rPr>
              <a:t>Honest reporting</a:t>
            </a:r>
            <a:endParaRPr lang="en-US" sz="1300" dirty="0"/>
          </a:p>
        </p:txBody>
      </p:sp>
      <p:sp>
        <p:nvSpPr>
          <p:cNvPr id="42" name="text-506"/>
          <p:cNvSpPr txBox="1"/>
          <p:nvPr/>
        </p:nvSpPr>
        <p:spPr>
          <a:xfrm>
            <a:off x="8234477" y="5001768"/>
            <a:ext cx="3298850" cy="822960"/>
          </a:xfrm>
          <a:prstGeom prst="rect">
            <a:avLst/>
          </a:prstGeom>
          <a:noFill/>
          <a:ln/>
        </p:spPr>
        <p:txBody>
          <a:bodyPr wrap="square" lIns="0" tIns="0" rIns="0" bIns="0" rtlCol="0" anchor="t"/>
          <a:lstStyle/>
          <a:p>
            <a:pPr indent="0" marL="0">
              <a:buNone/>
            </a:pPr>
            <a:r>
              <a:rPr lang="en-US" sz="1250" dirty="0">
                <a:solidFill>
                  <a:srgbClr val="2B3A55"/>
                </a:solidFill>
              </a:rPr>
              <a:t>Report hand-written and synthetic questions separately; aim for +5 points Recall@5, explain a smaller lift.</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10 OF 11  ·  SHIP</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From git push to Cloud Run</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Every push is linted and tested. A green main deploys a candidate revision that must pass a smoke test before it gets traffic.</a:t>
            </a:r>
            <a:endParaRPr lang="en-US" sz="1600" dirty="0"/>
          </a:p>
        </p:txBody>
      </p:sp>
      <p:sp>
        <p:nvSpPr>
          <p:cNvPr id="6" name="chip-507"/>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508"/>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509"/>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node-io-510"/>
          <p:cNvSpPr txBox="1"/>
          <p:nvPr/>
        </p:nvSpPr>
        <p:spPr>
          <a:xfrm>
            <a:off x="548640" y="2057400"/>
            <a:ext cx="1234440" cy="777240"/>
          </a:xfrm>
          <a:prstGeom prst="roundRect">
            <a:avLst>
              <a:gd name="adj" fmla="val 8235"/>
            </a:avLst>
          </a:prstGeom>
          <a:solidFill>
            <a:srgbClr val="13203A"/>
          </a:solidFill>
          <a:ln/>
        </p:spPr>
        <p:txBody>
          <a:bodyPr wrap="square" lIns="381" tIns="889" rIns="889" bIns="381" rtlCol="0" anchor="ctr"/>
          <a:lstStyle/>
          <a:p>
            <a:pPr algn="ctr" indent="0" marL="0">
              <a:buNone/>
            </a:pPr>
            <a:r>
              <a:rPr lang="en-US" sz="1300" b="1" dirty="0">
                <a:solidFill>
                  <a:srgbClr val="FFFFFF"/>
                </a:solidFill>
              </a:rPr>
              <a:t>git push</a:t>
            </a:r>
            <a:endParaRPr lang="en-US" sz="1300" dirty="0"/>
          </a:p>
        </p:txBody>
      </p:sp>
      <p:sp>
        <p:nvSpPr>
          <p:cNvPr id="10" name="node-step-511"/>
          <p:cNvSpPr txBox="1"/>
          <p:nvPr/>
        </p:nvSpPr>
        <p:spPr>
          <a:xfrm>
            <a:off x="2057400" y="2057400"/>
            <a:ext cx="2331720" cy="777240"/>
          </a:xfrm>
          <a:prstGeom prst="roundRect">
            <a:avLst>
              <a:gd name="adj" fmla="val 8235"/>
            </a:avLst>
          </a:prstGeom>
          <a:solidFill>
            <a:srgbClr val="FBEFD3"/>
          </a:solidFill>
          <a:ln w="15875">
            <a:solidFill>
              <a:srgbClr val="E3A21A"/>
            </a:solidFill>
          </a:ln>
        </p:spPr>
        <p:txBody>
          <a:bodyPr wrap="square" lIns="381" tIns="889" rIns="889" bIns="381" rtlCol="0" anchor="ctr"/>
          <a:lstStyle/>
          <a:p>
            <a:pPr algn="ctr" indent="0" marL="0">
              <a:buNone/>
            </a:pPr>
            <a:r>
              <a:rPr lang="en-US" sz="1300" b="1" dirty="0">
                <a:solidFill>
                  <a:srgbClr val="13203A"/>
                </a:solidFill>
                <a:latin typeface="Courier New" pitchFamily="34" charset="0"/>
                <a:ea typeface="Courier New" pitchFamily="34" charset="-122"/>
                <a:cs typeface="Courier New" pitchFamily="34" charset="-120"/>
              </a:rPr>
              <a:t>ci.yml</a:t>
            </a:r>
            <a:endParaRPr lang="en-US" sz="1300" dirty="0"/>
          </a:p>
          <a:p>
            <a:pPr algn="ctr" indent="0" marL="0">
              <a:buNone/>
            </a:pPr>
            <a:r>
              <a:rPr lang="en-US" sz="1050" dirty="0">
                <a:solidFill>
                  <a:srgbClr val="13203A"/>
                </a:solidFill>
              </a:rPr>
              <a:t>ruff · mypy · pytest, coverage ≥ 80%</a:t>
            </a:r>
            <a:endParaRPr lang="en-US" sz="1300" dirty="0"/>
          </a:p>
        </p:txBody>
      </p:sp>
      <p:sp>
        <p:nvSpPr>
          <p:cNvPr id="11" name="node-step-512"/>
          <p:cNvSpPr txBox="1"/>
          <p:nvPr/>
        </p:nvSpPr>
        <p:spPr>
          <a:xfrm>
            <a:off x="4754880" y="2057400"/>
            <a:ext cx="224028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latin typeface="Courier New" pitchFamily="34" charset="0"/>
                <a:ea typeface="Courier New" pitchFamily="34" charset="-122"/>
                <a:cs typeface="Courier New" pitchFamily="34" charset="-120"/>
              </a:rPr>
              <a:t>eval.yml</a:t>
            </a:r>
            <a:endParaRPr lang="en-US" sz="1300" dirty="0"/>
          </a:p>
          <a:p>
            <a:pPr algn="ctr" indent="0" marL="0">
              <a:buNone/>
            </a:pPr>
            <a:r>
              <a:rPr lang="en-US" sz="1050" dirty="0">
                <a:solidFill>
                  <a:srgbClr val="2B3A55"/>
                </a:solidFill>
              </a:rPr>
              <a:t>PRs touching retrieval; fail on -2 pts</a:t>
            </a:r>
            <a:endParaRPr lang="en-US" sz="1300" dirty="0"/>
          </a:p>
        </p:txBody>
      </p:sp>
      <p:sp>
        <p:nvSpPr>
          <p:cNvPr id="12" name="node-step-513"/>
          <p:cNvSpPr txBox="1"/>
          <p:nvPr/>
        </p:nvSpPr>
        <p:spPr>
          <a:xfrm>
            <a:off x="7360920" y="2057400"/>
            <a:ext cx="192024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latin typeface="Courier New" pitchFamily="34" charset="0"/>
                <a:ea typeface="Courier New" pitchFamily="34" charset="-122"/>
                <a:cs typeface="Courier New" pitchFamily="34" charset="-120"/>
              </a:rPr>
              <a:t>deploy.yml</a:t>
            </a:r>
            <a:endParaRPr lang="en-US" sz="1300" dirty="0"/>
          </a:p>
          <a:p>
            <a:pPr algn="ctr" indent="0" marL="0">
              <a:buNone/>
            </a:pPr>
            <a:r>
              <a:rPr lang="en-US" sz="1050" dirty="0">
                <a:solidFill>
                  <a:srgbClr val="2B3A55"/>
                </a:solidFill>
              </a:rPr>
              <a:t>after CI is green on main</a:t>
            </a:r>
            <a:endParaRPr lang="en-US" sz="1300" dirty="0"/>
          </a:p>
        </p:txBody>
      </p:sp>
      <p:sp>
        <p:nvSpPr>
          <p:cNvPr id="13" name="node-step-514"/>
          <p:cNvSpPr txBox="1"/>
          <p:nvPr/>
        </p:nvSpPr>
        <p:spPr>
          <a:xfrm>
            <a:off x="9646920" y="2057400"/>
            <a:ext cx="1996135"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Keyless auth</a:t>
            </a:r>
            <a:endParaRPr lang="en-US" sz="1300" dirty="0"/>
          </a:p>
          <a:p>
            <a:pPr algn="ctr" indent="0" marL="0">
              <a:buNone/>
            </a:pPr>
            <a:r>
              <a:rPr lang="en-US" sz="1050" dirty="0">
                <a:solidFill>
                  <a:srgbClr val="2B3A55"/>
                </a:solidFill>
              </a:rPr>
              <a:t>Workload Identity Federation</a:t>
            </a:r>
            <a:endParaRPr lang="en-US" sz="1300" dirty="0"/>
          </a:p>
        </p:txBody>
      </p:sp>
      <p:sp>
        <p:nvSpPr>
          <p:cNvPr id="14" name="arrow-515"/>
          <p:cNvSpPr/>
          <p:nvPr/>
        </p:nvSpPr>
        <p:spPr>
          <a:xfrm>
            <a:off x="1783080" y="2446020"/>
            <a:ext cx="274320" cy="0"/>
          </a:xfrm>
          <a:prstGeom prst="line">
            <a:avLst/>
          </a:prstGeom>
          <a:noFill/>
          <a:ln w="19050">
            <a:solidFill>
              <a:srgbClr val="5B6B82"/>
            </a:solidFill>
            <a:prstDash val="solid"/>
            <a:tailEnd type="triangle"/>
          </a:ln>
        </p:spPr>
      </p:sp>
      <p:sp>
        <p:nvSpPr>
          <p:cNvPr id="15" name="arrow-516"/>
          <p:cNvSpPr/>
          <p:nvPr/>
        </p:nvSpPr>
        <p:spPr>
          <a:xfrm>
            <a:off x="4389120" y="2446020"/>
            <a:ext cx="365760" cy="0"/>
          </a:xfrm>
          <a:prstGeom prst="line">
            <a:avLst/>
          </a:prstGeom>
          <a:noFill/>
          <a:ln w="19050">
            <a:solidFill>
              <a:srgbClr val="5B6B82"/>
            </a:solidFill>
            <a:prstDash val="dash"/>
            <a:tailEnd type="triangle"/>
          </a:ln>
        </p:spPr>
      </p:sp>
      <p:sp>
        <p:nvSpPr>
          <p:cNvPr id="16" name="arrow-517"/>
          <p:cNvSpPr/>
          <p:nvPr/>
        </p:nvSpPr>
        <p:spPr>
          <a:xfrm>
            <a:off x="6995160" y="2446020"/>
            <a:ext cx="365760" cy="0"/>
          </a:xfrm>
          <a:prstGeom prst="line">
            <a:avLst/>
          </a:prstGeom>
          <a:noFill/>
          <a:ln w="19050">
            <a:solidFill>
              <a:srgbClr val="5B6B82"/>
            </a:solidFill>
            <a:prstDash val="solid"/>
            <a:tailEnd type="triangle"/>
          </a:ln>
        </p:spPr>
      </p:sp>
      <p:sp>
        <p:nvSpPr>
          <p:cNvPr id="17" name="arrow-518"/>
          <p:cNvSpPr/>
          <p:nvPr/>
        </p:nvSpPr>
        <p:spPr>
          <a:xfrm>
            <a:off x="9281160" y="2446020"/>
            <a:ext cx="365760" cy="0"/>
          </a:xfrm>
          <a:prstGeom prst="line">
            <a:avLst/>
          </a:prstGeom>
          <a:noFill/>
          <a:ln w="19050">
            <a:solidFill>
              <a:srgbClr val="5B6B82"/>
            </a:solidFill>
            <a:prstDash val="solid"/>
            <a:tailEnd type="triangle"/>
          </a:ln>
        </p:spPr>
      </p:sp>
      <p:sp>
        <p:nvSpPr>
          <p:cNvPr id="18" name="node-step-519"/>
          <p:cNvSpPr txBox="1"/>
          <p:nvPr/>
        </p:nvSpPr>
        <p:spPr>
          <a:xfrm>
            <a:off x="548640" y="3291840"/>
            <a:ext cx="178308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Build image</a:t>
            </a:r>
            <a:endParaRPr lang="en-US" sz="1300" dirty="0"/>
          </a:p>
          <a:p>
            <a:pPr algn="ctr" indent="0" marL="0">
              <a:buNone/>
            </a:pPr>
            <a:r>
              <a:rPr lang="en-US" sz="1050" dirty="0">
                <a:solidFill>
                  <a:srgbClr val="2B3A55"/>
                </a:solidFill>
              </a:rPr>
              <a:t>no PyTorch; &lt; 450 MB</a:t>
            </a:r>
            <a:endParaRPr lang="en-US" sz="1300" dirty="0"/>
          </a:p>
        </p:txBody>
      </p:sp>
      <p:sp>
        <p:nvSpPr>
          <p:cNvPr id="19" name="arrow-520"/>
          <p:cNvSpPr/>
          <p:nvPr/>
        </p:nvSpPr>
        <p:spPr>
          <a:xfrm>
            <a:off x="2331720" y="3680460"/>
            <a:ext cx="365760" cy="0"/>
          </a:xfrm>
          <a:prstGeom prst="line">
            <a:avLst/>
          </a:prstGeom>
          <a:noFill/>
          <a:ln w="19050">
            <a:solidFill>
              <a:srgbClr val="5B6B82"/>
            </a:solidFill>
            <a:prstDash val="solid"/>
            <a:tailEnd type="triangle"/>
          </a:ln>
        </p:spPr>
      </p:sp>
      <p:sp>
        <p:nvSpPr>
          <p:cNvPr id="20" name="node-step-521"/>
          <p:cNvSpPr txBox="1"/>
          <p:nvPr/>
        </p:nvSpPr>
        <p:spPr>
          <a:xfrm>
            <a:off x="2697480" y="3291840"/>
            <a:ext cx="164592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Push</a:t>
            </a:r>
            <a:endParaRPr lang="en-US" sz="1300" dirty="0"/>
          </a:p>
          <a:p>
            <a:pPr algn="ctr" indent="0" marL="0">
              <a:buNone/>
            </a:pPr>
            <a:r>
              <a:rPr lang="en-US" sz="1050" dirty="0">
                <a:solidFill>
                  <a:srgbClr val="2B3A55"/>
                </a:solidFill>
              </a:rPr>
              <a:t>Artifact Registry</a:t>
            </a:r>
            <a:endParaRPr lang="en-US" sz="1300" dirty="0"/>
          </a:p>
        </p:txBody>
      </p:sp>
      <p:sp>
        <p:nvSpPr>
          <p:cNvPr id="21" name="arrow-522"/>
          <p:cNvSpPr/>
          <p:nvPr/>
        </p:nvSpPr>
        <p:spPr>
          <a:xfrm>
            <a:off x="4343400" y="3680460"/>
            <a:ext cx="365760" cy="0"/>
          </a:xfrm>
          <a:prstGeom prst="line">
            <a:avLst/>
          </a:prstGeom>
          <a:noFill/>
          <a:ln w="19050">
            <a:solidFill>
              <a:srgbClr val="5B6B82"/>
            </a:solidFill>
            <a:prstDash val="solid"/>
            <a:tailEnd type="triangle"/>
          </a:ln>
        </p:spPr>
      </p:sp>
      <p:sp>
        <p:nvSpPr>
          <p:cNvPr id="22" name="node-step-523"/>
          <p:cNvSpPr txBox="1"/>
          <p:nvPr/>
        </p:nvSpPr>
        <p:spPr>
          <a:xfrm>
            <a:off x="4709160" y="3291840"/>
            <a:ext cx="205740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Deploy candidate</a:t>
            </a:r>
            <a:endParaRPr lang="en-US" sz="1300" dirty="0"/>
          </a:p>
          <a:p>
            <a:pPr algn="ctr" indent="0" marL="0">
              <a:buNone/>
            </a:pPr>
            <a:r>
              <a:rPr lang="en-US" sz="1050" dirty="0">
                <a:solidFill>
                  <a:srgbClr val="2B3A55"/>
                </a:solidFill>
              </a:rPr>
              <a:t>--no-traffic --tag candidate</a:t>
            </a:r>
            <a:endParaRPr lang="en-US" sz="1300" dirty="0"/>
          </a:p>
        </p:txBody>
      </p:sp>
      <p:sp>
        <p:nvSpPr>
          <p:cNvPr id="23" name="arrow-524"/>
          <p:cNvSpPr/>
          <p:nvPr/>
        </p:nvSpPr>
        <p:spPr>
          <a:xfrm>
            <a:off x="10646359" y="2834640"/>
            <a:ext cx="0" cy="228600"/>
          </a:xfrm>
          <a:prstGeom prst="line">
            <a:avLst/>
          </a:prstGeom>
          <a:noFill/>
          <a:ln w="19050">
            <a:solidFill>
              <a:srgbClr val="E3A21A"/>
            </a:solidFill>
            <a:prstDash val="solid"/>
          </a:ln>
        </p:spPr>
      </p:sp>
      <p:sp>
        <p:nvSpPr>
          <p:cNvPr id="24" name="arrow-525"/>
          <p:cNvSpPr/>
          <p:nvPr/>
        </p:nvSpPr>
        <p:spPr>
          <a:xfrm flipH="1">
            <a:off x="1435608" y="3063240"/>
            <a:ext cx="9210751" cy="0"/>
          </a:xfrm>
          <a:prstGeom prst="line">
            <a:avLst/>
          </a:prstGeom>
          <a:noFill/>
          <a:ln w="19050">
            <a:solidFill>
              <a:srgbClr val="E3A21A"/>
            </a:solidFill>
            <a:prstDash val="solid"/>
          </a:ln>
        </p:spPr>
      </p:sp>
      <p:sp>
        <p:nvSpPr>
          <p:cNvPr id="25" name="arrow-526"/>
          <p:cNvSpPr/>
          <p:nvPr/>
        </p:nvSpPr>
        <p:spPr>
          <a:xfrm>
            <a:off x="1435608" y="3063240"/>
            <a:ext cx="0" cy="228600"/>
          </a:xfrm>
          <a:prstGeom prst="line">
            <a:avLst/>
          </a:prstGeom>
          <a:noFill/>
          <a:ln w="19050">
            <a:solidFill>
              <a:srgbClr val="E3A21A"/>
            </a:solidFill>
            <a:prstDash val="solid"/>
            <a:tailEnd type="triangle"/>
          </a:ln>
        </p:spPr>
      </p:sp>
      <p:sp>
        <p:nvSpPr>
          <p:cNvPr id="26" name="node-step-527"/>
          <p:cNvSpPr txBox="1"/>
          <p:nvPr/>
        </p:nvSpPr>
        <p:spPr>
          <a:xfrm>
            <a:off x="7132320" y="3291840"/>
            <a:ext cx="1600200"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300" b="1" dirty="0">
                <a:solidFill>
                  <a:srgbClr val="2B3A55"/>
                </a:solidFill>
              </a:rPr>
              <a:t>Smoke test</a:t>
            </a:r>
            <a:endParaRPr lang="en-US" sz="1300" dirty="0"/>
          </a:p>
          <a:p>
            <a:pPr algn="ctr" indent="0" marL="0">
              <a:buNone/>
            </a:pPr>
            <a:r>
              <a:rPr lang="en-US" sz="1050" dirty="0">
                <a:solidFill>
                  <a:srgbClr val="2B3A55"/>
                </a:solidFill>
              </a:rPr>
              <a:t>/health, /search</a:t>
            </a:r>
            <a:endParaRPr lang="en-US" sz="1300" dirty="0"/>
          </a:p>
        </p:txBody>
      </p:sp>
      <p:sp>
        <p:nvSpPr>
          <p:cNvPr id="27" name="arrow-528"/>
          <p:cNvSpPr/>
          <p:nvPr/>
        </p:nvSpPr>
        <p:spPr>
          <a:xfrm>
            <a:off x="6766560" y="3680460"/>
            <a:ext cx="365760" cy="0"/>
          </a:xfrm>
          <a:prstGeom prst="line">
            <a:avLst/>
          </a:prstGeom>
          <a:noFill/>
          <a:ln w="19050">
            <a:solidFill>
              <a:srgbClr val="5B6B82"/>
            </a:solidFill>
            <a:prstDash val="solid"/>
            <a:tailEnd type="triangle"/>
          </a:ln>
        </p:spPr>
      </p:sp>
      <p:sp>
        <p:nvSpPr>
          <p:cNvPr id="28" name="node-decision-529"/>
          <p:cNvSpPr txBox="1"/>
          <p:nvPr/>
        </p:nvSpPr>
        <p:spPr>
          <a:xfrm>
            <a:off x="9098280" y="3218688"/>
            <a:ext cx="1051560" cy="914400"/>
          </a:xfrm>
          <a:prstGeom prst="diamond">
            <a:avLst/>
          </a:prstGeom>
          <a:solidFill>
            <a:srgbClr val="FBEFD3"/>
          </a:solidFill>
          <a:ln w="15875">
            <a:solidFill>
              <a:srgbClr val="E3A21A"/>
            </a:solidFill>
          </a:ln>
        </p:spPr>
        <p:txBody>
          <a:bodyPr wrap="square" lIns="381" tIns="889" rIns="889" bIns="381" rtlCol="0" anchor="ctr"/>
          <a:lstStyle/>
          <a:p>
            <a:pPr algn="ctr" indent="0" marL="0">
              <a:buNone/>
            </a:pPr>
            <a:r>
              <a:rPr lang="en-US" sz="1250" b="1" dirty="0">
                <a:solidFill>
                  <a:srgbClr val="13203A"/>
                </a:solidFill>
              </a:rPr>
              <a:t>pass?</a:t>
            </a:r>
            <a:endParaRPr lang="en-US" sz="1250" dirty="0"/>
          </a:p>
        </p:txBody>
      </p:sp>
      <p:sp>
        <p:nvSpPr>
          <p:cNvPr id="29" name="arrow-530"/>
          <p:cNvSpPr/>
          <p:nvPr/>
        </p:nvSpPr>
        <p:spPr>
          <a:xfrm>
            <a:off x="8732520" y="3680460"/>
            <a:ext cx="365760" cy="0"/>
          </a:xfrm>
          <a:prstGeom prst="line">
            <a:avLst/>
          </a:prstGeom>
          <a:noFill/>
          <a:ln w="19050">
            <a:solidFill>
              <a:srgbClr val="5B6B82"/>
            </a:solidFill>
            <a:prstDash val="solid"/>
            <a:tailEnd type="triangle"/>
          </a:ln>
        </p:spPr>
      </p:sp>
      <p:sp>
        <p:nvSpPr>
          <p:cNvPr id="30" name="node-step-531"/>
          <p:cNvSpPr txBox="1"/>
          <p:nvPr/>
        </p:nvSpPr>
        <p:spPr>
          <a:xfrm>
            <a:off x="10469880" y="3291840"/>
            <a:ext cx="1173175" cy="777240"/>
          </a:xfrm>
          <a:prstGeom prst="roundRect">
            <a:avLst>
              <a:gd name="adj" fmla="val 8235"/>
            </a:avLst>
          </a:prstGeom>
          <a:solidFill>
            <a:srgbClr val="FFFFFF"/>
          </a:solidFill>
          <a:ln w="12700">
            <a:solidFill>
              <a:srgbClr val="8C98AA"/>
            </a:solidFill>
            <a:prstDash val="dash"/>
          </a:ln>
        </p:spPr>
        <p:txBody>
          <a:bodyPr wrap="square" lIns="381" tIns="889" rIns="889" bIns="381" rtlCol="0" anchor="ctr"/>
          <a:lstStyle/>
          <a:p>
            <a:pPr algn="ctr" indent="0" marL="0">
              <a:buNone/>
            </a:pPr>
            <a:r>
              <a:rPr lang="en-US" sz="1250" b="1" dirty="0">
                <a:solidFill>
                  <a:srgbClr val="2B3A55"/>
                </a:solidFill>
              </a:rPr>
              <a:t>Shift traffic</a:t>
            </a:r>
            <a:endParaRPr lang="en-US" sz="1250" dirty="0"/>
          </a:p>
          <a:p>
            <a:pPr algn="ctr" indent="0" marL="0">
              <a:buNone/>
            </a:pPr>
            <a:r>
              <a:rPr lang="en-US" sz="1050" dirty="0">
                <a:solidFill>
                  <a:srgbClr val="2B3A55"/>
                </a:solidFill>
              </a:rPr>
              <a:t>--to-latest</a:t>
            </a:r>
            <a:endParaRPr lang="en-US" sz="1250" dirty="0"/>
          </a:p>
        </p:txBody>
      </p:sp>
      <p:sp>
        <p:nvSpPr>
          <p:cNvPr id="31" name="arrow-532"/>
          <p:cNvSpPr/>
          <p:nvPr/>
        </p:nvSpPr>
        <p:spPr>
          <a:xfrm>
            <a:off x="10149840" y="3680460"/>
            <a:ext cx="320040" cy="0"/>
          </a:xfrm>
          <a:prstGeom prst="line">
            <a:avLst/>
          </a:prstGeom>
          <a:noFill/>
          <a:ln w="19050">
            <a:solidFill>
              <a:srgbClr val="5B6B82"/>
            </a:solidFill>
            <a:prstDash val="solid"/>
            <a:tailEnd type="triangle"/>
          </a:ln>
        </p:spPr>
      </p:sp>
      <p:sp>
        <p:nvSpPr>
          <p:cNvPr id="32" name="text-533"/>
          <p:cNvSpPr txBox="1"/>
          <p:nvPr/>
        </p:nvSpPr>
        <p:spPr>
          <a:xfrm>
            <a:off x="10149840" y="3364992"/>
            <a:ext cx="365760" cy="219456"/>
          </a:xfrm>
          <a:prstGeom prst="rect">
            <a:avLst/>
          </a:prstGeom>
          <a:noFill/>
          <a:ln/>
        </p:spPr>
        <p:txBody>
          <a:bodyPr wrap="square" lIns="0" tIns="0" rIns="0" bIns="0" rtlCol="0" anchor="ctr"/>
          <a:lstStyle/>
          <a:p>
            <a:pPr algn="l" indent="0" marL="0">
              <a:buNone/>
            </a:pPr>
            <a:r>
              <a:rPr lang="en-US" sz="1050" i="1" dirty="0">
                <a:solidFill>
                  <a:srgbClr val="5B6B82"/>
                </a:solidFill>
              </a:rPr>
              <a:t>yes</a:t>
            </a:r>
            <a:endParaRPr lang="en-US" sz="1050" dirty="0"/>
          </a:p>
        </p:txBody>
      </p:sp>
      <p:sp>
        <p:nvSpPr>
          <p:cNvPr id="33" name="node-neutral-534"/>
          <p:cNvSpPr txBox="1"/>
          <p:nvPr/>
        </p:nvSpPr>
        <p:spPr>
          <a:xfrm>
            <a:off x="8732520" y="4370832"/>
            <a:ext cx="1783080" cy="502920"/>
          </a:xfrm>
          <a:prstGeom prst="roundRect">
            <a:avLst>
              <a:gd name="adj" fmla="val 12727"/>
            </a:avLst>
          </a:prstGeom>
          <a:solidFill>
            <a:srgbClr val="EEF1F6"/>
          </a:solidFill>
          <a:ln/>
        </p:spPr>
        <p:txBody>
          <a:bodyPr wrap="square" lIns="381" tIns="889" rIns="889" bIns="381" rtlCol="0" anchor="ctr"/>
          <a:lstStyle/>
          <a:p>
            <a:pPr algn="ctr" indent="0" marL="0">
              <a:buNone/>
            </a:pPr>
            <a:r>
              <a:rPr lang="en-US" sz="1150" b="1" dirty="0">
                <a:solidFill>
                  <a:srgbClr val="13203A"/>
                </a:solidFill>
              </a:rPr>
              <a:t>Old revision keeps serving</a:t>
            </a:r>
            <a:endParaRPr lang="en-US" sz="1150" dirty="0"/>
          </a:p>
        </p:txBody>
      </p:sp>
      <p:sp>
        <p:nvSpPr>
          <p:cNvPr id="34" name="arrow-535"/>
          <p:cNvSpPr/>
          <p:nvPr/>
        </p:nvSpPr>
        <p:spPr>
          <a:xfrm>
            <a:off x="9624060" y="4133088"/>
            <a:ext cx="0" cy="237744"/>
          </a:xfrm>
          <a:prstGeom prst="line">
            <a:avLst/>
          </a:prstGeom>
          <a:noFill/>
          <a:ln w="19050">
            <a:solidFill>
              <a:srgbClr val="5B6B82"/>
            </a:solidFill>
            <a:prstDash val="solid"/>
            <a:tailEnd type="triangle"/>
          </a:ln>
        </p:spPr>
      </p:sp>
      <p:sp>
        <p:nvSpPr>
          <p:cNvPr id="35" name="text-536"/>
          <p:cNvSpPr txBox="1"/>
          <p:nvPr/>
        </p:nvSpPr>
        <p:spPr>
          <a:xfrm>
            <a:off x="9692640" y="4114800"/>
            <a:ext cx="365760" cy="219456"/>
          </a:xfrm>
          <a:prstGeom prst="rect">
            <a:avLst/>
          </a:prstGeom>
          <a:noFill/>
          <a:ln/>
        </p:spPr>
        <p:txBody>
          <a:bodyPr wrap="square" lIns="0" tIns="0" rIns="0" bIns="0" rtlCol="0" anchor="ctr"/>
          <a:lstStyle/>
          <a:p>
            <a:pPr algn="l" indent="0" marL="0">
              <a:buNone/>
            </a:pPr>
            <a:r>
              <a:rPr lang="en-US" sz="1050" i="1" dirty="0">
                <a:solidFill>
                  <a:srgbClr val="5B6B82"/>
                </a:solidFill>
              </a:rPr>
              <a:t>no</a:t>
            </a:r>
            <a:endParaRPr lang="en-US" sz="1050" dirty="0"/>
          </a:p>
        </p:txBody>
      </p:sp>
      <p:sp>
        <p:nvSpPr>
          <p:cNvPr id="36" name="box-537"/>
          <p:cNvSpPr/>
          <p:nvPr/>
        </p:nvSpPr>
        <p:spPr>
          <a:xfrm>
            <a:off x="548640" y="5029200"/>
            <a:ext cx="3545738" cy="1143000"/>
          </a:xfrm>
          <a:prstGeom prst="roundRect">
            <a:avLst>
              <a:gd name="adj" fmla="val 6400"/>
            </a:avLst>
          </a:prstGeom>
          <a:solidFill>
            <a:srgbClr val="EEF1F6"/>
          </a:solidFill>
          <a:ln/>
        </p:spPr>
      </p:sp>
      <p:sp>
        <p:nvSpPr>
          <p:cNvPr id="37" name="text-538"/>
          <p:cNvSpPr txBox="1"/>
          <p:nvPr/>
        </p:nvSpPr>
        <p:spPr>
          <a:xfrm>
            <a:off x="685800" y="5120640"/>
            <a:ext cx="3271418" cy="274320"/>
          </a:xfrm>
          <a:prstGeom prst="rect">
            <a:avLst/>
          </a:prstGeom>
          <a:noFill/>
          <a:ln/>
        </p:spPr>
        <p:txBody>
          <a:bodyPr wrap="square" lIns="0" tIns="0" rIns="0" bIns="0" rtlCol="0" anchor="t"/>
          <a:lstStyle/>
          <a:p>
            <a:pPr indent="0" marL="0">
              <a:buNone/>
            </a:pPr>
            <a:r>
              <a:rPr lang="en-US" sz="1250" b="1" dirty="0">
                <a:solidFill>
                  <a:srgbClr val="13203A"/>
                </a:solidFill>
              </a:rPr>
              <a:t>Cloud Run settings</a:t>
            </a:r>
            <a:endParaRPr lang="en-US" sz="1250" dirty="0"/>
          </a:p>
        </p:txBody>
      </p:sp>
      <p:sp>
        <p:nvSpPr>
          <p:cNvPr id="38" name="text-539"/>
          <p:cNvSpPr txBox="1"/>
          <p:nvPr/>
        </p:nvSpPr>
        <p:spPr>
          <a:xfrm>
            <a:off x="685800" y="5413248"/>
            <a:ext cx="3298850" cy="685800"/>
          </a:xfrm>
          <a:prstGeom prst="rect">
            <a:avLst/>
          </a:prstGeom>
          <a:noFill/>
          <a:ln/>
        </p:spPr>
        <p:txBody>
          <a:bodyPr wrap="square" lIns="0" tIns="0" rIns="0" bIns="0" rtlCol="0" anchor="t"/>
          <a:lstStyle/>
          <a:p>
            <a:pPr indent="0" marL="0">
              <a:buNone/>
            </a:pPr>
            <a:r>
              <a:rPr lang="en-US" sz="1200" dirty="0">
                <a:solidFill>
                  <a:srgbClr val="2B3A55"/>
                </a:solidFill>
              </a:rPr>
              <a:t>europe-west1 · scale 0 to 2 instances · 1 vCPU, 1 GiB · concurrency 8 · 60 s timeout</a:t>
            </a:r>
            <a:endParaRPr lang="en-US" sz="1200" dirty="0"/>
          </a:p>
        </p:txBody>
      </p:sp>
      <p:sp>
        <p:nvSpPr>
          <p:cNvPr id="39" name="box-540"/>
          <p:cNvSpPr/>
          <p:nvPr/>
        </p:nvSpPr>
        <p:spPr>
          <a:xfrm>
            <a:off x="4322978" y="5029200"/>
            <a:ext cx="3545738" cy="1143000"/>
          </a:xfrm>
          <a:prstGeom prst="roundRect">
            <a:avLst>
              <a:gd name="adj" fmla="val 6400"/>
            </a:avLst>
          </a:prstGeom>
          <a:solidFill>
            <a:srgbClr val="EEF1F6"/>
          </a:solidFill>
          <a:ln/>
        </p:spPr>
      </p:sp>
      <p:sp>
        <p:nvSpPr>
          <p:cNvPr id="40" name="text-541"/>
          <p:cNvSpPr txBox="1"/>
          <p:nvPr/>
        </p:nvSpPr>
        <p:spPr>
          <a:xfrm>
            <a:off x="4460138" y="5120640"/>
            <a:ext cx="3271418" cy="274320"/>
          </a:xfrm>
          <a:prstGeom prst="rect">
            <a:avLst/>
          </a:prstGeom>
          <a:noFill/>
          <a:ln/>
        </p:spPr>
        <p:txBody>
          <a:bodyPr wrap="square" lIns="0" tIns="0" rIns="0" bIns="0" rtlCol="0" anchor="t"/>
          <a:lstStyle/>
          <a:p>
            <a:pPr indent="0" marL="0">
              <a:buNone/>
            </a:pPr>
            <a:r>
              <a:rPr lang="en-US" sz="1250" b="1" dirty="0">
                <a:solidFill>
                  <a:srgbClr val="13203A"/>
                </a:solidFill>
              </a:rPr>
              <a:t>Secrets</a:t>
            </a:r>
            <a:endParaRPr lang="en-US" sz="1250" dirty="0"/>
          </a:p>
        </p:txBody>
      </p:sp>
      <p:sp>
        <p:nvSpPr>
          <p:cNvPr id="41" name="text-542"/>
          <p:cNvSpPr txBox="1"/>
          <p:nvPr/>
        </p:nvSpPr>
        <p:spPr>
          <a:xfrm>
            <a:off x="4460138" y="5413248"/>
            <a:ext cx="3298850" cy="685800"/>
          </a:xfrm>
          <a:prstGeom prst="rect">
            <a:avLst/>
          </a:prstGeom>
          <a:noFill/>
          <a:ln/>
        </p:spPr>
        <p:txBody>
          <a:bodyPr wrap="square" lIns="0" tIns="0" rIns="0" bIns="0" rtlCol="0" anchor="t"/>
          <a:lstStyle/>
          <a:p>
            <a:pPr indent="0" marL="0">
              <a:buNone/>
            </a:pPr>
            <a:r>
              <a:rPr lang="en-US" sz="1200" dirty="0">
                <a:solidFill>
                  <a:srgbClr val="2B3A55"/>
                </a:solidFill>
              </a:rPr>
              <a:t>Gemini, Groq, Qdrant keys and the Sheets service account live in Secret Manager, never in the image or git.</a:t>
            </a:r>
            <a:endParaRPr lang="en-US" sz="1200" dirty="0"/>
          </a:p>
        </p:txBody>
      </p:sp>
      <p:sp>
        <p:nvSpPr>
          <p:cNvPr id="42" name="box-543"/>
          <p:cNvSpPr/>
          <p:nvPr/>
        </p:nvSpPr>
        <p:spPr>
          <a:xfrm>
            <a:off x="8097317" y="5029200"/>
            <a:ext cx="3545738" cy="1143000"/>
          </a:xfrm>
          <a:prstGeom prst="roundRect">
            <a:avLst>
              <a:gd name="adj" fmla="val 6400"/>
            </a:avLst>
          </a:prstGeom>
          <a:solidFill>
            <a:srgbClr val="EEF1F6"/>
          </a:solidFill>
          <a:ln/>
        </p:spPr>
      </p:sp>
      <p:sp>
        <p:nvSpPr>
          <p:cNvPr id="43" name="text-544"/>
          <p:cNvSpPr txBox="1"/>
          <p:nvPr/>
        </p:nvSpPr>
        <p:spPr>
          <a:xfrm>
            <a:off x="8234477" y="5120640"/>
            <a:ext cx="3271418" cy="274320"/>
          </a:xfrm>
          <a:prstGeom prst="rect">
            <a:avLst/>
          </a:prstGeom>
          <a:noFill/>
          <a:ln/>
        </p:spPr>
        <p:txBody>
          <a:bodyPr wrap="square" lIns="0" tIns="0" rIns="0" bIns="0" rtlCol="0" anchor="t"/>
          <a:lstStyle/>
          <a:p>
            <a:pPr indent="0" marL="0">
              <a:buNone/>
            </a:pPr>
            <a:r>
              <a:rPr lang="en-US" sz="1250" b="1" dirty="0">
                <a:solidFill>
                  <a:srgbClr val="13203A"/>
                </a:solidFill>
              </a:rPr>
              <a:t>EUR 0 by design</a:t>
            </a:r>
            <a:endParaRPr lang="en-US" sz="1250" dirty="0"/>
          </a:p>
        </p:txBody>
      </p:sp>
      <p:sp>
        <p:nvSpPr>
          <p:cNvPr id="44" name="text-545"/>
          <p:cNvSpPr txBox="1"/>
          <p:nvPr/>
        </p:nvSpPr>
        <p:spPr>
          <a:xfrm>
            <a:off x="8234477" y="5413248"/>
            <a:ext cx="3298850" cy="685800"/>
          </a:xfrm>
          <a:prstGeom prst="rect">
            <a:avLst/>
          </a:prstGeom>
          <a:noFill/>
          <a:ln/>
        </p:spPr>
        <p:txBody>
          <a:bodyPr wrap="square" lIns="0" tIns="0" rIns="0" bIns="0" rtlCol="0" anchor="t"/>
          <a:lstStyle/>
          <a:p>
            <a:pPr indent="0" marL="0">
              <a:buNone/>
            </a:pPr>
            <a:r>
              <a:rPr lang="en-US" sz="1200" dirty="0">
                <a:solidFill>
                  <a:srgbClr val="2B3A55"/>
                </a:solidFill>
              </a:rPr>
              <a:t>Scale to zero, 200 LLM requests a day, one image kept, EUR 1 budget alert, Gemini key in a project without billing.</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STAGE 11 OF 11  ·  OBSERVE</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Observability: what did each request cost?</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One trace and one JSON log line per request answer: how long, which provider, how many tokens, what was cited.</a:t>
            </a:r>
            <a:endParaRPr lang="en-US" sz="1600" dirty="0"/>
          </a:p>
        </p:txBody>
      </p:sp>
      <p:sp>
        <p:nvSpPr>
          <p:cNvPr id="6" name="chip-546"/>
          <p:cNvSpPr txBox="1"/>
          <p:nvPr/>
        </p:nvSpPr>
        <p:spPr>
          <a:xfrm>
            <a:off x="8549640" y="384048"/>
            <a:ext cx="822960" cy="256032"/>
          </a:xfrm>
          <a:prstGeom prst="roundRect">
            <a:avLst>
              <a:gd name="adj" fmla="val 46429"/>
            </a:avLst>
          </a:prstGeom>
          <a:solidFill>
            <a:srgbClr val="14917F"/>
          </a:solidFill>
          <a:ln/>
        </p:spPr>
        <p:txBody>
          <a:bodyPr wrap="square" lIns="0" tIns="0" rIns="0" bIns="0" rtlCol="0" anchor="ctr"/>
          <a:lstStyle/>
          <a:p>
            <a:pPr algn="ctr" indent="0" marL="0">
              <a:buNone/>
            </a:pPr>
            <a:r>
              <a:rPr lang="en-US" sz="1100" b="1" dirty="0">
                <a:solidFill>
                  <a:srgbClr val="FFFFFF"/>
                </a:solidFill>
              </a:rPr>
              <a:t>Built</a:t>
            </a:r>
            <a:endParaRPr lang="en-US" sz="1100" dirty="0"/>
          </a:p>
        </p:txBody>
      </p:sp>
      <p:sp>
        <p:nvSpPr>
          <p:cNvPr id="7" name="legend-547"/>
          <p:cNvSpPr txBox="1"/>
          <p:nvPr/>
        </p:nvSpPr>
        <p:spPr>
          <a:xfrm>
            <a:off x="9482328" y="384048"/>
            <a:ext cx="1024128" cy="256032"/>
          </a:xfrm>
          <a:prstGeom prst="roundRect">
            <a:avLst>
              <a:gd name="adj" fmla="val 46429"/>
            </a:avLst>
          </a:prstGeom>
          <a:solidFill>
            <a:srgbClr val="FBEFD3"/>
          </a:solidFill>
          <a:ln w="12700">
            <a:solidFill>
              <a:srgbClr val="E3A21A"/>
            </a:solidFill>
          </a:ln>
        </p:spPr>
        <p:txBody>
          <a:bodyPr wrap="square" lIns="0" tIns="0" rIns="0" bIns="0" rtlCol="0" anchor="ctr"/>
          <a:lstStyle/>
          <a:p>
            <a:pPr algn="ctr" indent="0" marL="0">
              <a:buNone/>
            </a:pPr>
            <a:r>
              <a:rPr lang="en-US" sz="1100" b="1" dirty="0">
                <a:solidFill>
                  <a:srgbClr val="13203A"/>
                </a:solidFill>
              </a:rPr>
              <a:t>In progress</a:t>
            </a:r>
            <a:endParaRPr lang="en-US" sz="1100" dirty="0"/>
          </a:p>
        </p:txBody>
      </p:sp>
      <p:sp>
        <p:nvSpPr>
          <p:cNvPr id="8" name="legend-548"/>
          <p:cNvSpPr txBox="1"/>
          <p:nvPr/>
        </p:nvSpPr>
        <p:spPr>
          <a:xfrm>
            <a:off x="10616184" y="384048"/>
            <a:ext cx="1024128" cy="256032"/>
          </a:xfrm>
          <a:prstGeom prst="roundRect">
            <a:avLst>
              <a:gd name="adj" fmla="val 46429"/>
            </a:avLst>
          </a:prstGeom>
          <a:solidFill>
            <a:srgbClr val="FFFFFF"/>
          </a:solidFill>
          <a:ln w="12700">
            <a:solidFill>
              <a:srgbClr val="8C98AA"/>
            </a:solidFill>
            <a:prstDash val="dash"/>
          </a:ln>
        </p:spPr>
        <p:txBody>
          <a:bodyPr wrap="square" lIns="0" tIns="0" rIns="0" bIns="0" rtlCol="0" anchor="ctr"/>
          <a:lstStyle/>
          <a:p>
            <a:pPr algn="ctr" indent="0" marL="0">
              <a:buNone/>
            </a:pPr>
            <a:r>
              <a:rPr lang="en-US" sz="1100" b="1" dirty="0">
                <a:solidFill>
                  <a:srgbClr val="2B3A55"/>
                </a:solidFill>
              </a:rPr>
              <a:t>Planned</a:t>
            </a:r>
            <a:endParaRPr lang="en-US" sz="1100" dirty="0"/>
          </a:p>
        </p:txBody>
      </p:sp>
      <p:sp>
        <p:nvSpPr>
          <p:cNvPr id="9" name="text-549"/>
          <p:cNvSpPr txBox="1"/>
          <p:nvPr/>
        </p:nvSpPr>
        <p:spPr>
          <a:xfrm>
            <a:off x="548640" y="1920240"/>
            <a:ext cx="6400800" cy="274320"/>
          </a:xfrm>
          <a:prstGeom prst="rect">
            <a:avLst/>
          </a:prstGeom>
          <a:noFill/>
          <a:ln/>
        </p:spPr>
        <p:txBody>
          <a:bodyPr wrap="square" lIns="0" tIns="0" rIns="0" bIns="0" rtlCol="0" anchor="t"/>
          <a:lstStyle/>
          <a:p>
            <a:pPr indent="0" marL="0">
              <a:buNone/>
            </a:pPr>
            <a:r>
              <a:rPr lang="en-US" sz="1400" b="1" dirty="0">
                <a:solidFill>
                  <a:srgbClr val="13203A"/>
                </a:solidFill>
              </a:rPr>
              <a:t>Trace of one /ask (illustrative)</a:t>
            </a:r>
            <a:endParaRPr lang="en-US" sz="1400" dirty="0"/>
          </a:p>
        </p:txBody>
      </p:sp>
      <p:sp>
        <p:nvSpPr>
          <p:cNvPr id="10" name="grid-550"/>
          <p:cNvSpPr/>
          <p:nvPr/>
        </p:nvSpPr>
        <p:spPr>
          <a:xfrm>
            <a:off x="3017520" y="2487168"/>
            <a:ext cx="0" cy="2743200"/>
          </a:xfrm>
          <a:prstGeom prst="line">
            <a:avLst/>
          </a:prstGeom>
          <a:noFill/>
          <a:ln w="9525">
            <a:solidFill>
              <a:srgbClr val="E3E7EE"/>
            </a:solidFill>
            <a:prstDash val="solid"/>
          </a:ln>
        </p:spPr>
      </p:sp>
      <p:sp>
        <p:nvSpPr>
          <p:cNvPr id="11" name="text-551"/>
          <p:cNvSpPr txBox="1"/>
          <p:nvPr/>
        </p:nvSpPr>
        <p:spPr>
          <a:xfrm>
            <a:off x="2743200" y="2249424"/>
            <a:ext cx="548640" cy="219456"/>
          </a:xfrm>
          <a:prstGeom prst="rect">
            <a:avLst/>
          </a:prstGeom>
          <a:noFill/>
          <a:ln/>
        </p:spPr>
        <p:txBody>
          <a:bodyPr wrap="square" lIns="0" tIns="0" rIns="0" bIns="0" rtlCol="0" anchor="t"/>
          <a:lstStyle/>
          <a:p>
            <a:pPr algn="ctr" indent="0" marL="0">
              <a:buNone/>
            </a:pPr>
            <a:r>
              <a:rPr lang="en-US" sz="1000" dirty="0">
                <a:solidFill>
                  <a:srgbClr val="5B6B82"/>
                </a:solidFill>
              </a:rPr>
              <a:t>0.0 s</a:t>
            </a:r>
            <a:endParaRPr lang="en-US" sz="1000" dirty="0"/>
          </a:p>
        </p:txBody>
      </p:sp>
      <p:sp>
        <p:nvSpPr>
          <p:cNvPr id="12" name="grid-552"/>
          <p:cNvSpPr/>
          <p:nvPr/>
        </p:nvSpPr>
        <p:spPr>
          <a:xfrm>
            <a:off x="4069080" y="2487168"/>
            <a:ext cx="0" cy="2743200"/>
          </a:xfrm>
          <a:prstGeom prst="line">
            <a:avLst/>
          </a:prstGeom>
          <a:noFill/>
          <a:ln w="9525">
            <a:solidFill>
              <a:srgbClr val="E3E7EE"/>
            </a:solidFill>
            <a:prstDash val="solid"/>
          </a:ln>
        </p:spPr>
      </p:sp>
      <p:sp>
        <p:nvSpPr>
          <p:cNvPr id="13" name="text-553"/>
          <p:cNvSpPr txBox="1"/>
          <p:nvPr/>
        </p:nvSpPr>
        <p:spPr>
          <a:xfrm>
            <a:off x="3794760" y="2249424"/>
            <a:ext cx="548640" cy="219456"/>
          </a:xfrm>
          <a:prstGeom prst="rect">
            <a:avLst/>
          </a:prstGeom>
          <a:noFill/>
          <a:ln/>
        </p:spPr>
        <p:txBody>
          <a:bodyPr wrap="square" lIns="0" tIns="0" rIns="0" bIns="0" rtlCol="0" anchor="t"/>
          <a:lstStyle/>
          <a:p>
            <a:pPr algn="ctr" indent="0" marL="0">
              <a:buNone/>
            </a:pPr>
            <a:r>
              <a:rPr lang="en-US" sz="1000" dirty="0">
                <a:solidFill>
                  <a:srgbClr val="5B6B82"/>
                </a:solidFill>
              </a:rPr>
              <a:t>0.5 s</a:t>
            </a:r>
            <a:endParaRPr lang="en-US" sz="1000" dirty="0"/>
          </a:p>
        </p:txBody>
      </p:sp>
      <p:sp>
        <p:nvSpPr>
          <p:cNvPr id="14" name="grid-554"/>
          <p:cNvSpPr/>
          <p:nvPr/>
        </p:nvSpPr>
        <p:spPr>
          <a:xfrm>
            <a:off x="5120640" y="2487168"/>
            <a:ext cx="0" cy="2743200"/>
          </a:xfrm>
          <a:prstGeom prst="line">
            <a:avLst/>
          </a:prstGeom>
          <a:noFill/>
          <a:ln w="9525">
            <a:solidFill>
              <a:srgbClr val="E3E7EE"/>
            </a:solidFill>
            <a:prstDash val="solid"/>
          </a:ln>
        </p:spPr>
      </p:sp>
      <p:sp>
        <p:nvSpPr>
          <p:cNvPr id="15" name="text-555"/>
          <p:cNvSpPr txBox="1"/>
          <p:nvPr/>
        </p:nvSpPr>
        <p:spPr>
          <a:xfrm>
            <a:off x="4846320" y="2249424"/>
            <a:ext cx="548640" cy="219456"/>
          </a:xfrm>
          <a:prstGeom prst="rect">
            <a:avLst/>
          </a:prstGeom>
          <a:noFill/>
          <a:ln/>
        </p:spPr>
        <p:txBody>
          <a:bodyPr wrap="square" lIns="0" tIns="0" rIns="0" bIns="0" rtlCol="0" anchor="t"/>
          <a:lstStyle/>
          <a:p>
            <a:pPr algn="ctr" indent="0" marL="0">
              <a:buNone/>
            </a:pPr>
            <a:r>
              <a:rPr lang="en-US" sz="1000" dirty="0">
                <a:solidFill>
                  <a:srgbClr val="5B6B82"/>
                </a:solidFill>
              </a:rPr>
              <a:t>1.0 s</a:t>
            </a:r>
            <a:endParaRPr lang="en-US" sz="1000" dirty="0"/>
          </a:p>
        </p:txBody>
      </p:sp>
      <p:sp>
        <p:nvSpPr>
          <p:cNvPr id="16" name="grid-556"/>
          <p:cNvSpPr/>
          <p:nvPr/>
        </p:nvSpPr>
        <p:spPr>
          <a:xfrm>
            <a:off x="6172200" y="2487168"/>
            <a:ext cx="0" cy="2743200"/>
          </a:xfrm>
          <a:prstGeom prst="line">
            <a:avLst/>
          </a:prstGeom>
          <a:noFill/>
          <a:ln w="9525">
            <a:solidFill>
              <a:srgbClr val="E3E7EE"/>
            </a:solidFill>
            <a:prstDash val="solid"/>
          </a:ln>
        </p:spPr>
      </p:sp>
      <p:sp>
        <p:nvSpPr>
          <p:cNvPr id="17" name="text-557"/>
          <p:cNvSpPr txBox="1"/>
          <p:nvPr/>
        </p:nvSpPr>
        <p:spPr>
          <a:xfrm>
            <a:off x="5897880" y="2249424"/>
            <a:ext cx="548640" cy="219456"/>
          </a:xfrm>
          <a:prstGeom prst="rect">
            <a:avLst/>
          </a:prstGeom>
          <a:noFill/>
          <a:ln/>
        </p:spPr>
        <p:txBody>
          <a:bodyPr wrap="square" lIns="0" tIns="0" rIns="0" bIns="0" rtlCol="0" anchor="t"/>
          <a:lstStyle/>
          <a:p>
            <a:pPr algn="ctr" indent="0" marL="0">
              <a:buNone/>
            </a:pPr>
            <a:r>
              <a:rPr lang="en-US" sz="1000" dirty="0">
                <a:solidFill>
                  <a:srgbClr val="5B6B82"/>
                </a:solidFill>
              </a:rPr>
              <a:t>1.5 s</a:t>
            </a:r>
            <a:endParaRPr lang="en-US" sz="1000" dirty="0"/>
          </a:p>
        </p:txBody>
      </p:sp>
      <p:sp>
        <p:nvSpPr>
          <p:cNvPr id="18" name="grid-558"/>
          <p:cNvSpPr/>
          <p:nvPr/>
        </p:nvSpPr>
        <p:spPr>
          <a:xfrm>
            <a:off x="7223760" y="2487168"/>
            <a:ext cx="0" cy="2743200"/>
          </a:xfrm>
          <a:prstGeom prst="line">
            <a:avLst/>
          </a:prstGeom>
          <a:noFill/>
          <a:ln w="9525">
            <a:solidFill>
              <a:srgbClr val="E3E7EE"/>
            </a:solidFill>
            <a:prstDash val="solid"/>
          </a:ln>
        </p:spPr>
      </p:sp>
      <p:sp>
        <p:nvSpPr>
          <p:cNvPr id="19" name="text-559"/>
          <p:cNvSpPr txBox="1"/>
          <p:nvPr/>
        </p:nvSpPr>
        <p:spPr>
          <a:xfrm>
            <a:off x="6949440" y="2249424"/>
            <a:ext cx="548640" cy="219456"/>
          </a:xfrm>
          <a:prstGeom prst="rect">
            <a:avLst/>
          </a:prstGeom>
          <a:noFill/>
          <a:ln/>
        </p:spPr>
        <p:txBody>
          <a:bodyPr wrap="square" lIns="0" tIns="0" rIns="0" bIns="0" rtlCol="0" anchor="t"/>
          <a:lstStyle/>
          <a:p>
            <a:pPr algn="ctr" indent="0" marL="0">
              <a:buNone/>
            </a:pPr>
            <a:r>
              <a:rPr lang="en-US" sz="1000" dirty="0">
                <a:solidFill>
                  <a:srgbClr val="5B6B82"/>
                </a:solidFill>
              </a:rPr>
              <a:t>2.0 s</a:t>
            </a:r>
            <a:endParaRPr lang="en-US" sz="1000" dirty="0"/>
          </a:p>
        </p:txBody>
      </p:sp>
      <p:sp>
        <p:nvSpPr>
          <p:cNvPr id="20" name="text-560"/>
          <p:cNvSpPr txBox="1"/>
          <p:nvPr/>
        </p:nvSpPr>
        <p:spPr>
          <a:xfrm>
            <a:off x="548640" y="2606040"/>
            <a:ext cx="2331720" cy="310896"/>
          </a:xfrm>
          <a:prstGeom prst="rect">
            <a:avLst/>
          </a:prstGeom>
          <a:noFill/>
          <a:ln/>
        </p:spPr>
        <p:txBody>
          <a:bodyPr wrap="square" lIns="0" tIns="0" rIns="0" bIns="0" rtlCol="0" anchor="ctr"/>
          <a:lstStyle/>
          <a:p>
            <a:pPr indent="0" marL="0">
              <a:buNone/>
            </a:pPr>
            <a:r>
              <a:rPr lang="en-US" sz="1250" b="1" dirty="0">
                <a:solidFill>
                  <a:srgbClr val="13203A"/>
                </a:solidFill>
              </a:rPr>
              <a:t>POST /ask</a:t>
            </a:r>
            <a:endParaRPr lang="en-US" sz="1250" dirty="0"/>
          </a:p>
        </p:txBody>
      </p:sp>
      <p:sp>
        <p:nvSpPr>
          <p:cNvPr id="21" name="span-561"/>
          <p:cNvSpPr/>
          <p:nvPr/>
        </p:nvSpPr>
        <p:spPr>
          <a:xfrm>
            <a:off x="3017520" y="2651760"/>
            <a:ext cx="3869741" cy="219456"/>
          </a:xfrm>
          <a:prstGeom prst="rect">
            <a:avLst/>
          </a:prstGeom>
          <a:solidFill>
            <a:srgbClr val="13203A"/>
          </a:solidFill>
          <a:ln/>
        </p:spPr>
      </p:sp>
      <p:sp>
        <p:nvSpPr>
          <p:cNvPr id="22" name="text-562"/>
          <p:cNvSpPr txBox="1"/>
          <p:nvPr/>
        </p:nvSpPr>
        <p:spPr>
          <a:xfrm>
            <a:off x="3090672" y="2651760"/>
            <a:ext cx="2743200" cy="219456"/>
          </a:xfrm>
          <a:prstGeom prst="rect">
            <a:avLst/>
          </a:prstGeom>
          <a:noFill/>
          <a:ln/>
        </p:spPr>
        <p:txBody>
          <a:bodyPr wrap="square" lIns="0" tIns="0" rIns="0" bIns="0" rtlCol="0" anchor="ctr"/>
          <a:lstStyle/>
          <a:p>
            <a:pPr indent="0" marL="0">
              <a:buNone/>
            </a:pPr>
            <a:r>
              <a:rPr lang="en-US" sz="1050" b="1" dirty="0">
                <a:solidFill>
                  <a:srgbClr val="FFFFFF"/>
                </a:solidFill>
              </a:rPr>
              <a:t>1,840 ms</a:t>
            </a:r>
            <a:endParaRPr lang="en-US" sz="1050" dirty="0"/>
          </a:p>
        </p:txBody>
      </p:sp>
      <p:sp>
        <p:nvSpPr>
          <p:cNvPr id="23" name="text-563"/>
          <p:cNvSpPr txBox="1"/>
          <p:nvPr/>
        </p:nvSpPr>
        <p:spPr>
          <a:xfrm>
            <a:off x="731520" y="3035808"/>
            <a:ext cx="2331720" cy="310896"/>
          </a:xfrm>
          <a:prstGeom prst="rect">
            <a:avLst/>
          </a:prstGeom>
          <a:noFill/>
          <a:ln/>
        </p:spPr>
        <p:txBody>
          <a:bodyPr wrap="square" lIns="0" tIns="0" rIns="0" bIns="0" rtlCol="0" anchor="ctr"/>
          <a:lstStyle/>
          <a:p>
            <a:pPr indent="0" marL="0">
              <a:buNone/>
            </a:pPr>
            <a:r>
              <a:rPr lang="en-US" sz="1250" dirty="0">
                <a:solidFill>
                  <a:srgbClr val="13203A"/>
                </a:solidFill>
              </a:rPr>
              <a:t>guardrails + redaction</a:t>
            </a:r>
            <a:endParaRPr lang="en-US" sz="1250" dirty="0"/>
          </a:p>
        </p:txBody>
      </p:sp>
      <p:sp>
        <p:nvSpPr>
          <p:cNvPr id="24" name="span-564"/>
          <p:cNvSpPr/>
          <p:nvPr/>
        </p:nvSpPr>
        <p:spPr>
          <a:xfrm>
            <a:off x="3017520" y="3081528"/>
            <a:ext cx="45720" cy="219456"/>
          </a:xfrm>
          <a:prstGeom prst="rect">
            <a:avLst/>
          </a:prstGeom>
          <a:solidFill>
            <a:srgbClr val="4F6D99"/>
          </a:solidFill>
          <a:ln/>
        </p:spPr>
      </p:sp>
      <p:sp>
        <p:nvSpPr>
          <p:cNvPr id="25" name="text-565"/>
          <p:cNvSpPr txBox="1"/>
          <p:nvPr/>
        </p:nvSpPr>
        <p:spPr>
          <a:xfrm>
            <a:off x="731520" y="3465576"/>
            <a:ext cx="2331720" cy="310896"/>
          </a:xfrm>
          <a:prstGeom prst="rect">
            <a:avLst/>
          </a:prstGeom>
          <a:noFill/>
          <a:ln/>
        </p:spPr>
        <p:txBody>
          <a:bodyPr wrap="square" lIns="0" tIns="0" rIns="0" bIns="0" rtlCol="0" anchor="ctr"/>
          <a:lstStyle/>
          <a:p>
            <a:pPr indent="0" marL="0">
              <a:buNone/>
            </a:pPr>
            <a:r>
              <a:rPr lang="en-US" sz="1250" dirty="0">
                <a:solidFill>
                  <a:srgbClr val="13203A"/>
                </a:solidFill>
              </a:rPr>
              <a:t>retrieve: dense + BM25 + RRF</a:t>
            </a:r>
            <a:endParaRPr lang="en-US" sz="1250" dirty="0"/>
          </a:p>
        </p:txBody>
      </p:sp>
      <p:sp>
        <p:nvSpPr>
          <p:cNvPr id="26" name="span-566"/>
          <p:cNvSpPr/>
          <p:nvPr/>
        </p:nvSpPr>
        <p:spPr>
          <a:xfrm>
            <a:off x="3038551" y="3511296"/>
            <a:ext cx="252374" cy="219456"/>
          </a:xfrm>
          <a:prstGeom prst="rect">
            <a:avLst/>
          </a:prstGeom>
          <a:solidFill>
            <a:srgbClr val="4F6D99"/>
          </a:solidFill>
          <a:ln/>
        </p:spPr>
      </p:sp>
      <p:sp>
        <p:nvSpPr>
          <p:cNvPr id="27" name="text-567"/>
          <p:cNvSpPr txBox="1"/>
          <p:nvPr/>
        </p:nvSpPr>
        <p:spPr>
          <a:xfrm>
            <a:off x="731520" y="3895344"/>
            <a:ext cx="2331720" cy="310896"/>
          </a:xfrm>
          <a:prstGeom prst="rect">
            <a:avLst/>
          </a:prstGeom>
          <a:noFill/>
          <a:ln/>
        </p:spPr>
        <p:txBody>
          <a:bodyPr wrap="square" lIns="0" tIns="0" rIns="0" bIns="0" rtlCol="0" anchor="ctr"/>
          <a:lstStyle/>
          <a:p>
            <a:pPr indent="0" marL="0">
              <a:buNone/>
            </a:pPr>
            <a:r>
              <a:rPr lang="en-US" sz="1250" dirty="0">
                <a:solidFill>
                  <a:srgbClr val="13203A"/>
                </a:solidFill>
              </a:rPr>
              <a:t>llm.chat: gemini</a:t>
            </a:r>
            <a:endParaRPr lang="en-US" sz="1250" dirty="0"/>
          </a:p>
        </p:txBody>
      </p:sp>
      <p:sp>
        <p:nvSpPr>
          <p:cNvPr id="28" name="span-568"/>
          <p:cNvSpPr/>
          <p:nvPr/>
        </p:nvSpPr>
        <p:spPr>
          <a:xfrm>
            <a:off x="3290926" y="3941064"/>
            <a:ext cx="3512210" cy="219456"/>
          </a:xfrm>
          <a:prstGeom prst="rect">
            <a:avLst/>
          </a:prstGeom>
          <a:solidFill>
            <a:srgbClr val="E3A21A"/>
          </a:solidFill>
          <a:ln/>
        </p:spPr>
      </p:sp>
      <p:sp>
        <p:nvSpPr>
          <p:cNvPr id="29" name="text-569"/>
          <p:cNvSpPr txBox="1"/>
          <p:nvPr/>
        </p:nvSpPr>
        <p:spPr>
          <a:xfrm>
            <a:off x="3364078" y="3941064"/>
            <a:ext cx="2743200" cy="219456"/>
          </a:xfrm>
          <a:prstGeom prst="rect">
            <a:avLst/>
          </a:prstGeom>
          <a:noFill/>
          <a:ln/>
        </p:spPr>
        <p:txBody>
          <a:bodyPr wrap="square" lIns="0" tIns="0" rIns="0" bIns="0" rtlCol="0" anchor="ctr"/>
          <a:lstStyle/>
          <a:p>
            <a:pPr indent="0" marL="0">
              <a:buNone/>
            </a:pPr>
            <a:r>
              <a:rPr lang="en-US" sz="1050" b="1" dirty="0">
                <a:solidFill>
                  <a:srgbClr val="13203A"/>
                </a:solidFill>
              </a:rPr>
              <a:t>2,150 in / 210 out tokens</a:t>
            </a:r>
            <a:endParaRPr lang="en-US" sz="1050" dirty="0"/>
          </a:p>
        </p:txBody>
      </p:sp>
      <p:sp>
        <p:nvSpPr>
          <p:cNvPr id="30" name="text-570"/>
          <p:cNvSpPr txBox="1"/>
          <p:nvPr/>
        </p:nvSpPr>
        <p:spPr>
          <a:xfrm>
            <a:off x="731520" y="4325112"/>
            <a:ext cx="2331720" cy="310896"/>
          </a:xfrm>
          <a:prstGeom prst="rect">
            <a:avLst/>
          </a:prstGeom>
          <a:noFill/>
          <a:ln/>
        </p:spPr>
        <p:txBody>
          <a:bodyPr wrap="square" lIns="0" tIns="0" rIns="0" bIns="0" rtlCol="0" anchor="ctr"/>
          <a:lstStyle/>
          <a:p>
            <a:pPr indent="0" marL="0">
              <a:buNone/>
            </a:pPr>
            <a:r>
              <a:rPr lang="en-US" sz="1250" dirty="0">
                <a:solidFill>
                  <a:srgbClr val="13203A"/>
                </a:solidFill>
              </a:rPr>
              <a:t>verify citations</a:t>
            </a:r>
            <a:endParaRPr lang="en-US" sz="1250" dirty="0"/>
          </a:p>
        </p:txBody>
      </p:sp>
      <p:sp>
        <p:nvSpPr>
          <p:cNvPr id="31" name="span-571"/>
          <p:cNvSpPr/>
          <p:nvPr/>
        </p:nvSpPr>
        <p:spPr>
          <a:xfrm>
            <a:off x="6803136" y="4370832"/>
            <a:ext cx="45720" cy="219456"/>
          </a:xfrm>
          <a:prstGeom prst="rect">
            <a:avLst/>
          </a:prstGeom>
          <a:solidFill>
            <a:srgbClr val="4F6D99"/>
          </a:solidFill>
          <a:ln/>
        </p:spPr>
      </p:sp>
      <p:sp>
        <p:nvSpPr>
          <p:cNvPr id="32" name="text-572"/>
          <p:cNvSpPr txBox="1"/>
          <p:nvPr/>
        </p:nvSpPr>
        <p:spPr>
          <a:xfrm>
            <a:off x="731520" y="4754880"/>
            <a:ext cx="2331720" cy="310896"/>
          </a:xfrm>
          <a:prstGeom prst="rect">
            <a:avLst/>
          </a:prstGeom>
          <a:noFill/>
          <a:ln/>
        </p:spPr>
        <p:txBody>
          <a:bodyPr wrap="square" lIns="0" tIns="0" rIns="0" bIns="0" rtlCol="0" anchor="ctr"/>
          <a:lstStyle/>
          <a:p>
            <a:pPr indent="0" marL="0">
              <a:buNone/>
            </a:pPr>
            <a:r>
              <a:rPr lang="en-US" sz="1250" dirty="0">
                <a:solidFill>
                  <a:srgbClr val="13203A"/>
                </a:solidFill>
              </a:rPr>
              <a:t>log_event</a:t>
            </a:r>
            <a:endParaRPr lang="en-US" sz="1250" dirty="0"/>
          </a:p>
        </p:txBody>
      </p:sp>
      <p:sp>
        <p:nvSpPr>
          <p:cNvPr id="33" name="span-573"/>
          <p:cNvSpPr/>
          <p:nvPr/>
        </p:nvSpPr>
        <p:spPr>
          <a:xfrm>
            <a:off x="6824167" y="4800600"/>
            <a:ext cx="63094" cy="219456"/>
          </a:xfrm>
          <a:prstGeom prst="rect">
            <a:avLst/>
          </a:prstGeom>
          <a:solidFill>
            <a:srgbClr val="4F6D99"/>
          </a:solidFill>
          <a:ln/>
        </p:spPr>
      </p:sp>
      <p:sp>
        <p:nvSpPr>
          <p:cNvPr id="34" name="text-574"/>
          <p:cNvSpPr txBox="1"/>
          <p:nvPr/>
        </p:nvSpPr>
        <p:spPr>
          <a:xfrm>
            <a:off x="7635240" y="1920240"/>
            <a:ext cx="4007815" cy="274320"/>
          </a:xfrm>
          <a:prstGeom prst="rect">
            <a:avLst/>
          </a:prstGeom>
          <a:noFill/>
          <a:ln/>
        </p:spPr>
        <p:txBody>
          <a:bodyPr wrap="square" lIns="0" tIns="0" rIns="0" bIns="0" rtlCol="0" anchor="t"/>
          <a:lstStyle/>
          <a:p>
            <a:pPr indent="0" marL="0">
              <a:buNone/>
            </a:pPr>
            <a:r>
              <a:rPr lang="en-US" sz="1400" b="1" dirty="0">
                <a:solidFill>
                  <a:srgbClr val="13203A"/>
                </a:solidFill>
              </a:rPr>
              <a:t>The JSON log line</a:t>
            </a:r>
            <a:endParaRPr lang="en-US" sz="1400" dirty="0"/>
          </a:p>
        </p:txBody>
      </p:sp>
      <p:sp>
        <p:nvSpPr>
          <p:cNvPr id="35" name="code-575"/>
          <p:cNvSpPr txBox="1"/>
          <p:nvPr/>
        </p:nvSpPr>
        <p:spPr>
          <a:xfrm>
            <a:off x="7635240" y="2267712"/>
            <a:ext cx="4007815" cy="2697480"/>
          </a:xfrm>
          <a:prstGeom prst="roundRect">
            <a:avLst>
              <a:gd name="adj" fmla="val 2034"/>
            </a:avLst>
          </a:prstGeom>
          <a:solidFill>
            <a:srgbClr val="F1F3F7"/>
          </a:solidFill>
          <a:ln w="9525">
            <a:solidFill>
              <a:srgbClr val="D5DBE5"/>
            </a:solidFill>
          </a:ln>
        </p:spPr>
        <p:txBody>
          <a:bodyPr wrap="square" lIns="1270" tIns="1524" rIns="1524" bIns="1270" rtlCol="0" anchor="t"/>
          <a:lstStyle/>
          <a:p>
            <a:pPr algn="l" indent="0" marL="0">
              <a:buNone/>
            </a:pPr>
            <a:r>
              <a:rPr lang="en-US" sz="1100" dirty="0">
                <a:solidFill>
                  <a:srgbClr val="13203A"/>
                </a:solidFill>
                <a:latin typeface="Courier New" pitchFamily="34" charset="0"/>
                <a:ea typeface="Courier New" pitchFamily="34" charset="-122"/>
                <a:cs typeface="Courier New" pitchFamily="34" charset="-120"/>
              </a:rPr>
              <a:t>{"severity": "INFO",</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"event": "ask",</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"provider": "gemini",</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"cache_hit": false,</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"latency_ms": 1840,</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"input_tokens": 2150,</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"output_tokens": 210,</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"n_citations": 3,</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"invented": 0,</a:t>
            </a:r>
            <a:endParaRPr lang="en-US" sz="1100" dirty="0"/>
          </a:p>
          <a:p>
            <a:pPr algn="l" indent="0" marL="0">
              <a:buNone/>
            </a:pPr>
            <a:r>
              <a:rPr lang="en-US" sz="1100" dirty="0">
                <a:solidFill>
                  <a:srgbClr val="13203A"/>
                </a:solidFill>
                <a:latin typeface="Courier New" pitchFamily="34" charset="0"/>
                <a:ea typeface="Courier New" pitchFamily="34" charset="-122"/>
                <a:cs typeface="Courier New" pitchFamily="34" charset="-120"/>
              </a:rPr>
              <a:t> "refused": false}</a:t>
            </a:r>
            <a:endParaRPr lang="en-US" sz="1100" dirty="0"/>
          </a:p>
        </p:txBody>
      </p:sp>
      <p:sp>
        <p:nvSpPr>
          <p:cNvPr id="36" name="box-576"/>
          <p:cNvSpPr/>
          <p:nvPr/>
        </p:nvSpPr>
        <p:spPr>
          <a:xfrm>
            <a:off x="548640" y="5120640"/>
            <a:ext cx="3545738" cy="1051560"/>
          </a:xfrm>
          <a:prstGeom prst="roundRect">
            <a:avLst>
              <a:gd name="adj" fmla="val 6957"/>
            </a:avLst>
          </a:prstGeom>
          <a:solidFill>
            <a:srgbClr val="EEF1F6"/>
          </a:solidFill>
          <a:ln/>
        </p:spPr>
      </p:sp>
      <p:sp>
        <p:nvSpPr>
          <p:cNvPr id="37" name="text-577"/>
          <p:cNvSpPr txBox="1"/>
          <p:nvPr/>
        </p:nvSpPr>
        <p:spPr>
          <a:xfrm>
            <a:off x="685800" y="5212080"/>
            <a:ext cx="3271418" cy="274320"/>
          </a:xfrm>
          <a:prstGeom prst="rect">
            <a:avLst/>
          </a:prstGeom>
          <a:noFill/>
          <a:ln/>
        </p:spPr>
        <p:txBody>
          <a:bodyPr wrap="square" lIns="0" tIns="0" rIns="0" bIns="0" rtlCol="0" anchor="t"/>
          <a:lstStyle/>
          <a:p>
            <a:pPr indent="0" marL="0">
              <a:buNone/>
            </a:pPr>
            <a:r>
              <a:rPr lang="en-US" sz="1300" b="1" dirty="0">
                <a:solidFill>
                  <a:srgbClr val="13203A"/>
                </a:solidFill>
              </a:rPr>
              <a:t>Cost per query</a:t>
            </a:r>
            <a:endParaRPr lang="en-US" sz="1300" dirty="0"/>
          </a:p>
        </p:txBody>
      </p:sp>
      <p:sp>
        <p:nvSpPr>
          <p:cNvPr id="38" name="text-578"/>
          <p:cNvSpPr txBox="1"/>
          <p:nvPr/>
        </p:nvSpPr>
        <p:spPr>
          <a:xfrm>
            <a:off x="685800" y="5504688"/>
            <a:ext cx="3298850" cy="594360"/>
          </a:xfrm>
          <a:prstGeom prst="rect">
            <a:avLst/>
          </a:prstGeom>
          <a:noFill/>
          <a:ln/>
        </p:spPr>
        <p:txBody>
          <a:bodyPr wrap="square" lIns="0" tIns="0" rIns="0" bIns="0" rtlCol="0" anchor="t"/>
          <a:lstStyle/>
          <a:p>
            <a:pPr indent="0" marL="0">
              <a:buNone/>
            </a:pPr>
            <a:r>
              <a:rPr lang="en-US" sz="1200" dirty="0">
                <a:solidFill>
                  <a:srgbClr val="2B3A55"/>
                </a:solidFill>
              </a:rPr>
              <a:t>input tokens × input price + output tokens × output price, at paid-tier prices. Reported in the README.</a:t>
            </a:r>
            <a:endParaRPr lang="en-US" sz="1200" dirty="0"/>
          </a:p>
        </p:txBody>
      </p:sp>
      <p:sp>
        <p:nvSpPr>
          <p:cNvPr id="39" name="box-579"/>
          <p:cNvSpPr/>
          <p:nvPr/>
        </p:nvSpPr>
        <p:spPr>
          <a:xfrm>
            <a:off x="4322978" y="5120640"/>
            <a:ext cx="3545738" cy="1051560"/>
          </a:xfrm>
          <a:prstGeom prst="roundRect">
            <a:avLst>
              <a:gd name="adj" fmla="val 6957"/>
            </a:avLst>
          </a:prstGeom>
          <a:solidFill>
            <a:srgbClr val="EEF1F6"/>
          </a:solidFill>
          <a:ln/>
        </p:spPr>
      </p:sp>
      <p:sp>
        <p:nvSpPr>
          <p:cNvPr id="40" name="text-580"/>
          <p:cNvSpPr txBox="1"/>
          <p:nvPr/>
        </p:nvSpPr>
        <p:spPr>
          <a:xfrm>
            <a:off x="4460138" y="5212080"/>
            <a:ext cx="3271418" cy="274320"/>
          </a:xfrm>
          <a:prstGeom prst="rect">
            <a:avLst/>
          </a:prstGeom>
          <a:noFill/>
          <a:ln/>
        </p:spPr>
        <p:txBody>
          <a:bodyPr wrap="square" lIns="0" tIns="0" rIns="0" bIns="0" rtlCol="0" anchor="t"/>
          <a:lstStyle/>
          <a:p>
            <a:pPr indent="0" marL="0">
              <a:buNone/>
            </a:pPr>
            <a:r>
              <a:rPr lang="en-US" sz="1300" b="1" dirty="0">
                <a:solidFill>
                  <a:srgbClr val="13203A"/>
                </a:solidFill>
              </a:rPr>
              <a:t>Privacy</a:t>
            </a:r>
            <a:endParaRPr lang="en-US" sz="1300" dirty="0"/>
          </a:p>
        </p:txBody>
      </p:sp>
      <p:sp>
        <p:nvSpPr>
          <p:cNvPr id="41" name="text-581"/>
          <p:cNvSpPr txBox="1"/>
          <p:nvPr/>
        </p:nvSpPr>
        <p:spPr>
          <a:xfrm>
            <a:off x="4460138" y="5504688"/>
            <a:ext cx="3298850" cy="594360"/>
          </a:xfrm>
          <a:prstGeom prst="rect">
            <a:avLst/>
          </a:prstGeom>
          <a:noFill/>
          <a:ln/>
        </p:spPr>
        <p:txBody>
          <a:bodyPr wrap="square" lIns="0" tIns="0" rIns="0" bIns="0" rtlCol="0" anchor="t"/>
          <a:lstStyle/>
          <a:p>
            <a:pPr indent="0" marL="0">
              <a:buNone/>
            </a:pPr>
            <a:r>
              <a:rPr lang="en-US" sz="1200" dirty="0">
                <a:solidFill>
                  <a:srgbClr val="2B3A55"/>
                </a:solidFill>
              </a:rPr>
              <a:t>redact_pii runs before tracing; /classify inputs are never captured.</a:t>
            </a:r>
            <a:endParaRPr lang="en-US" sz="1200" dirty="0"/>
          </a:p>
        </p:txBody>
      </p:sp>
      <p:sp>
        <p:nvSpPr>
          <p:cNvPr id="42" name="box-582"/>
          <p:cNvSpPr/>
          <p:nvPr/>
        </p:nvSpPr>
        <p:spPr>
          <a:xfrm>
            <a:off x="8097317" y="5120640"/>
            <a:ext cx="3545738" cy="1051560"/>
          </a:xfrm>
          <a:prstGeom prst="roundRect">
            <a:avLst>
              <a:gd name="adj" fmla="val 6957"/>
            </a:avLst>
          </a:prstGeom>
          <a:solidFill>
            <a:srgbClr val="EEF1F6"/>
          </a:solidFill>
          <a:ln/>
        </p:spPr>
      </p:sp>
      <p:sp>
        <p:nvSpPr>
          <p:cNvPr id="43" name="text-583"/>
          <p:cNvSpPr txBox="1"/>
          <p:nvPr/>
        </p:nvSpPr>
        <p:spPr>
          <a:xfrm>
            <a:off x="8234477" y="5212080"/>
            <a:ext cx="3271418" cy="274320"/>
          </a:xfrm>
          <a:prstGeom prst="rect">
            <a:avLst/>
          </a:prstGeom>
          <a:noFill/>
          <a:ln/>
        </p:spPr>
        <p:txBody>
          <a:bodyPr wrap="square" lIns="0" tIns="0" rIns="0" bIns="0" rtlCol="0" anchor="t"/>
          <a:lstStyle/>
          <a:p>
            <a:pPr indent="0" marL="0">
              <a:buNone/>
            </a:pPr>
            <a:r>
              <a:rPr lang="en-US" sz="1300" b="1" dirty="0">
                <a:solidFill>
                  <a:srgbClr val="13203A"/>
                </a:solidFill>
              </a:rPr>
              <a:t>Free-tier watch</a:t>
            </a:r>
            <a:endParaRPr lang="en-US" sz="1300" dirty="0"/>
          </a:p>
        </p:txBody>
      </p:sp>
      <p:sp>
        <p:nvSpPr>
          <p:cNvPr id="44" name="text-584"/>
          <p:cNvSpPr txBox="1"/>
          <p:nvPr/>
        </p:nvSpPr>
        <p:spPr>
          <a:xfrm>
            <a:off x="8234477" y="5504688"/>
            <a:ext cx="3298850" cy="594360"/>
          </a:xfrm>
          <a:prstGeom prst="rect">
            <a:avLst/>
          </a:prstGeom>
          <a:noFill/>
          <a:ln/>
        </p:spPr>
        <p:txBody>
          <a:bodyPr wrap="square" lIns="0" tIns="0" rIns="0" bIns="0" rtlCol="0" anchor="t"/>
          <a:lstStyle/>
          <a:p>
            <a:pPr indent="0" marL="0">
              <a:buNone/>
            </a:pPr>
            <a:r>
              <a:rPr lang="en-US" sz="1200" dirty="0">
                <a:solidFill>
                  <a:srgbClr val="2B3A55"/>
                </a:solidFill>
              </a:rPr>
              <a:t>Langfuse Hobby: 50,000 units a month. Near the limit, trace 1 request in 5.</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OPERATIONS  ·  RESILIENCE</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When something fails, something takes over</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Every failure mode has a fallback, a user-visible behaviour and a test that proves it.</a:t>
            </a:r>
            <a:endParaRPr lang="en-US" sz="1600" dirty="0"/>
          </a:p>
        </p:txBody>
      </p:sp>
      <p:graphicFrame>
        <p:nvGraphicFramePr>
          <p:cNvPr id="20" name="table-585"/>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514600"/>
                <a:gridCol w="3429000"/>
                <a:gridCol w="2194560"/>
                <a:gridCol w="2953512"/>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Failure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takes over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User sees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Proved by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Gemini 429 or quota</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Retry with backoff, then Groq, then Ollama</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An answer, a bit slower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test_fallback_chain</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Qdrant cluster suspended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NumPy index inside the image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An answer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test_store_failover</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Google Sheets down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Register error ignored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The classification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test_register_failure_is_ignored</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200 requests used today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API stops calling the LLM</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429: try tomorrow</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test_daily_cap_resets_next_day</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Model invents a citation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Invented ID stripped and logged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Only verified citations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test_rag_strips_invented_citations</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Answer not in the sources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NOT_COVERED becomes a refusal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A refusal in EN or FR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test_rag_refuses_in_user_language</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Prompt injection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Sources-only prompt + citation check</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A grounded answer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safety suite, 40 prompts</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Slack 3-second limit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Acknowledge first, answer after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"Looking it up..."</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test_slack_handler</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29768">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Agent loops or bad output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Schema errors fed back; 8-step budget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3203A"/>
                          </a:solidFill>
                          <a:latin typeface="Calibri" pitchFamily="34" charset="0"/>
                          <a:ea typeface="Calibri" pitchFamily="34" charset="-122"/>
                          <a:cs typeface="Calibri" pitchFamily="34" charset="-120"/>
                        </a:rPr>
                        <a:t>A valid verdict or an error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050" dirty="0">
                          <a:solidFill>
                            <a:srgbClr val="0F7A6B"/>
                          </a:solidFill>
                          <a:latin typeface="Courier New" pitchFamily="34" charset="0"/>
                          <a:ea typeface="Courier New" pitchFamily="34" charset="-122"/>
                          <a:cs typeface="Courier New" pitchFamily="34" charset="-120"/>
                        </a:rPr>
                        <a:t>test_schema_errors_fed_back</a:t>
                      </a:r>
                      <a:endParaRPr lang="en-US" sz="1050" dirty="0">
                        <a:latin typeface="Courier New" charset="0"/>
                        <a:ea typeface="Courier New" charset="0"/>
                        <a:cs typeface="Courier New"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WALKTHROUGH  ·  /ASK</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One French question, end to end</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"Quelles pratiques d'IA sont interdites ?" through all six steps. The passage shown is real corpus text.</a:t>
            </a:r>
            <a:endParaRPr lang="en-US" sz="1600" dirty="0"/>
          </a:p>
        </p:txBody>
      </p:sp>
      <p:sp>
        <p:nvSpPr>
          <p:cNvPr id="6" name="box-586"/>
          <p:cNvSpPr/>
          <p:nvPr/>
        </p:nvSpPr>
        <p:spPr>
          <a:xfrm>
            <a:off x="548640" y="1965960"/>
            <a:ext cx="3423818" cy="1755648"/>
          </a:xfrm>
          <a:prstGeom prst="roundRect">
            <a:avLst>
              <a:gd name="adj" fmla="val 4167"/>
            </a:avLst>
          </a:prstGeom>
          <a:solidFill>
            <a:srgbClr val="EEF1F6"/>
          </a:solidFill>
          <a:ln/>
        </p:spPr>
      </p:sp>
      <p:sp>
        <p:nvSpPr>
          <p:cNvPr id="7" name="badge-587"/>
          <p:cNvSpPr txBox="1"/>
          <p:nvPr/>
        </p:nvSpPr>
        <p:spPr>
          <a:xfrm>
            <a:off x="713232" y="2112264"/>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1</a:t>
            </a:r>
            <a:endParaRPr lang="en-US" sz="1400" dirty="0"/>
          </a:p>
        </p:txBody>
      </p:sp>
      <p:sp>
        <p:nvSpPr>
          <p:cNvPr id="8" name="text-588"/>
          <p:cNvSpPr txBox="1"/>
          <p:nvPr/>
        </p:nvSpPr>
        <p:spPr>
          <a:xfrm>
            <a:off x="1234440" y="2130552"/>
            <a:ext cx="2600858" cy="347472"/>
          </a:xfrm>
          <a:prstGeom prst="rect">
            <a:avLst/>
          </a:prstGeom>
          <a:noFill/>
          <a:ln/>
        </p:spPr>
        <p:txBody>
          <a:bodyPr wrap="square" lIns="0" tIns="0" rIns="0" bIns="0" rtlCol="0" anchor="ctr"/>
          <a:lstStyle/>
          <a:p>
            <a:pPr indent="0" marL="0">
              <a:buNone/>
            </a:pPr>
            <a:r>
              <a:rPr lang="en-US" sz="1500" b="1" dirty="0">
                <a:solidFill>
                  <a:srgbClr val="13203A"/>
                </a:solidFill>
              </a:rPr>
              <a:t>Request</a:t>
            </a:r>
            <a:endParaRPr lang="en-US" sz="1500" dirty="0"/>
          </a:p>
        </p:txBody>
      </p:sp>
      <p:sp>
        <p:nvSpPr>
          <p:cNvPr id="9" name="code-589"/>
          <p:cNvSpPr txBox="1"/>
          <p:nvPr/>
        </p:nvSpPr>
        <p:spPr>
          <a:xfrm>
            <a:off x="713232" y="2624328"/>
            <a:ext cx="3094634" cy="950976"/>
          </a:xfrm>
          <a:prstGeom prst="roundRect">
            <a:avLst>
              <a:gd name="adj" fmla="val 5769"/>
            </a:avLst>
          </a:prstGeom>
          <a:solidFill>
            <a:srgbClr val="FFFFFF"/>
          </a:solidFill>
          <a:ln w="9525">
            <a:solidFill>
              <a:srgbClr val="D5DBE5"/>
            </a:solidFill>
          </a:ln>
        </p:spPr>
        <p:txBody>
          <a:bodyPr wrap="square" lIns="1270" tIns="1524" rIns="1524" bIns="1270" rtlCol="0" anchor="t"/>
          <a:lstStyle/>
          <a:p>
            <a:pPr algn="l" indent="0" marL="0">
              <a:buNone/>
            </a:pPr>
            <a:r>
              <a:rPr lang="en-US" sz="1050" dirty="0">
                <a:solidFill>
                  <a:srgbClr val="13203A"/>
                </a:solidFill>
                <a:latin typeface="Courier New" pitchFamily="34" charset="0"/>
                <a:ea typeface="Courier New" pitchFamily="34" charset="-122"/>
                <a:cs typeface="Courier New" pitchFamily="34" charset="-120"/>
              </a:rPr>
              <a:t>POST /ask</a:t>
            </a:r>
            <a:endParaRPr lang="en-US" sz="1050" dirty="0"/>
          </a:p>
          <a:p>
            <a:pPr algn="l" indent="0" marL="0">
              <a:buNone/>
            </a:pPr>
            <a:r>
              <a:rPr lang="en-US" sz="1050" dirty="0">
                <a:solidFill>
                  <a:srgbClr val="13203A"/>
                </a:solidFill>
                <a:latin typeface="Courier New" pitchFamily="34" charset="0"/>
                <a:ea typeface="Courier New" pitchFamily="34" charset="-122"/>
                <a:cs typeface="Courier New" pitchFamily="34" charset="-120"/>
              </a:rPr>
              <a:t>{"question": "Quelles pratiques d'IA sont interdites ?", "lang": "fr"}</a:t>
            </a:r>
            <a:endParaRPr lang="en-US" sz="1050" dirty="0"/>
          </a:p>
        </p:txBody>
      </p:sp>
      <p:sp>
        <p:nvSpPr>
          <p:cNvPr id="10" name="arrow-590"/>
          <p:cNvSpPr/>
          <p:nvPr/>
        </p:nvSpPr>
        <p:spPr>
          <a:xfrm>
            <a:off x="4018178" y="2843784"/>
            <a:ext cx="320040" cy="0"/>
          </a:xfrm>
          <a:prstGeom prst="line">
            <a:avLst/>
          </a:prstGeom>
          <a:noFill/>
          <a:ln w="25400">
            <a:solidFill>
              <a:srgbClr val="E3A21A"/>
            </a:solidFill>
            <a:prstDash val="solid"/>
            <a:tailEnd type="triangle"/>
          </a:ln>
        </p:spPr>
      </p:sp>
      <p:sp>
        <p:nvSpPr>
          <p:cNvPr id="11" name="box-591"/>
          <p:cNvSpPr/>
          <p:nvPr/>
        </p:nvSpPr>
        <p:spPr>
          <a:xfrm>
            <a:off x="4383938" y="1965960"/>
            <a:ext cx="3423818" cy="1755648"/>
          </a:xfrm>
          <a:prstGeom prst="roundRect">
            <a:avLst>
              <a:gd name="adj" fmla="val 4167"/>
            </a:avLst>
          </a:prstGeom>
          <a:solidFill>
            <a:srgbClr val="EEF1F6"/>
          </a:solidFill>
          <a:ln/>
        </p:spPr>
      </p:sp>
      <p:sp>
        <p:nvSpPr>
          <p:cNvPr id="12" name="badge-592"/>
          <p:cNvSpPr txBox="1"/>
          <p:nvPr/>
        </p:nvSpPr>
        <p:spPr>
          <a:xfrm>
            <a:off x="4548530" y="2112264"/>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2</a:t>
            </a:r>
            <a:endParaRPr lang="en-US" sz="1400" dirty="0"/>
          </a:p>
        </p:txBody>
      </p:sp>
      <p:sp>
        <p:nvSpPr>
          <p:cNvPr id="13" name="text-593"/>
          <p:cNvSpPr txBox="1"/>
          <p:nvPr/>
        </p:nvSpPr>
        <p:spPr>
          <a:xfrm>
            <a:off x="5069738" y="2130552"/>
            <a:ext cx="2600858" cy="347472"/>
          </a:xfrm>
          <a:prstGeom prst="rect">
            <a:avLst/>
          </a:prstGeom>
          <a:noFill/>
          <a:ln/>
        </p:spPr>
        <p:txBody>
          <a:bodyPr wrap="square" lIns="0" tIns="0" rIns="0" bIns="0" rtlCol="0" anchor="ctr"/>
          <a:lstStyle/>
          <a:p>
            <a:pPr indent="0" marL="0">
              <a:buNone/>
            </a:pPr>
            <a:r>
              <a:rPr lang="en-US" sz="1500" b="1" dirty="0">
                <a:solidFill>
                  <a:srgbClr val="13203A"/>
                </a:solidFill>
              </a:rPr>
              <a:t>Guards</a:t>
            </a:r>
            <a:endParaRPr lang="en-US" sz="1500" dirty="0"/>
          </a:p>
        </p:txBody>
      </p:sp>
      <p:sp>
        <p:nvSpPr>
          <p:cNvPr id="14" name="text-594"/>
          <p:cNvSpPr txBox="1"/>
          <p:nvPr/>
        </p:nvSpPr>
        <p:spPr>
          <a:xfrm>
            <a:off x="4566818" y="2624328"/>
            <a:ext cx="3058058" cy="978408"/>
          </a:xfrm>
          <a:prstGeom prst="rect">
            <a:avLst/>
          </a:prstGeom>
          <a:noFill/>
          <a:ln/>
        </p:spPr>
        <p:txBody>
          <a:bodyPr wrap="square" lIns="0" tIns="0" rIns="0" bIns="0" rtlCol="0" anchor="t"/>
          <a:lstStyle/>
          <a:p>
            <a:pPr indent="0" marL="0">
              <a:buNone/>
            </a:pPr>
            <a:r>
              <a:rPr lang="en-US" sz="1250" dirty="0">
                <a:solidFill>
                  <a:srgbClr val="2B3A55"/>
                </a:solidFill>
              </a:rPr>
              <a:t>API key checked; daily cap counts 1 of 200; emails and phone numbers redacted before logging.</a:t>
            </a:r>
            <a:endParaRPr lang="en-US" sz="1250" dirty="0"/>
          </a:p>
        </p:txBody>
      </p:sp>
      <p:sp>
        <p:nvSpPr>
          <p:cNvPr id="15" name="arrow-595"/>
          <p:cNvSpPr/>
          <p:nvPr/>
        </p:nvSpPr>
        <p:spPr>
          <a:xfrm>
            <a:off x="7853477" y="2843784"/>
            <a:ext cx="320040" cy="0"/>
          </a:xfrm>
          <a:prstGeom prst="line">
            <a:avLst/>
          </a:prstGeom>
          <a:noFill/>
          <a:ln w="25400">
            <a:solidFill>
              <a:srgbClr val="E3A21A"/>
            </a:solidFill>
            <a:prstDash val="solid"/>
            <a:tailEnd type="triangle"/>
          </a:ln>
        </p:spPr>
      </p:sp>
      <p:sp>
        <p:nvSpPr>
          <p:cNvPr id="16" name="box-596"/>
          <p:cNvSpPr/>
          <p:nvPr/>
        </p:nvSpPr>
        <p:spPr>
          <a:xfrm>
            <a:off x="8219237" y="1965960"/>
            <a:ext cx="3423818" cy="1755648"/>
          </a:xfrm>
          <a:prstGeom prst="roundRect">
            <a:avLst>
              <a:gd name="adj" fmla="val 4167"/>
            </a:avLst>
          </a:prstGeom>
          <a:solidFill>
            <a:srgbClr val="EEF1F6"/>
          </a:solidFill>
          <a:ln/>
        </p:spPr>
      </p:sp>
      <p:sp>
        <p:nvSpPr>
          <p:cNvPr id="17" name="badge-597"/>
          <p:cNvSpPr txBox="1"/>
          <p:nvPr/>
        </p:nvSpPr>
        <p:spPr>
          <a:xfrm>
            <a:off x="8383829" y="2112264"/>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3</a:t>
            </a:r>
            <a:endParaRPr lang="en-US" sz="1400" dirty="0"/>
          </a:p>
        </p:txBody>
      </p:sp>
      <p:sp>
        <p:nvSpPr>
          <p:cNvPr id="18" name="text-598"/>
          <p:cNvSpPr txBox="1"/>
          <p:nvPr/>
        </p:nvSpPr>
        <p:spPr>
          <a:xfrm>
            <a:off x="8905037" y="2130552"/>
            <a:ext cx="2600858" cy="347472"/>
          </a:xfrm>
          <a:prstGeom prst="rect">
            <a:avLst/>
          </a:prstGeom>
          <a:noFill/>
          <a:ln/>
        </p:spPr>
        <p:txBody>
          <a:bodyPr wrap="square" lIns="0" tIns="0" rIns="0" bIns="0" rtlCol="0" anchor="ctr"/>
          <a:lstStyle/>
          <a:p>
            <a:pPr indent="0" marL="0">
              <a:buNone/>
            </a:pPr>
            <a:r>
              <a:rPr lang="en-US" sz="1500" b="1" dirty="0">
                <a:solidFill>
                  <a:srgbClr val="13203A"/>
                </a:solidFill>
              </a:rPr>
              <a:t>Retrieve</a:t>
            </a:r>
            <a:endParaRPr lang="en-US" sz="1500" dirty="0"/>
          </a:p>
        </p:txBody>
      </p:sp>
      <p:sp>
        <p:nvSpPr>
          <p:cNvPr id="19" name="text-599"/>
          <p:cNvSpPr txBox="1"/>
          <p:nvPr/>
        </p:nvSpPr>
        <p:spPr>
          <a:xfrm>
            <a:off x="8402117" y="2624328"/>
            <a:ext cx="3058058" cy="978408"/>
          </a:xfrm>
          <a:prstGeom prst="rect">
            <a:avLst/>
          </a:prstGeom>
          <a:noFill/>
          <a:ln/>
        </p:spPr>
        <p:txBody>
          <a:bodyPr wrap="square" lIns="0" tIns="0" rIns="0" bIns="0" rtlCol="0" anchor="t"/>
          <a:lstStyle/>
          <a:p>
            <a:pPr indent="0" marL="0">
              <a:buNone/>
            </a:pPr>
            <a:r>
              <a:rPr lang="en-US" sz="1250" dirty="0">
                <a:solidFill>
                  <a:srgbClr val="2B3A55"/>
                </a:solidFill>
              </a:rPr>
              <a:t>Dense + BM25 + RRF. Expected top hit: AIA-Art5-1#1, "Les pratiques en matière d'IA suivantes sont interdites: a) la mise sur le marché ..."</a:t>
            </a:r>
            <a:endParaRPr lang="en-US" sz="1250" dirty="0"/>
          </a:p>
        </p:txBody>
      </p:sp>
      <p:sp>
        <p:nvSpPr>
          <p:cNvPr id="20" name="box-600"/>
          <p:cNvSpPr/>
          <p:nvPr/>
        </p:nvSpPr>
        <p:spPr>
          <a:xfrm>
            <a:off x="548640" y="4041648"/>
            <a:ext cx="3423818" cy="1755648"/>
          </a:xfrm>
          <a:prstGeom prst="roundRect">
            <a:avLst>
              <a:gd name="adj" fmla="val 4167"/>
            </a:avLst>
          </a:prstGeom>
          <a:solidFill>
            <a:srgbClr val="EEF1F6"/>
          </a:solidFill>
          <a:ln/>
        </p:spPr>
      </p:sp>
      <p:sp>
        <p:nvSpPr>
          <p:cNvPr id="21" name="badge-601"/>
          <p:cNvSpPr txBox="1"/>
          <p:nvPr/>
        </p:nvSpPr>
        <p:spPr>
          <a:xfrm>
            <a:off x="713232" y="4187952"/>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4</a:t>
            </a:r>
            <a:endParaRPr lang="en-US" sz="1400" dirty="0"/>
          </a:p>
        </p:txBody>
      </p:sp>
      <p:sp>
        <p:nvSpPr>
          <p:cNvPr id="22" name="text-602"/>
          <p:cNvSpPr txBox="1"/>
          <p:nvPr/>
        </p:nvSpPr>
        <p:spPr>
          <a:xfrm>
            <a:off x="1234440" y="4206240"/>
            <a:ext cx="2600858" cy="347472"/>
          </a:xfrm>
          <a:prstGeom prst="rect">
            <a:avLst/>
          </a:prstGeom>
          <a:noFill/>
          <a:ln/>
        </p:spPr>
        <p:txBody>
          <a:bodyPr wrap="square" lIns="0" tIns="0" rIns="0" bIns="0" rtlCol="0" anchor="ctr"/>
          <a:lstStyle/>
          <a:p>
            <a:pPr indent="0" marL="0">
              <a:buNone/>
            </a:pPr>
            <a:r>
              <a:rPr lang="en-US" sz="1500" b="1" dirty="0">
                <a:solidFill>
                  <a:srgbClr val="13203A"/>
                </a:solidFill>
              </a:rPr>
              <a:t>Generate</a:t>
            </a:r>
            <a:endParaRPr lang="en-US" sz="1500" dirty="0"/>
          </a:p>
        </p:txBody>
      </p:sp>
      <p:sp>
        <p:nvSpPr>
          <p:cNvPr id="23" name="text-603"/>
          <p:cNvSpPr txBox="1"/>
          <p:nvPr/>
        </p:nvSpPr>
        <p:spPr>
          <a:xfrm>
            <a:off x="731520" y="4700016"/>
            <a:ext cx="3058058" cy="978408"/>
          </a:xfrm>
          <a:prstGeom prst="rect">
            <a:avLst/>
          </a:prstGeom>
          <a:noFill/>
          <a:ln/>
        </p:spPr>
        <p:txBody>
          <a:bodyPr wrap="square" lIns="0" tIns="0" rIns="0" bIns="0" rtlCol="0" anchor="t"/>
          <a:lstStyle/>
          <a:p>
            <a:pPr indent="0" marL="0">
              <a:buNone/>
            </a:pPr>
            <a:r>
              <a:rPr lang="en-US" sz="1250" dirty="0">
                <a:solidFill>
                  <a:srgbClr val="2B3A55"/>
                </a:solidFill>
              </a:rPr>
              <a:t>Five sources tagged [ID]; temperature 0; the answer is written in French and cites [AIA-Art5-1#1] after each rule.</a:t>
            </a:r>
            <a:endParaRPr lang="en-US" sz="1250" dirty="0"/>
          </a:p>
        </p:txBody>
      </p:sp>
      <p:sp>
        <p:nvSpPr>
          <p:cNvPr id="24" name="arrow-604"/>
          <p:cNvSpPr/>
          <p:nvPr/>
        </p:nvSpPr>
        <p:spPr>
          <a:xfrm>
            <a:off x="4018178" y="4919472"/>
            <a:ext cx="320040" cy="0"/>
          </a:xfrm>
          <a:prstGeom prst="line">
            <a:avLst/>
          </a:prstGeom>
          <a:noFill/>
          <a:ln w="25400">
            <a:solidFill>
              <a:srgbClr val="E3A21A"/>
            </a:solidFill>
            <a:prstDash val="solid"/>
            <a:tailEnd type="triangle"/>
          </a:ln>
        </p:spPr>
      </p:sp>
      <p:sp>
        <p:nvSpPr>
          <p:cNvPr id="25" name="box-605"/>
          <p:cNvSpPr/>
          <p:nvPr/>
        </p:nvSpPr>
        <p:spPr>
          <a:xfrm>
            <a:off x="4383938" y="4041648"/>
            <a:ext cx="3423818" cy="1755648"/>
          </a:xfrm>
          <a:prstGeom prst="roundRect">
            <a:avLst>
              <a:gd name="adj" fmla="val 4167"/>
            </a:avLst>
          </a:prstGeom>
          <a:solidFill>
            <a:srgbClr val="EEF1F6"/>
          </a:solidFill>
          <a:ln/>
        </p:spPr>
      </p:sp>
      <p:sp>
        <p:nvSpPr>
          <p:cNvPr id="26" name="badge-606"/>
          <p:cNvSpPr txBox="1"/>
          <p:nvPr/>
        </p:nvSpPr>
        <p:spPr>
          <a:xfrm>
            <a:off x="4548530" y="4187952"/>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5</a:t>
            </a:r>
            <a:endParaRPr lang="en-US" sz="1400" dirty="0"/>
          </a:p>
        </p:txBody>
      </p:sp>
      <p:sp>
        <p:nvSpPr>
          <p:cNvPr id="27" name="text-607"/>
          <p:cNvSpPr txBox="1"/>
          <p:nvPr/>
        </p:nvSpPr>
        <p:spPr>
          <a:xfrm>
            <a:off x="5069738" y="4206240"/>
            <a:ext cx="2600858" cy="347472"/>
          </a:xfrm>
          <a:prstGeom prst="rect">
            <a:avLst/>
          </a:prstGeom>
          <a:noFill/>
          <a:ln/>
        </p:spPr>
        <p:txBody>
          <a:bodyPr wrap="square" lIns="0" tIns="0" rIns="0" bIns="0" rtlCol="0" anchor="ctr"/>
          <a:lstStyle/>
          <a:p>
            <a:pPr indent="0" marL="0">
              <a:buNone/>
            </a:pPr>
            <a:r>
              <a:rPr lang="en-US" sz="1500" b="1" dirty="0">
                <a:solidFill>
                  <a:srgbClr val="13203A"/>
                </a:solidFill>
              </a:rPr>
              <a:t>Verify</a:t>
            </a:r>
            <a:endParaRPr lang="en-US" sz="1500" dirty="0"/>
          </a:p>
        </p:txBody>
      </p:sp>
      <p:sp>
        <p:nvSpPr>
          <p:cNvPr id="28" name="text-608"/>
          <p:cNvSpPr txBox="1"/>
          <p:nvPr/>
        </p:nvSpPr>
        <p:spPr>
          <a:xfrm>
            <a:off x="4566818" y="4700016"/>
            <a:ext cx="3058058" cy="978408"/>
          </a:xfrm>
          <a:prstGeom prst="rect">
            <a:avLst/>
          </a:prstGeom>
          <a:noFill/>
          <a:ln/>
        </p:spPr>
        <p:txBody>
          <a:bodyPr wrap="square" lIns="0" tIns="0" rIns="0" bIns="0" rtlCol="0" anchor="t"/>
          <a:lstStyle/>
          <a:p>
            <a:pPr indent="0" marL="0">
              <a:buNone/>
            </a:pPr>
            <a:r>
              <a:rPr lang="en-US" sz="1250" dirty="0">
                <a:solidFill>
                  <a:srgbClr val="2B3A55"/>
                </a:solidFill>
              </a:rPr>
              <a:t>Every cited ID was retrieved; invented IDs removed. Label: "Règlement IA, Art. 5(1)".</a:t>
            </a:r>
            <a:endParaRPr lang="en-US" sz="1250" dirty="0"/>
          </a:p>
        </p:txBody>
      </p:sp>
      <p:sp>
        <p:nvSpPr>
          <p:cNvPr id="29" name="arrow-609"/>
          <p:cNvSpPr/>
          <p:nvPr/>
        </p:nvSpPr>
        <p:spPr>
          <a:xfrm>
            <a:off x="7853477" y="4919472"/>
            <a:ext cx="320040" cy="0"/>
          </a:xfrm>
          <a:prstGeom prst="line">
            <a:avLst/>
          </a:prstGeom>
          <a:noFill/>
          <a:ln w="25400">
            <a:solidFill>
              <a:srgbClr val="E3A21A"/>
            </a:solidFill>
            <a:prstDash val="solid"/>
            <a:tailEnd type="triangle"/>
          </a:ln>
        </p:spPr>
      </p:sp>
      <p:sp>
        <p:nvSpPr>
          <p:cNvPr id="30" name="box-610"/>
          <p:cNvSpPr/>
          <p:nvPr/>
        </p:nvSpPr>
        <p:spPr>
          <a:xfrm>
            <a:off x="8219237" y="4041648"/>
            <a:ext cx="3423818" cy="1755648"/>
          </a:xfrm>
          <a:prstGeom prst="roundRect">
            <a:avLst>
              <a:gd name="adj" fmla="val 4167"/>
            </a:avLst>
          </a:prstGeom>
          <a:solidFill>
            <a:srgbClr val="EEF1F6"/>
          </a:solidFill>
          <a:ln/>
        </p:spPr>
      </p:sp>
      <p:sp>
        <p:nvSpPr>
          <p:cNvPr id="31" name="badge-611"/>
          <p:cNvSpPr txBox="1"/>
          <p:nvPr/>
        </p:nvSpPr>
        <p:spPr>
          <a:xfrm>
            <a:off x="8383829" y="4187952"/>
            <a:ext cx="384048" cy="384048"/>
          </a:xfrm>
          <a:prstGeom prst="ellipse">
            <a:avLst/>
          </a:prstGeom>
          <a:solidFill>
            <a:srgbClr val="E3A21A"/>
          </a:solidFill>
          <a:ln/>
        </p:spPr>
        <p:txBody>
          <a:bodyPr wrap="square" lIns="0" tIns="0" rIns="0" bIns="0" rtlCol="0" anchor="ctr"/>
          <a:lstStyle/>
          <a:p>
            <a:pPr algn="ctr" indent="0" marL="0">
              <a:buNone/>
            </a:pPr>
            <a:r>
              <a:rPr lang="en-US" sz="1400" b="1" dirty="0">
                <a:solidFill>
                  <a:srgbClr val="13203A"/>
                </a:solidFill>
                <a:latin typeface="Cambria" pitchFamily="34" charset="0"/>
                <a:ea typeface="Cambria" pitchFamily="34" charset="-122"/>
                <a:cs typeface="Cambria" pitchFamily="34" charset="-120"/>
              </a:rPr>
              <a:t>6</a:t>
            </a:r>
            <a:endParaRPr lang="en-US" sz="1400" dirty="0"/>
          </a:p>
        </p:txBody>
      </p:sp>
      <p:sp>
        <p:nvSpPr>
          <p:cNvPr id="32" name="text-612"/>
          <p:cNvSpPr txBox="1"/>
          <p:nvPr/>
        </p:nvSpPr>
        <p:spPr>
          <a:xfrm>
            <a:off x="8905037" y="4206240"/>
            <a:ext cx="2600858" cy="347472"/>
          </a:xfrm>
          <a:prstGeom prst="rect">
            <a:avLst/>
          </a:prstGeom>
          <a:noFill/>
          <a:ln/>
        </p:spPr>
        <p:txBody>
          <a:bodyPr wrap="square" lIns="0" tIns="0" rIns="0" bIns="0" rtlCol="0" anchor="ctr"/>
          <a:lstStyle/>
          <a:p>
            <a:pPr indent="0" marL="0">
              <a:buNone/>
            </a:pPr>
            <a:r>
              <a:rPr lang="en-US" sz="1500" b="1" dirty="0">
                <a:solidFill>
                  <a:srgbClr val="13203A"/>
                </a:solidFill>
              </a:rPr>
              <a:t>Respond</a:t>
            </a:r>
            <a:endParaRPr lang="en-US" sz="1500" dirty="0"/>
          </a:p>
        </p:txBody>
      </p:sp>
      <p:sp>
        <p:nvSpPr>
          <p:cNvPr id="33" name="code-613"/>
          <p:cNvSpPr txBox="1"/>
          <p:nvPr/>
        </p:nvSpPr>
        <p:spPr>
          <a:xfrm>
            <a:off x="8383829" y="4700016"/>
            <a:ext cx="3094634" cy="950976"/>
          </a:xfrm>
          <a:prstGeom prst="roundRect">
            <a:avLst>
              <a:gd name="adj" fmla="val 5769"/>
            </a:avLst>
          </a:prstGeom>
          <a:solidFill>
            <a:srgbClr val="FFFFFF"/>
          </a:solidFill>
          <a:ln w="9525">
            <a:solidFill>
              <a:srgbClr val="D5DBE5"/>
            </a:solidFill>
          </a:ln>
        </p:spPr>
        <p:txBody>
          <a:bodyPr wrap="square" lIns="1270" tIns="1524" rIns="1524" bIns="1270" rtlCol="0" anchor="t"/>
          <a:lstStyle/>
          <a:p>
            <a:pPr algn="l" indent="0" marL="0">
              <a:buNone/>
            </a:pPr>
            <a:r>
              <a:rPr lang="en-US" sz="1050" dirty="0">
                <a:solidFill>
                  <a:srgbClr val="13203A"/>
                </a:solidFill>
                <a:latin typeface="Courier New" pitchFamily="34" charset="0"/>
                <a:ea typeface="Courier New" pitchFamily="34" charset="-122"/>
                <a:cs typeface="Courier New" pitchFamily="34" charset="-120"/>
              </a:rPr>
              <a:t>{answer, citations, sources, refused: false}, plus one JSON log line and a trace.</a:t>
            </a:r>
            <a:endParaRPr lang="en-US" sz="1050" dirty="0"/>
          </a:p>
        </p:txBody>
      </p:sp>
      <p:sp>
        <p:nvSpPr>
          <p:cNvPr id="34" name="arrow-614"/>
          <p:cNvSpPr/>
          <p:nvPr/>
        </p:nvSpPr>
        <p:spPr>
          <a:xfrm>
            <a:off x="9931146" y="3721608"/>
            <a:ext cx="0" cy="155448"/>
          </a:xfrm>
          <a:prstGeom prst="line">
            <a:avLst/>
          </a:prstGeom>
          <a:noFill/>
          <a:ln w="25400">
            <a:solidFill>
              <a:srgbClr val="E3A21A"/>
            </a:solidFill>
            <a:prstDash val="solid"/>
          </a:ln>
        </p:spPr>
      </p:sp>
      <p:sp>
        <p:nvSpPr>
          <p:cNvPr id="35" name="arrow-615"/>
          <p:cNvSpPr/>
          <p:nvPr/>
        </p:nvSpPr>
        <p:spPr>
          <a:xfrm flipH="1">
            <a:off x="2260549" y="3877056"/>
            <a:ext cx="7670597" cy="0"/>
          </a:xfrm>
          <a:prstGeom prst="line">
            <a:avLst/>
          </a:prstGeom>
          <a:noFill/>
          <a:ln w="25400">
            <a:solidFill>
              <a:srgbClr val="E3A21A"/>
            </a:solidFill>
            <a:prstDash val="solid"/>
          </a:ln>
        </p:spPr>
      </p:sp>
      <p:sp>
        <p:nvSpPr>
          <p:cNvPr id="36" name="arrow-616"/>
          <p:cNvSpPr/>
          <p:nvPr/>
        </p:nvSpPr>
        <p:spPr>
          <a:xfrm>
            <a:off x="2260549" y="3877056"/>
            <a:ext cx="0" cy="164592"/>
          </a:xfrm>
          <a:prstGeom prst="line">
            <a:avLst/>
          </a:prstGeom>
          <a:noFill/>
          <a:ln w="25400">
            <a:solidFill>
              <a:srgbClr val="E3A21A"/>
            </a:solidFill>
            <a:prstDash val="solid"/>
            <a:tailEnd type="triangle"/>
          </a:ln>
        </p:spPr>
      </p:sp>
      <p:sp>
        <p:nvSpPr>
          <p:cNvPr id="37" name="text-617"/>
          <p:cNvSpPr txBox="1"/>
          <p:nvPr/>
        </p:nvSpPr>
        <p:spPr>
          <a:xfrm>
            <a:off x="548640" y="5989320"/>
            <a:ext cx="11094415" cy="256032"/>
          </a:xfrm>
          <a:prstGeom prst="rect">
            <a:avLst/>
          </a:prstGeom>
          <a:noFill/>
          <a:ln/>
        </p:spPr>
        <p:txBody>
          <a:bodyPr wrap="square" lIns="0" tIns="0" rIns="0" bIns="0" rtlCol="0" anchor="t"/>
          <a:lstStyle/>
          <a:p>
            <a:pPr indent="0" marL="0">
              <a:buNone/>
            </a:pPr>
            <a:r>
              <a:rPr lang="en-US" sz="1150" i="1" dirty="0">
                <a:solidFill>
                  <a:srgbClr val="5B6B82"/>
                </a:solidFill>
              </a:rPr>
              <a:t>Illustrative walkthrough: the hit shown is the expected gold article, not a measured run.</a:t>
            </a:r>
            <a:endParaRPr lang="en-US" sz="11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WALKTHROUGH  ·  /CLASSIFY</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One classification, as a sequence</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"Ranks job applicants from their CVs": the agent reads Article 5, then Annex III, and submits a grounded verdict.</a:t>
            </a:r>
            <a:endParaRPr lang="en-US" sz="1600" dirty="0"/>
          </a:p>
        </p:txBody>
      </p:sp>
      <p:sp>
        <p:nvSpPr>
          <p:cNvPr id="6" name="lifeline-head-618"/>
          <p:cNvSpPr txBox="1"/>
          <p:nvPr/>
        </p:nvSpPr>
        <p:spPr>
          <a:xfrm>
            <a:off x="388620" y="1938528"/>
            <a:ext cx="1600200" cy="365760"/>
          </a:xfrm>
          <a:prstGeom prst="roundRect">
            <a:avLst>
              <a:gd name="adj" fmla="val 17500"/>
            </a:avLst>
          </a:prstGeom>
          <a:solidFill>
            <a:srgbClr val="13203A"/>
          </a:solidFill>
          <a:ln/>
        </p:spPr>
        <p:txBody>
          <a:bodyPr wrap="square" lIns="0" tIns="0" rIns="0" bIns="0" rtlCol="0" anchor="ctr"/>
          <a:lstStyle/>
          <a:p>
            <a:pPr algn="ctr" indent="0" marL="0">
              <a:buNone/>
            </a:pPr>
            <a:r>
              <a:rPr lang="en-US" sz="1250" b="1" dirty="0">
                <a:solidFill>
                  <a:srgbClr val="FFFFFF"/>
                </a:solidFill>
              </a:rPr>
              <a:t>Client</a:t>
            </a:r>
            <a:endParaRPr lang="en-US" sz="1250" dirty="0"/>
          </a:p>
        </p:txBody>
      </p:sp>
      <p:sp>
        <p:nvSpPr>
          <p:cNvPr id="7" name="lifeline-619"/>
          <p:cNvSpPr/>
          <p:nvPr/>
        </p:nvSpPr>
        <p:spPr>
          <a:xfrm>
            <a:off x="1188720" y="2322576"/>
            <a:ext cx="0" cy="3666744"/>
          </a:xfrm>
          <a:prstGeom prst="line">
            <a:avLst/>
          </a:prstGeom>
          <a:noFill/>
          <a:ln w="12700">
            <a:solidFill>
              <a:srgbClr val="AEB7C4"/>
            </a:solidFill>
            <a:prstDash val="dash"/>
          </a:ln>
        </p:spPr>
      </p:sp>
      <p:sp>
        <p:nvSpPr>
          <p:cNvPr id="8" name="lifeline-head-620"/>
          <p:cNvSpPr txBox="1"/>
          <p:nvPr/>
        </p:nvSpPr>
        <p:spPr>
          <a:xfrm>
            <a:off x="2537460" y="1938528"/>
            <a:ext cx="1600200" cy="365760"/>
          </a:xfrm>
          <a:prstGeom prst="roundRect">
            <a:avLst>
              <a:gd name="adj" fmla="val 17500"/>
            </a:avLst>
          </a:prstGeom>
          <a:solidFill>
            <a:srgbClr val="EEF1F6"/>
          </a:solidFill>
          <a:ln/>
        </p:spPr>
        <p:txBody>
          <a:bodyPr wrap="square" lIns="0" tIns="0" rIns="0" bIns="0" rtlCol="0" anchor="ctr"/>
          <a:lstStyle/>
          <a:p>
            <a:pPr algn="ctr" indent="0" marL="0">
              <a:buNone/>
            </a:pPr>
            <a:r>
              <a:rPr lang="en-US" sz="1250" b="1" dirty="0">
                <a:solidFill>
                  <a:srgbClr val="13203A"/>
                </a:solidFill>
              </a:rPr>
              <a:t>FastAPI</a:t>
            </a:r>
            <a:endParaRPr lang="en-US" sz="1250" dirty="0"/>
          </a:p>
        </p:txBody>
      </p:sp>
      <p:sp>
        <p:nvSpPr>
          <p:cNvPr id="9" name="lifeline-621"/>
          <p:cNvSpPr/>
          <p:nvPr/>
        </p:nvSpPr>
        <p:spPr>
          <a:xfrm>
            <a:off x="3337560" y="2322576"/>
            <a:ext cx="0" cy="3666744"/>
          </a:xfrm>
          <a:prstGeom prst="line">
            <a:avLst/>
          </a:prstGeom>
          <a:noFill/>
          <a:ln w="12700">
            <a:solidFill>
              <a:srgbClr val="AEB7C4"/>
            </a:solidFill>
            <a:prstDash val="dash"/>
          </a:ln>
        </p:spPr>
      </p:sp>
      <p:sp>
        <p:nvSpPr>
          <p:cNvPr id="10" name="lifeline-head-622"/>
          <p:cNvSpPr txBox="1"/>
          <p:nvPr/>
        </p:nvSpPr>
        <p:spPr>
          <a:xfrm>
            <a:off x="4914900" y="1938528"/>
            <a:ext cx="1600200" cy="365760"/>
          </a:xfrm>
          <a:prstGeom prst="roundRect">
            <a:avLst>
              <a:gd name="adj" fmla="val 17500"/>
            </a:avLst>
          </a:prstGeom>
          <a:solidFill>
            <a:srgbClr val="EEF1F6"/>
          </a:solidFill>
          <a:ln/>
        </p:spPr>
        <p:txBody>
          <a:bodyPr wrap="square" lIns="0" tIns="0" rIns="0" bIns="0" rtlCol="0" anchor="ctr"/>
          <a:lstStyle/>
          <a:p>
            <a:pPr algn="ctr" indent="0" marL="0">
              <a:buNone/>
            </a:pPr>
            <a:r>
              <a:rPr lang="en-US" sz="1250" b="1" dirty="0">
                <a:solidFill>
                  <a:srgbClr val="13203A"/>
                </a:solidFill>
              </a:rPr>
              <a:t>Agent (LLM)</a:t>
            </a:r>
            <a:endParaRPr lang="en-US" sz="1250" dirty="0"/>
          </a:p>
        </p:txBody>
      </p:sp>
      <p:sp>
        <p:nvSpPr>
          <p:cNvPr id="11" name="lifeline-623"/>
          <p:cNvSpPr/>
          <p:nvPr/>
        </p:nvSpPr>
        <p:spPr>
          <a:xfrm>
            <a:off x="5715000" y="2322576"/>
            <a:ext cx="0" cy="3666744"/>
          </a:xfrm>
          <a:prstGeom prst="line">
            <a:avLst/>
          </a:prstGeom>
          <a:noFill/>
          <a:ln w="12700">
            <a:solidFill>
              <a:srgbClr val="AEB7C4"/>
            </a:solidFill>
            <a:prstDash val="dash"/>
          </a:ln>
        </p:spPr>
      </p:sp>
      <p:sp>
        <p:nvSpPr>
          <p:cNvPr id="12" name="lifeline-head-624"/>
          <p:cNvSpPr txBox="1"/>
          <p:nvPr/>
        </p:nvSpPr>
        <p:spPr>
          <a:xfrm>
            <a:off x="7520940" y="1938528"/>
            <a:ext cx="1600200" cy="365760"/>
          </a:xfrm>
          <a:prstGeom prst="roundRect">
            <a:avLst>
              <a:gd name="adj" fmla="val 17500"/>
            </a:avLst>
          </a:prstGeom>
          <a:solidFill>
            <a:srgbClr val="EEF1F6"/>
          </a:solidFill>
          <a:ln/>
        </p:spPr>
        <p:txBody>
          <a:bodyPr wrap="square" lIns="0" tIns="0" rIns="0" bIns="0" rtlCol="0" anchor="ctr"/>
          <a:lstStyle/>
          <a:p>
            <a:pPr algn="ctr" indent="0" marL="0">
              <a:buNone/>
            </a:pPr>
            <a:r>
              <a:rPr lang="en-US" sz="1250" b="1" dirty="0">
                <a:solidFill>
                  <a:srgbClr val="13203A"/>
                </a:solidFill>
              </a:rPr>
              <a:t>HybridRetriever</a:t>
            </a:r>
            <a:endParaRPr lang="en-US" sz="1250" dirty="0"/>
          </a:p>
        </p:txBody>
      </p:sp>
      <p:sp>
        <p:nvSpPr>
          <p:cNvPr id="13" name="lifeline-625"/>
          <p:cNvSpPr/>
          <p:nvPr/>
        </p:nvSpPr>
        <p:spPr>
          <a:xfrm>
            <a:off x="8321040" y="2322576"/>
            <a:ext cx="0" cy="3666744"/>
          </a:xfrm>
          <a:prstGeom prst="line">
            <a:avLst/>
          </a:prstGeom>
          <a:noFill/>
          <a:ln w="12700">
            <a:solidFill>
              <a:srgbClr val="AEB7C4"/>
            </a:solidFill>
            <a:prstDash val="dash"/>
          </a:ln>
        </p:spPr>
      </p:sp>
      <p:sp>
        <p:nvSpPr>
          <p:cNvPr id="14" name="lifeline-head-626"/>
          <p:cNvSpPr txBox="1"/>
          <p:nvPr/>
        </p:nvSpPr>
        <p:spPr>
          <a:xfrm>
            <a:off x="10035540" y="1938528"/>
            <a:ext cx="1600200" cy="365760"/>
          </a:xfrm>
          <a:prstGeom prst="roundRect">
            <a:avLst>
              <a:gd name="adj" fmla="val 17500"/>
            </a:avLst>
          </a:prstGeom>
          <a:solidFill>
            <a:srgbClr val="EEF1F6"/>
          </a:solidFill>
          <a:ln/>
        </p:spPr>
        <p:txBody>
          <a:bodyPr wrap="square" lIns="0" tIns="0" rIns="0" bIns="0" rtlCol="0" anchor="ctr"/>
          <a:lstStyle/>
          <a:p>
            <a:pPr algn="ctr" indent="0" marL="0">
              <a:buNone/>
            </a:pPr>
            <a:r>
              <a:rPr lang="en-US" sz="1250" b="1" dirty="0">
                <a:solidFill>
                  <a:srgbClr val="13203A"/>
                </a:solidFill>
              </a:rPr>
              <a:t>Sheets</a:t>
            </a:r>
            <a:endParaRPr lang="en-US" sz="1250" dirty="0"/>
          </a:p>
        </p:txBody>
      </p:sp>
      <p:sp>
        <p:nvSpPr>
          <p:cNvPr id="15" name="lifeline-627"/>
          <p:cNvSpPr/>
          <p:nvPr/>
        </p:nvSpPr>
        <p:spPr>
          <a:xfrm>
            <a:off x="10835640" y="2322576"/>
            <a:ext cx="0" cy="3666744"/>
          </a:xfrm>
          <a:prstGeom prst="line">
            <a:avLst/>
          </a:prstGeom>
          <a:noFill/>
          <a:ln w="12700">
            <a:solidFill>
              <a:srgbClr val="AEB7C4"/>
            </a:solidFill>
            <a:prstDash val="dash"/>
          </a:ln>
        </p:spPr>
      </p:sp>
      <p:sp>
        <p:nvSpPr>
          <p:cNvPr id="16" name="arrow-628"/>
          <p:cNvSpPr/>
          <p:nvPr/>
        </p:nvSpPr>
        <p:spPr>
          <a:xfrm>
            <a:off x="1188720" y="2688336"/>
            <a:ext cx="2148840" cy="0"/>
          </a:xfrm>
          <a:prstGeom prst="line">
            <a:avLst/>
          </a:prstGeom>
          <a:noFill/>
          <a:ln w="15875">
            <a:solidFill>
              <a:srgbClr val="13203A"/>
            </a:solidFill>
            <a:prstDash val="solid"/>
            <a:tailEnd type="triangle"/>
          </a:ln>
        </p:spPr>
      </p:sp>
      <p:sp>
        <p:nvSpPr>
          <p:cNvPr id="17" name="text-629"/>
          <p:cNvSpPr txBox="1"/>
          <p:nvPr/>
        </p:nvSpPr>
        <p:spPr>
          <a:xfrm>
            <a:off x="1280160" y="2459736"/>
            <a:ext cx="2194560" cy="210312"/>
          </a:xfrm>
          <a:prstGeom prst="rect">
            <a:avLst/>
          </a:prstGeom>
          <a:noFill/>
          <a:ln/>
        </p:spPr>
        <p:txBody>
          <a:bodyPr wrap="square" lIns="0" tIns="0" rIns="0" bIns="0" rtlCol="0" anchor="b"/>
          <a:lstStyle/>
          <a:p>
            <a:pPr algn="ctr" indent="0" marL="0">
              <a:buNone/>
            </a:pPr>
            <a:r>
              <a:rPr lang="en-US" sz="1050" dirty="0">
                <a:solidFill>
                  <a:srgbClr val="2B3A55"/>
                </a:solidFill>
              </a:rPr>
              <a:t>POST /classify (description)</a:t>
            </a:r>
            <a:endParaRPr lang="en-US" sz="1050" dirty="0"/>
          </a:p>
        </p:txBody>
      </p:sp>
      <p:sp>
        <p:nvSpPr>
          <p:cNvPr id="18" name="arrow-630"/>
          <p:cNvSpPr/>
          <p:nvPr/>
        </p:nvSpPr>
        <p:spPr>
          <a:xfrm>
            <a:off x="3337560" y="3090672"/>
            <a:ext cx="2377440" cy="0"/>
          </a:xfrm>
          <a:prstGeom prst="line">
            <a:avLst/>
          </a:prstGeom>
          <a:noFill/>
          <a:ln w="15875">
            <a:solidFill>
              <a:srgbClr val="13203A"/>
            </a:solidFill>
            <a:prstDash val="solid"/>
            <a:tailEnd type="triangle"/>
          </a:ln>
        </p:spPr>
      </p:sp>
      <p:sp>
        <p:nvSpPr>
          <p:cNvPr id="19" name="text-631"/>
          <p:cNvSpPr txBox="1"/>
          <p:nvPr/>
        </p:nvSpPr>
        <p:spPr>
          <a:xfrm>
            <a:off x="3429000" y="2862072"/>
            <a:ext cx="2194560" cy="210312"/>
          </a:xfrm>
          <a:prstGeom prst="rect">
            <a:avLst/>
          </a:prstGeom>
          <a:noFill/>
          <a:ln/>
        </p:spPr>
        <p:txBody>
          <a:bodyPr wrap="square" lIns="0" tIns="0" rIns="0" bIns="0" rtlCol="0" anchor="b"/>
          <a:lstStyle/>
          <a:p>
            <a:pPr algn="ctr" indent="0" marL="0">
              <a:buNone/>
            </a:pPr>
            <a:r>
              <a:rPr lang="en-US" sz="1050" dirty="0">
                <a:solidFill>
                  <a:srgbClr val="2B3A55"/>
                </a:solidFill>
              </a:rPr>
              <a:t>classify(description)</a:t>
            </a:r>
            <a:endParaRPr lang="en-US" sz="1050" dirty="0"/>
          </a:p>
        </p:txBody>
      </p:sp>
      <p:sp>
        <p:nvSpPr>
          <p:cNvPr id="20" name="arrow-632"/>
          <p:cNvSpPr/>
          <p:nvPr/>
        </p:nvSpPr>
        <p:spPr>
          <a:xfrm>
            <a:off x="5715000" y="3493008"/>
            <a:ext cx="2606040" cy="0"/>
          </a:xfrm>
          <a:prstGeom prst="line">
            <a:avLst/>
          </a:prstGeom>
          <a:noFill/>
          <a:ln w="15875">
            <a:solidFill>
              <a:srgbClr val="13203A"/>
            </a:solidFill>
            <a:prstDash val="solid"/>
            <a:tailEnd type="triangle"/>
          </a:ln>
        </p:spPr>
      </p:sp>
      <p:sp>
        <p:nvSpPr>
          <p:cNvPr id="21" name="text-633"/>
          <p:cNvSpPr txBox="1"/>
          <p:nvPr/>
        </p:nvSpPr>
        <p:spPr>
          <a:xfrm>
            <a:off x="5806440" y="3264408"/>
            <a:ext cx="2423160" cy="210312"/>
          </a:xfrm>
          <a:prstGeom prst="rect">
            <a:avLst/>
          </a:prstGeom>
          <a:noFill/>
          <a:ln/>
        </p:spPr>
        <p:txBody>
          <a:bodyPr wrap="square" lIns="0" tIns="0" rIns="0" bIns="0" rtlCol="0" anchor="b"/>
          <a:lstStyle/>
          <a:p>
            <a:pPr algn="ctr" indent="0" marL="0">
              <a:buNone/>
            </a:pPr>
            <a:r>
              <a:rPr lang="en-US" sz="1050" dirty="0">
                <a:solidFill>
                  <a:srgbClr val="2B3A55"/>
                </a:solidFill>
              </a:rPr>
              <a:t>search("Art. 5 practices, hiring")</a:t>
            </a:r>
            <a:endParaRPr lang="en-US" sz="1050" dirty="0"/>
          </a:p>
        </p:txBody>
      </p:sp>
      <p:sp>
        <p:nvSpPr>
          <p:cNvPr id="22" name="arrow-634"/>
          <p:cNvSpPr/>
          <p:nvPr/>
        </p:nvSpPr>
        <p:spPr>
          <a:xfrm flipH="1">
            <a:off x="5715000" y="3895344"/>
            <a:ext cx="2606040" cy="0"/>
          </a:xfrm>
          <a:prstGeom prst="line">
            <a:avLst/>
          </a:prstGeom>
          <a:noFill/>
          <a:ln w="15875">
            <a:solidFill>
              <a:srgbClr val="4F6D99"/>
            </a:solidFill>
            <a:prstDash val="dash"/>
            <a:tailEnd type="triangle"/>
          </a:ln>
        </p:spPr>
      </p:sp>
      <p:sp>
        <p:nvSpPr>
          <p:cNvPr id="23" name="text-635"/>
          <p:cNvSpPr txBox="1"/>
          <p:nvPr/>
        </p:nvSpPr>
        <p:spPr>
          <a:xfrm>
            <a:off x="5806440" y="3666744"/>
            <a:ext cx="2423160" cy="210312"/>
          </a:xfrm>
          <a:prstGeom prst="rect">
            <a:avLst/>
          </a:prstGeom>
          <a:noFill/>
          <a:ln/>
        </p:spPr>
        <p:txBody>
          <a:bodyPr wrap="square" lIns="0" tIns="0" rIns="0" bIns="0" rtlCol="0" anchor="b"/>
          <a:lstStyle/>
          <a:p>
            <a:pPr algn="ctr" indent="0" marL="0">
              <a:buNone/>
            </a:pPr>
            <a:r>
              <a:rPr lang="en-US" sz="1050" dirty="0">
                <a:solidFill>
                  <a:srgbClr val="2B3A55"/>
                </a:solidFill>
              </a:rPr>
              <a:t>AIA-Art5-1#1 ... no matching practice</a:t>
            </a:r>
            <a:endParaRPr lang="en-US" sz="1050" dirty="0"/>
          </a:p>
        </p:txBody>
      </p:sp>
      <p:sp>
        <p:nvSpPr>
          <p:cNvPr id="24" name="arrow-636"/>
          <p:cNvSpPr/>
          <p:nvPr/>
        </p:nvSpPr>
        <p:spPr>
          <a:xfrm>
            <a:off x="5715000" y="4297680"/>
            <a:ext cx="2606040" cy="0"/>
          </a:xfrm>
          <a:prstGeom prst="line">
            <a:avLst/>
          </a:prstGeom>
          <a:noFill/>
          <a:ln w="15875">
            <a:solidFill>
              <a:srgbClr val="13203A"/>
            </a:solidFill>
            <a:prstDash val="solid"/>
            <a:tailEnd type="triangle"/>
          </a:ln>
        </p:spPr>
      </p:sp>
      <p:sp>
        <p:nvSpPr>
          <p:cNvPr id="25" name="text-637"/>
          <p:cNvSpPr txBox="1"/>
          <p:nvPr/>
        </p:nvSpPr>
        <p:spPr>
          <a:xfrm>
            <a:off x="5806440" y="4069080"/>
            <a:ext cx="2423160" cy="210312"/>
          </a:xfrm>
          <a:prstGeom prst="rect">
            <a:avLst/>
          </a:prstGeom>
          <a:noFill/>
          <a:ln/>
        </p:spPr>
        <p:txBody>
          <a:bodyPr wrap="square" lIns="0" tIns="0" rIns="0" bIns="0" rtlCol="0" anchor="b"/>
          <a:lstStyle/>
          <a:p>
            <a:pPr algn="ctr" indent="0" marL="0">
              <a:buNone/>
            </a:pPr>
            <a:r>
              <a:rPr lang="en-US" sz="1050" dirty="0">
                <a:solidFill>
                  <a:srgbClr val="2B3A55"/>
                </a:solidFill>
              </a:rPr>
              <a:t>search("Annex III, recruitment")</a:t>
            </a:r>
            <a:endParaRPr lang="en-US" sz="1050" dirty="0"/>
          </a:p>
        </p:txBody>
      </p:sp>
      <p:sp>
        <p:nvSpPr>
          <p:cNvPr id="26" name="arrow-638"/>
          <p:cNvSpPr/>
          <p:nvPr/>
        </p:nvSpPr>
        <p:spPr>
          <a:xfrm flipH="1">
            <a:off x="5715000" y="4700016"/>
            <a:ext cx="2606040" cy="0"/>
          </a:xfrm>
          <a:prstGeom prst="line">
            <a:avLst/>
          </a:prstGeom>
          <a:noFill/>
          <a:ln w="15875">
            <a:solidFill>
              <a:srgbClr val="4F6D99"/>
            </a:solidFill>
            <a:prstDash val="dash"/>
            <a:tailEnd type="triangle"/>
          </a:ln>
        </p:spPr>
      </p:sp>
      <p:sp>
        <p:nvSpPr>
          <p:cNvPr id="27" name="text-639"/>
          <p:cNvSpPr txBox="1"/>
          <p:nvPr/>
        </p:nvSpPr>
        <p:spPr>
          <a:xfrm>
            <a:off x="5806440" y="4471416"/>
            <a:ext cx="2423160" cy="210312"/>
          </a:xfrm>
          <a:prstGeom prst="rect">
            <a:avLst/>
          </a:prstGeom>
          <a:noFill/>
          <a:ln/>
        </p:spPr>
        <p:txBody>
          <a:bodyPr wrap="square" lIns="0" tIns="0" rIns="0" bIns="0" rtlCol="0" anchor="b"/>
          <a:lstStyle/>
          <a:p>
            <a:pPr algn="ctr" indent="0" marL="0">
              <a:buNone/>
            </a:pPr>
            <a:r>
              <a:rPr lang="en-US" sz="1050" dirty="0">
                <a:solidFill>
                  <a:srgbClr val="2B3A55"/>
                </a:solidFill>
              </a:rPr>
              <a:t>AIA-AnnexIII-4, AIA-Art6-2</a:t>
            </a:r>
            <a:endParaRPr lang="en-US" sz="1050" dirty="0"/>
          </a:p>
        </p:txBody>
      </p:sp>
      <p:sp>
        <p:nvSpPr>
          <p:cNvPr id="28" name="arrow-640"/>
          <p:cNvSpPr/>
          <p:nvPr/>
        </p:nvSpPr>
        <p:spPr>
          <a:xfrm flipH="1">
            <a:off x="3337560" y="5102352"/>
            <a:ext cx="2377440" cy="0"/>
          </a:xfrm>
          <a:prstGeom prst="line">
            <a:avLst/>
          </a:prstGeom>
          <a:noFill/>
          <a:ln w="15875">
            <a:solidFill>
              <a:srgbClr val="4F6D99"/>
            </a:solidFill>
            <a:prstDash val="dash"/>
            <a:tailEnd type="triangle"/>
          </a:ln>
        </p:spPr>
      </p:sp>
      <p:sp>
        <p:nvSpPr>
          <p:cNvPr id="29" name="text-641"/>
          <p:cNvSpPr txBox="1"/>
          <p:nvPr/>
        </p:nvSpPr>
        <p:spPr>
          <a:xfrm>
            <a:off x="3429000" y="4873752"/>
            <a:ext cx="2194560" cy="210312"/>
          </a:xfrm>
          <a:prstGeom prst="rect">
            <a:avLst/>
          </a:prstGeom>
          <a:noFill/>
          <a:ln/>
        </p:spPr>
        <p:txBody>
          <a:bodyPr wrap="square" lIns="0" tIns="0" rIns="0" bIns="0" rtlCol="0" anchor="b"/>
          <a:lstStyle/>
          <a:p>
            <a:pPr algn="ctr" indent="0" marL="0">
              <a:buNone/>
            </a:pPr>
            <a:r>
              <a:rPr lang="en-US" sz="1050" dirty="0">
                <a:solidFill>
                  <a:srgbClr val="2B3A55"/>
                </a:solidFill>
              </a:rPr>
              <a:t>submit: high_risk, cites both IDs → valid</a:t>
            </a:r>
            <a:endParaRPr lang="en-US" sz="1050" dirty="0"/>
          </a:p>
        </p:txBody>
      </p:sp>
      <p:sp>
        <p:nvSpPr>
          <p:cNvPr id="30" name="arrow-642"/>
          <p:cNvSpPr/>
          <p:nvPr/>
        </p:nvSpPr>
        <p:spPr>
          <a:xfrm>
            <a:off x="3337560" y="5504688"/>
            <a:ext cx="7498080" cy="0"/>
          </a:xfrm>
          <a:prstGeom prst="line">
            <a:avLst/>
          </a:prstGeom>
          <a:noFill/>
          <a:ln w="15875">
            <a:solidFill>
              <a:srgbClr val="13203A"/>
            </a:solidFill>
            <a:prstDash val="solid"/>
            <a:tailEnd type="triangle"/>
          </a:ln>
        </p:spPr>
      </p:sp>
      <p:sp>
        <p:nvSpPr>
          <p:cNvPr id="31" name="text-643"/>
          <p:cNvSpPr txBox="1"/>
          <p:nvPr/>
        </p:nvSpPr>
        <p:spPr>
          <a:xfrm>
            <a:off x="3429000" y="5276088"/>
            <a:ext cx="7315200" cy="210312"/>
          </a:xfrm>
          <a:prstGeom prst="rect">
            <a:avLst/>
          </a:prstGeom>
          <a:noFill/>
          <a:ln/>
        </p:spPr>
        <p:txBody>
          <a:bodyPr wrap="square" lIns="0" tIns="0" rIns="0" bIns="0" rtlCol="0" anchor="b"/>
          <a:lstStyle/>
          <a:p>
            <a:pPr algn="ctr" indent="0" marL="0">
              <a:buNone/>
            </a:pPr>
            <a:r>
              <a:rPr lang="en-US" sz="1050" dirty="0">
                <a:solidFill>
                  <a:srgbClr val="2B3A55"/>
                </a:solidFill>
              </a:rPr>
              <a:t>append row: time, hash, tier, IDs</a:t>
            </a:r>
            <a:endParaRPr lang="en-US" sz="1050" dirty="0"/>
          </a:p>
        </p:txBody>
      </p:sp>
      <p:sp>
        <p:nvSpPr>
          <p:cNvPr id="32" name="arrow-644"/>
          <p:cNvSpPr/>
          <p:nvPr/>
        </p:nvSpPr>
        <p:spPr>
          <a:xfrm flipH="1">
            <a:off x="1188720" y="5907024"/>
            <a:ext cx="2148840" cy="0"/>
          </a:xfrm>
          <a:prstGeom prst="line">
            <a:avLst/>
          </a:prstGeom>
          <a:noFill/>
          <a:ln w="15875">
            <a:solidFill>
              <a:srgbClr val="4F6D99"/>
            </a:solidFill>
            <a:prstDash val="dash"/>
            <a:tailEnd type="triangle"/>
          </a:ln>
        </p:spPr>
      </p:sp>
      <p:sp>
        <p:nvSpPr>
          <p:cNvPr id="33" name="text-645"/>
          <p:cNvSpPr txBox="1"/>
          <p:nvPr/>
        </p:nvSpPr>
        <p:spPr>
          <a:xfrm>
            <a:off x="1280160" y="5678424"/>
            <a:ext cx="2194560" cy="210312"/>
          </a:xfrm>
          <a:prstGeom prst="rect">
            <a:avLst/>
          </a:prstGeom>
          <a:noFill/>
          <a:ln/>
        </p:spPr>
        <p:txBody>
          <a:bodyPr wrap="square" lIns="0" tIns="0" rIns="0" bIns="0" rtlCol="0" anchor="b"/>
          <a:lstStyle/>
          <a:p>
            <a:pPr algn="ctr" indent="0" marL="0">
              <a:buNone/>
            </a:pPr>
            <a:r>
              <a:rPr lang="en-US" sz="1050" dirty="0">
                <a:solidFill>
                  <a:srgbClr val="2B3A55"/>
                </a:solidFill>
              </a:rPr>
              <a:t>tier, reasons, citations, disclaimer</a:t>
            </a:r>
            <a:endParaRPr lang="en-US" sz="1050" dirty="0"/>
          </a:p>
        </p:txBody>
      </p:sp>
      <p:sp>
        <p:nvSpPr>
          <p:cNvPr id="34" name="text-646"/>
          <p:cNvSpPr txBox="1"/>
          <p:nvPr/>
        </p:nvSpPr>
        <p:spPr>
          <a:xfrm>
            <a:off x="548640" y="6126480"/>
            <a:ext cx="7315200" cy="219456"/>
          </a:xfrm>
          <a:prstGeom prst="rect">
            <a:avLst/>
          </a:prstGeom>
          <a:noFill/>
          <a:ln/>
        </p:spPr>
        <p:txBody>
          <a:bodyPr wrap="square" lIns="0" tIns="0" rIns="0" bIns="0" rtlCol="0" anchor="t"/>
          <a:lstStyle/>
          <a:p>
            <a:pPr indent="0" marL="0">
              <a:buNone/>
            </a:pPr>
            <a:r>
              <a:rPr lang="en-US" sz="1100" i="1" dirty="0">
                <a:solidFill>
                  <a:srgbClr val="5B6B82"/>
                </a:solidFill>
              </a:rPr>
              <a:t>Illustrative: the searches the model chooses will vary from run to run. search = search_corpus.</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STATUS</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Where the pipeline stands today</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Ingestion is built and tested. The rest follows the ten-week plan, with retrieval and its baseline next.</a:t>
            </a:r>
            <a:endParaRPr lang="en-US" sz="1600" dirty="0"/>
          </a:p>
        </p:txBody>
      </p:sp>
      <p:graphicFrame>
        <p:nvGraphicFramePr>
          <p:cNvPr id="23" name="table-647"/>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548640"/>
                <a:gridCol w="2377440"/>
                <a:gridCol w="4965192"/>
                <a:gridCol w="1463040"/>
                <a:gridCol w="1737360"/>
              </a:tblGrid>
              <a:tr h="347472">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delivers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Milestone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Ingestion + IDs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chunks.jsonl with stable IDs, EN and FR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M0</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0F7A6B"/>
                          </a:solidFill>
                          <a:latin typeface="Calibri" pitchFamily="34" charset="0"/>
                          <a:ea typeface="Calibri" pitchFamily="34" charset="-122"/>
                          <a:cs typeface="Calibri" pitchFamily="34" charset="-120"/>
                        </a:rPr>
                        <a:t>Built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DDF1EE"/>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Indexing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Qdrant collection, NumPy index, BM25</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M1-M2</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Hybrid retrieval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dense + BM25 + RRF, optional rerank</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M2</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LLM gateway</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chat() with cache, retries, fallback</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M3</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Cited answers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verified citations, refusals, guardrails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M3</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Risk classifier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tool-calling agent with validated output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M4</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API + integrations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FastAPI, UI, Slack, MCP, Sheets, upload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M4, M6</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Evaluation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splits, golden set, metrics, judge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M1-M3</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MiniLM fine-tuned, int8 ONNX on the Hub</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M5</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Ship</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CI, keyless deploy, Cloud Run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M0, M7</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In progress</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BEFD3"/>
                    </a:solidFill>
                  </a:tcPr>
                </a:tc>
              </a:tr>
              <a:tr h="361188">
                <a:tc>
                  <a:txBody>
                    <a:bodyPr/>
                    <a:lstStyle/>
                    <a:p>
                      <a:pPr algn="ctr" indent="0" marL="0">
                        <a:buNone/>
                      </a:pPr>
                      <a:r>
                        <a:rPr lang="en-US" sz="1300" b="1" dirty="0">
                          <a:solidFill>
                            <a:srgbClr val="13203A"/>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Observe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2B3A55"/>
                          </a:solidFill>
                          <a:latin typeface="Calibri" pitchFamily="34" charset="0"/>
                          <a:ea typeface="Calibri" pitchFamily="34" charset="-122"/>
                          <a:cs typeface="Calibri" pitchFamily="34" charset="-120"/>
                        </a:rPr>
                        <a:t>Langfuse traces, JSON logs, cost</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dirty="0">
                          <a:solidFill>
                            <a:srgbClr val="13203A"/>
                          </a:solidFill>
                          <a:latin typeface="Calibri" pitchFamily="34" charset="0"/>
                          <a:ea typeface="Calibri" pitchFamily="34" charset="-122"/>
                          <a:cs typeface="Calibri" pitchFamily="34" charset="-120"/>
                        </a:rPr>
                        <a:t>M6</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algn="ctr" indent="0" marL="0">
                        <a:buNone/>
                      </a:pPr>
                      <a:r>
                        <a:rPr lang="en-US" sz="1300" b="1" dirty="0">
                          <a:solidFill>
                            <a:srgbClr val="2B3A5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1F3F7"/>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74320"/>
          </a:xfrm>
          <a:prstGeom prst="rect">
            <a:avLst/>
          </a:prstGeom>
          <a:noFill/>
          <a:ln/>
        </p:spPr>
        <p:txBody>
          <a:bodyPr wrap="square" lIns="0" tIns="0" rIns="0" bIns="0" rtlCol="0" anchor="t"/>
          <a:lstStyle/>
          <a:p>
            <a:pPr algn="l" indent="0" marL="0">
              <a:buNone/>
            </a:pPr>
            <a:r>
              <a:rPr lang="en-US" sz="1200" b="1" dirty="0">
                <a:solidFill>
                  <a:srgbClr val="9A6A0B"/>
                </a:solidFill>
              </a:rPr>
              <a:t>GLOSSARY</a:t>
            </a:r>
            <a:endParaRPr lang="en-US" sz="1200" dirty="0"/>
          </a:p>
        </p:txBody>
      </p:sp>
      <p:sp>
        <p:nvSpPr>
          <p:cNvPr id="3" name="Text 0"/>
          <p:cNvSpPr/>
          <p:nvPr>
            <p:ph idx="101" type="title" hasCustomPrompt="1"/>
          </p:nvPr>
        </p:nvSpPr>
        <p:spPr>
          <a:xfrm>
            <a:off x="548640" y="658368"/>
            <a:ext cx="11094415" cy="621792"/>
          </a:xfrm>
          <a:prstGeom prst="rect">
            <a:avLst/>
          </a:prstGeom>
          <a:noFill/>
          <a:ln/>
        </p:spPr>
        <p:txBody>
          <a:bodyPr wrap="square" lIns="0" tIns="0" rIns="0" bIns="0" rtlCol="0" anchor="t"/>
          <a:lstStyle/>
          <a:p>
            <a:pPr algn="l" indent="0" marL="0">
              <a:buNone/>
            </a:pPr>
            <a:r>
              <a:rPr lang="en-US" sz="3400" b="1" dirty="0">
                <a:solidFill>
                  <a:srgbClr val="13203A"/>
                </a:solidFill>
                <a:latin typeface="Cambria" pitchFamily="34" charset="0"/>
                <a:ea typeface="Cambria" pitchFamily="34" charset="-122"/>
                <a:cs typeface="Cambria" pitchFamily="34" charset="-120"/>
              </a:rPr>
              <a:t>Glossary</a:t>
            </a:r>
            <a:endParaRPr lang="en-US" sz="3400" dirty="0"/>
          </a:p>
        </p:txBody>
      </p:sp>
      <p:sp>
        <p:nvSpPr>
          <p:cNvPr id="4" name="Text 0"/>
          <p:cNvSpPr/>
          <p:nvPr>
            <p:ph idx="102" type="body" hasCustomPrompt="1"/>
          </p:nvPr>
        </p:nvSpPr>
        <p:spPr>
          <a:xfrm>
            <a:off x="548640" y="1298448"/>
            <a:ext cx="11094415" cy="411480"/>
          </a:xfrm>
          <a:prstGeom prst="rect">
            <a:avLst/>
          </a:prstGeom>
          <a:noFill/>
          <a:ln/>
        </p:spPr>
        <p:txBody>
          <a:bodyPr wrap="square" lIns="0" tIns="0" rIns="0" bIns="0" rtlCol="0" anchor="t"/>
          <a:lstStyle/>
          <a:p>
            <a:pPr algn="l" indent="0" marL="0">
              <a:buNone/>
            </a:pPr>
            <a:r>
              <a:rPr lang="en-US" sz="1600" dirty="0">
                <a:solidFill>
                  <a:srgbClr val="5B6B82"/>
                </a:solidFill>
              </a:rPr>
              <a:t>The terms used in this deck, in one line each.</a:t>
            </a:r>
            <a:endParaRPr lang="en-US" sz="1600" dirty="0"/>
          </a:p>
        </p:txBody>
      </p:sp>
      <p:graphicFrame>
        <p:nvGraphicFramePr>
          <p:cNvPr id="24" name="table-648"/>
          <p:cNvGraphicFramePr>
            <a:graphicFrameLocks noGrp="1"/>
          </p:cNvGraphicFramePr>
          <p:nvPr>
            <p:extLst>
              <p:ext uri="{D42A27DB-BD31-4B8C-83A1-F6EECF244321}">
                <p14:modId xmlns:p14="http://schemas.microsoft.com/office/powerpoint/2010/main" val="1579011935"/>
              </p:ext>
            </p:extLst>
          </p:nvPr>
        </p:nvGraphicFramePr>
        <p:xfrm>
          <a:off x="548640" y="1920240"/>
          <a:ext cx="5410048" cy="914400"/>
        </p:xfrm>
        <a:graphic>
          <a:graphicData uri="http://schemas.openxmlformats.org/drawingml/2006/table">
            <a:tbl>
              <a:tblPr/>
              <a:tblGrid>
                <a:gridCol w="1554480"/>
                <a:gridCol w="3855568"/>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RAG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Retrieve passages first, then let the model answer only from them</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Chunk</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One paragraph, recital or annex point; long ones split into windows</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Embedding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A vector that places texts with similar meaning close together</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BM25</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Classic keyword scoring: rare words that match count most</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RRF</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Reciprocal rank fusion: merges ranked lists using ranks only</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Cross-encoder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A model that reads query and passage together to rerank</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Recall@5 / MRR</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Was the right article in the top 5 / how high was it</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graphicFrame>
        <p:nvGraphicFramePr>
          <p:cNvPr id="47" name="table-649"/>
          <p:cNvGraphicFramePr>
            <a:graphicFrameLocks noGrp="1"/>
          </p:cNvGraphicFramePr>
          <p:nvPr>
            <p:extLst>
              <p:ext uri="{D42A27DB-BD31-4B8C-83A1-F6EECF244321}">
                <p14:modId xmlns:p14="http://schemas.microsoft.com/office/powerpoint/2010/main" val="1579011935"/>
              </p:ext>
            </p:extLst>
          </p:nvPr>
        </p:nvGraphicFramePr>
        <p:xfrm>
          <a:off x="6233008" y="1920240"/>
          <a:ext cx="5410048" cy="914400"/>
        </p:xfrm>
        <a:graphic>
          <a:graphicData uri="http://schemas.openxmlformats.org/drawingml/2006/table">
            <a:tbl>
              <a:tblPr/>
              <a:tblGrid>
                <a:gridCol w="1554480"/>
                <a:gridCol w="3855568"/>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03A"/>
                    </a:solidFill>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LLM judge</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An LLM that scores answers; trusted only once calibrated</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Cohen's kappa</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Agreement between two raters beyond chance</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MNRL</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Contrastive loss using other batch items as negatives</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ONNX int8</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Portable model format with 8-bit weights: small, fast on CPU</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MCP</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Model Context Protocol: lets AI clients call ActWise as tools</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Cloud Run</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Google's container service that scales to zero</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548640">
                <a:tc>
                  <a:txBody>
                    <a:bodyPr/>
                    <a:lstStyle/>
                    <a:p>
                      <a:pPr indent="0" marL="0">
                        <a:buNone/>
                      </a:pPr>
                      <a:r>
                        <a:rPr lang="en-US" sz="1300" b="1" dirty="0">
                          <a:solidFill>
                            <a:srgbClr val="13203A"/>
                          </a:solidFill>
                          <a:latin typeface="Calibri" pitchFamily="34" charset="0"/>
                          <a:ea typeface="Calibri" pitchFamily="34" charset="-122"/>
                          <a:cs typeface="Calibri" pitchFamily="34" charset="-120"/>
                        </a:rPr>
                        <a:t>WIF</a:t>
                      </a:r>
                      <a:endParaRPr lang="en-US" sz="130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2B3A55"/>
                          </a:solidFill>
                          <a:latin typeface="Calibri" pitchFamily="34" charset="0"/>
                          <a:ea typeface="Calibri" pitchFamily="34" charset="-122"/>
                          <a:cs typeface="Calibri" pitchFamily="34" charset="-120"/>
                        </a:rPr>
                        <a:t>Workload Identity Federation: deploy from GitHub with no key file</a:t>
                      </a:r>
                      <a:endParaRPr lang="en-US" sz="1250" dirty="0">
                        <a:latin typeface="Calibri" charset="0"/>
                        <a:ea typeface="Calibri" charset="0"/>
                        <a:cs typeface="Calibri" charset="0"/>
                      </a:endParaRPr>
                    </a:p>
                  </a:txBody>
                  <a:tcPr marL="91440" marR="91440" marT="36576" marB="36576"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ctWise">
  <a:themeElements>
    <a:clrScheme name="ActWise">
      <a:dk1>
        <a:srgbClr val="000000"/>
      </a:dk1>
      <a:lt1>
        <a:srgbClr val="FFFFFF"/>
      </a:lt1>
      <a:dk2>
        <a:srgbClr val="13203A"/>
      </a:dk2>
      <a:lt2>
        <a:srgbClr val="EEF1F6"/>
      </a:lt2>
      <a:accent1>
        <a:srgbClr val="13203A"/>
      </a:accent1>
      <a:accent2>
        <a:srgbClr val="E3A21A"/>
      </a:accent2>
      <a:accent3>
        <a:srgbClr val="14917F"/>
      </a:accent3>
      <a:accent4>
        <a:srgbClr val="D6573B"/>
      </a:accent4>
      <a:accent5>
        <a:srgbClr val="4F6D99"/>
      </a:accent5>
      <a:accent6>
        <a:srgbClr val="5B6B82"/>
      </a:accent6>
      <a:hlink>
        <a:srgbClr val="1F5FA8"/>
      </a:hlink>
      <a:folHlink>
        <a:srgbClr val="6B4E9B"/>
      </a:folHlink>
    </a:clrScheme>
    <a:fontScheme name="ActWi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ActWise: the end-to-end pipeline</dc:title>
  <dc:subject>How ActWise turns EU AI Act and GDPR text into cited answers and risk tiers</dc:subject>
  <dc:creator>Youssef ADOUIRI ALAOUI</dc:creator>
  <cp:lastModifiedBy>Youssef ADOUIRI ALAOUI</cp:lastModifiedBy>
  <cp:revision>1</cp:revision>
  <dcterms:created xsi:type="dcterms:W3CDTF">2026-10-04T00:35:47Z</dcterms:created>
  <dcterms:modified xsi:type="dcterms:W3CDTF">2026-10-04T00:35:47Z</dcterms:modified>
</cp:coreProperties>
</file>