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ab583cf4-4f77-5b92-3b37-8bc436475c85}">
          <p14:sldIdLst>
            <p14:sldId id="256"/>
            <p14:sldId id="257"/>
          </p14:sldIdLst>
        </p14:section>
        <p14:section name="Product" id="{2de39cb8-cc51-6af3-1f70-6ff156704e35}">
          <p14:sldIdLst>
            <p14:sldId id="258"/>
            <p14:sldId id="259"/>
            <p14:sldId id="260"/>
          </p14:sldIdLst>
        </p14:section>
        <p14:section name="Progress" id="{fc264718-83a6-ffa4-035e-60ae3eef7a37}">
          <p14:sldIdLst>
            <p14:sldId id="261"/>
          </p14:sldIdLst>
        </p14:section>
        <p14:section name="Measurement" id="{f88777e7-92ef-e808-89b8-72743e003e5c}">
          <p14:sldIdLst>
            <p14:sldId id="262"/>
            <p14:sldId id="263"/>
            <p14:sldId id="264"/>
            <p14:sldId id="265"/>
            <p14:sldId id="266"/>
          </p14:sldIdLst>
        </p14:section>
        <p14:section name="Findings" id="{d6651be8-e2e0-d4d4-8fcf-e5c6d732663c}">
          <p14:sldIdLst>
            <p14:sldId id="267"/>
            <p14:sldId id="268"/>
            <p14:sldId id="269"/>
            <p14:sldId id="270"/>
          </p14:sldIdLst>
        </p14:section>
        <p14:section name="Risks and next steps" id="{5ea804e6-4582-4f75-eae9-819cb16e5060}">
          <p14:sldIdLst>
            <p14:sldId id="271"/>
            <p14:sldId id="272"/>
          </p14:sldIdLst>
        </p14:section>
        <p14:section name="Appendix" id="{14a6799c-ff8a-1ed7-f443-044978875b5b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0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03A"/>
                </a:solidFill>
                <a:latin typeface="+mn-lt"/>
              </a:rPr>
              <a:t>Chunks by law, language and kind (total 3,799)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Articles</c:v>
                </c:pt>
              </c:strCache>
            </c:strRef>
          </c:tx>
          <c:spPr>
            <a:solidFill>
              <a:srgbClr val="13203A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 Act EN</c:v>
                  </c:pt>
                  <c:pt idx="1">
                    <c:v>AI Act FR</c:v>
                  </c:pt>
                  <c:pt idx="2">
                    <c:v>GDPR EN</c:v>
                  </c:pt>
                  <c:pt idx="3">
                    <c:v>GDPR FR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668</c:v>
                </c:pt>
                <c:pt idx="1">
                  <c:v>689</c:v>
                </c:pt>
                <c:pt idx="2">
                  <c:v>465</c:v>
                </c:pt>
                <c:pt idx="3">
                  <c:v>481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Recitals</c:v>
                </c:pt>
              </c:strCache>
            </c:strRef>
          </c:tx>
          <c:spPr>
            <a:solidFill>
              <a:srgbClr val="4F6D99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 Act EN</c:v>
                  </c:pt>
                  <c:pt idx="1">
                    <c:v>AI Act FR</c:v>
                  </c:pt>
                  <c:pt idx="2">
                    <c:v>GDPR EN</c:v>
                  </c:pt>
                  <c:pt idx="3">
                    <c:v>GDPR FR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328</c:v>
                </c:pt>
                <c:pt idx="1">
                  <c:v>373</c:v>
                </c:pt>
                <c:pt idx="2">
                  <c:v>251</c:v>
                </c:pt>
                <c:pt idx="3">
                  <c:v>278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Annexes</c:v>
                </c:pt>
              </c:strCache>
            </c:strRef>
          </c:tx>
          <c:spPr>
            <a:solidFill>
              <a:srgbClr val="B7861A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 Act EN</c:v>
                  </c:pt>
                  <c:pt idx="1">
                    <c:v>AI Act FR</c:v>
                  </c:pt>
                  <c:pt idx="2">
                    <c:v>GDPR EN</c:v>
                  </c:pt>
                  <c:pt idx="3">
                    <c:v>GDPR FR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132</c:v>
                </c:pt>
                <c:pt idx="1">
                  <c:v>134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3A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0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03A"/>
                </a:solidFill>
                <a:latin typeface="+mn-lt"/>
              </a:rPr>
              <a:t>Chunk length in words (window cap: 150)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Chunks</c:v>
                </c:pt>
              </c:strCache>
            </c:strRef>
          </c:tx>
          <c:spPr>
            <a:solidFill>
              <a:srgbClr val="4F6D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A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6D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6D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6D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6D9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6D9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A21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1-25</c:v>
                  </c:pt>
                  <c:pt idx="1">
                    <c:v>26-50</c:v>
                  </c:pt>
                  <c:pt idx="2">
                    <c:v>51-75</c:v>
                  </c:pt>
                  <c:pt idx="3">
                    <c:v>76-100</c:v>
                  </c:pt>
                  <c:pt idx="4">
                    <c:v>101-125</c:v>
                  </c:pt>
                  <c:pt idx="5">
                    <c:v>126-150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351</c:v>
                </c:pt>
                <c:pt idx="1">
                  <c:v>948</c:v>
                </c:pt>
                <c:pt idx="2">
                  <c:v>687</c:v>
                </c:pt>
                <c:pt idx="3">
                  <c:v>433</c:v>
                </c:pt>
                <c:pt idx="4">
                  <c:v>299</c:v>
                </c:pt>
                <c:pt idx="5">
                  <c:v>1081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3A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82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82"/>
                    </a:solidFill>
                    <a:latin typeface="Arial"/>
                  </a:rPr>
                  <a:t>Words per chunk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ActWise is a citation-grounded assistant for the EU AI Act and GDPR, in English and French. This deck is a living project review, rebuilt after every step or major finding. This version follows Step 2: the corpus is parsed and chunked.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 carry the status: the corpus size, the completeness check against the official numbering, and the test suite. The main watch item is statistical: with 50 questions split by article, the dev set is too small to compare configurations. Next week is the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non-technical audience: the product promise is checkable answers. Every rule cites an article that was actually retrieved, and the system refuses rather than guesses. It is information, never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user-facing features across milestones M3 to M6. None is live yet; the corpus and ID work underneath all of them is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The offline pipeline is built: EUR-Lex pages, the parser and chunker, and chunks.jsonl. Serving and clients are planned. Every client is a thin HTTP client of one FastAPI service, which keeps integrations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are computed from the checkboxes in TODO.md each time the deck is built, so they cannot drift from the real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product data scientist I propose one north star: the trusted answer rate. It rewards answering with verified, faithful citations and rewards correct refusals. Drivers are what we tune; guardrails are hard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quality targets come from the project plan. The baseline column fills in at Step 3 and the current column after each improvement. Status changes only with a measured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two rows are measurable today: corpus completeness and test coverage, and both pass. Model, operations and cost rows come online from Step 9 onward.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matters: split by article first, so no text from a test article leaks into training pairs or prompt tuning. Metrics are at article level so overlapping windows of one article count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design choice is written as a falsifiable bet with a test and a step. H4 is new: it comes from the chunk-length finding in this iteration.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official recital, article and annex was found in both languages. The French corpus has more chunks because French text is longer, but the paragraph-level ID sets are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a third of chunks are windows of long paragraphs. Article-level metrics hide duplicates, but the model would see five fragments of one paragraph instead of five different sources. That is hypothesis H4.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 parser passed the sample text but missed six patterns on the real pages. Each fix is pinned by a test, and tests/test_corpus.py checks the official counts on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decision record so far: structure-aware chunking with language-free IDs. The review of the reference code found ten defects; R8 and R9 are fixed, R1 is half fixed and finishes when indexing lands in 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highest risk is measurement, not engineering: too few questions per split to see real differences. The mitigation is cheap: write questions on purpose for dev and test articles and report intervals.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creates the baseline. The open question is whether to score retrieval on all 50 questions until fine-tuning starts, since nothing is trained before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update: edit content.json, run make deck, commit the three files with the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CBD3E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07492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AEB9CC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9A6A0B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5B6B8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ActWise  ·  Project review  ·  Iteration 1  ·  2026-10-04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ActWise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BD3E1"/>
                </a:solidFill>
              </a:rPr>
              <a:t>Citation-grounded assistant for the EU AI Act and GDPR, in English and French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074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EB9CC"/>
                </a:solidFill>
              </a:rPr>
              <a:t>Youssef ADOUIRI ALAOUI  ·  Product Data Scientist &amp; AI Engineer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EB9CC"/>
                </a:solidFill>
              </a:rPr>
              <a:t>Project review, iteration 1  ·  2026-10-04  ·  Step 2 committed: corpus parsed and chunked</a:t>
            </a:r>
            <a:endParaRPr lang="en-US" sz="1400" dirty="0"/>
          </a:p>
        </p:txBody>
      </p:sp>
      <p:sp>
        <p:nvSpPr>
          <p:cNvPr id="5" name="cite-chip-1"/>
          <p:cNvSpPr txBox="1"/>
          <p:nvPr/>
        </p:nvSpPr>
        <p:spPr>
          <a:xfrm>
            <a:off x="8229600" y="1234440"/>
            <a:ext cx="2514600" cy="475488"/>
          </a:xfrm>
          <a:prstGeom prst="roundRect">
            <a:avLst>
              <a:gd name="adj" fmla="val 23077"/>
            </a:avLst>
          </a:prstGeom>
          <a:solidFill>
            <a:srgbClr val="1F2E4D"/>
          </a:solidFill>
          <a:ln w="12700">
            <a:solidFill>
              <a:srgbClr val="3A4B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[AIA-Art6-2]</a:t>
            </a:r>
            <a:endParaRPr lang="en-US" sz="1600" dirty="0"/>
          </a:p>
        </p:txBody>
      </p:sp>
      <p:sp>
        <p:nvSpPr>
          <p:cNvPr id="6" name="cite-chip-2"/>
          <p:cNvSpPr txBox="1"/>
          <p:nvPr/>
        </p:nvSpPr>
        <p:spPr>
          <a:xfrm>
            <a:off x="9281160" y="1947672"/>
            <a:ext cx="2514600" cy="475488"/>
          </a:xfrm>
          <a:prstGeom prst="roundRect">
            <a:avLst>
              <a:gd name="adj" fmla="val 23077"/>
            </a:avLst>
          </a:prstGeom>
          <a:solidFill>
            <a:srgbClr val="1F2E4D"/>
          </a:solidFill>
          <a:ln w="12700">
            <a:solidFill>
              <a:srgbClr val="3A4B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[GDPR-Art17]</a:t>
            </a:r>
            <a:endParaRPr lang="en-US" sz="1600" dirty="0"/>
          </a:p>
        </p:txBody>
      </p:sp>
      <p:sp>
        <p:nvSpPr>
          <p:cNvPr id="7" name="cite-chip-3"/>
          <p:cNvSpPr txBox="1"/>
          <p:nvPr/>
        </p:nvSpPr>
        <p:spPr>
          <a:xfrm>
            <a:off x="7955280" y="2660904"/>
            <a:ext cx="2514600" cy="475488"/>
          </a:xfrm>
          <a:prstGeom prst="roundRect">
            <a:avLst>
              <a:gd name="adj" fmla="val 23077"/>
            </a:avLst>
          </a:prstGeom>
          <a:solidFill>
            <a:srgbClr val="E3A21A"/>
          </a:solidFill>
          <a:ln w="12700">
            <a:solidFill>
              <a:srgbClr val="E3A2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[AIA-AnnexIII-4]</a:t>
            </a:r>
            <a:endParaRPr lang="en-US" sz="1600" dirty="0"/>
          </a:p>
        </p:txBody>
      </p:sp>
      <p:sp>
        <p:nvSpPr>
          <p:cNvPr id="8" name="cite-chip-4"/>
          <p:cNvSpPr txBox="1"/>
          <p:nvPr/>
        </p:nvSpPr>
        <p:spPr>
          <a:xfrm>
            <a:off x="8915400" y="3374136"/>
            <a:ext cx="2514600" cy="475488"/>
          </a:xfrm>
          <a:prstGeom prst="roundRect">
            <a:avLst>
              <a:gd name="adj" fmla="val 23077"/>
            </a:avLst>
          </a:prstGeom>
          <a:solidFill>
            <a:srgbClr val="1F2E4D"/>
          </a:solidFill>
          <a:ln w="12700">
            <a:solidFill>
              <a:srgbClr val="3A4B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[AIA-Art5-1]</a:t>
            </a:r>
            <a:endParaRPr lang="en-US" sz="1600" dirty="0"/>
          </a:p>
        </p:txBody>
      </p:sp>
      <p:sp>
        <p:nvSpPr>
          <p:cNvPr id="9" name="cite-chip-5"/>
          <p:cNvSpPr txBox="1"/>
          <p:nvPr/>
        </p:nvSpPr>
        <p:spPr>
          <a:xfrm>
            <a:off x="8412480" y="4087368"/>
            <a:ext cx="2514600" cy="475488"/>
          </a:xfrm>
          <a:prstGeom prst="roundRect">
            <a:avLst>
              <a:gd name="adj" fmla="val 23077"/>
            </a:avLst>
          </a:prstGeom>
          <a:solidFill>
            <a:srgbClr val="1F2E4D"/>
          </a:solidFill>
          <a:ln w="12700">
            <a:solidFill>
              <a:srgbClr val="3A4B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[GDPR-Art22-1]</a:t>
            </a:r>
            <a:endParaRPr lang="en-US" sz="1600" dirty="0"/>
          </a:p>
        </p:txBody>
      </p:sp>
      <p:sp>
        <p:nvSpPr>
          <p:cNvPr id="10" name="cite-chip-6"/>
          <p:cNvSpPr txBox="1"/>
          <p:nvPr/>
        </p:nvSpPr>
        <p:spPr>
          <a:xfrm>
            <a:off x="9464040" y="4800600"/>
            <a:ext cx="2514600" cy="475488"/>
          </a:xfrm>
          <a:prstGeom prst="roundRect">
            <a:avLst>
              <a:gd name="adj" fmla="val 23077"/>
            </a:avLst>
          </a:prstGeom>
          <a:solidFill>
            <a:srgbClr val="1F2E4D"/>
          </a:solidFill>
          <a:ln w="12700">
            <a:solidFill>
              <a:srgbClr val="3A4B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[AIA-Art50-1]</a:t>
            </a:r>
            <a:endParaRPr lang="en-US" sz="1600" dirty="0"/>
          </a:p>
        </p:txBody>
      </p:sp>
      <p:sp>
        <p:nvSpPr>
          <p:cNvPr id="11" name="stage-7"/>
          <p:cNvSpPr txBox="1"/>
          <p:nvPr/>
        </p:nvSpPr>
        <p:spPr>
          <a:xfrm>
            <a:off x="731520" y="4343400"/>
            <a:ext cx="3840480" cy="384048"/>
          </a:xfrm>
          <a:prstGeom prst="roundRect">
            <a:avLst>
              <a:gd name="adj" fmla="val 33333"/>
            </a:avLst>
          </a:prstGeom>
          <a:solidFill>
            <a:srgbClr val="1F2E4D"/>
          </a:solidFill>
          <a:ln w="12700">
            <a:solidFill>
              <a:srgbClr val="E3A2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A21A"/>
                </a:solidFill>
              </a:rPr>
              <a:t>Stage: M0 Foundation and corpus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ActWise stands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The corpus foundation is built and verified. Next comes the baseline that every later claim is measured against.</a:t>
            </a:r>
            <a:endParaRPr lang="en-US" sz="1600" dirty="0"/>
          </a:p>
        </p:txBody>
      </p:sp>
      <p:sp>
        <p:nvSpPr>
          <p:cNvPr id="6" name="box-8"/>
          <p:cNvSpPr/>
          <p:nvPr/>
        </p:nvSpPr>
        <p:spPr>
          <a:xfrm>
            <a:off x="548640" y="192024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/>
        </p:spPr>
      </p:sp>
      <p:sp>
        <p:nvSpPr>
          <p:cNvPr id="7" name="text-9"/>
          <p:cNvSpPr txBox="1"/>
          <p:nvPr/>
        </p:nvSpPr>
        <p:spPr>
          <a:xfrm>
            <a:off x="822960" y="21031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3,799</a:t>
            </a:r>
            <a:endParaRPr lang="en-US" sz="4400" dirty="0"/>
          </a:p>
        </p:txBody>
      </p:sp>
      <p:sp>
        <p:nvSpPr>
          <p:cNvPr id="8" name="text-10"/>
          <p:cNvSpPr txBox="1"/>
          <p:nvPr/>
        </p:nvSpPr>
        <p:spPr>
          <a:xfrm>
            <a:off x="822960" y="2852928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</a:rPr>
              <a:t>chunks with stable, language-free IDs</a:t>
            </a:r>
            <a:endParaRPr lang="en-US" sz="1400" dirty="0"/>
          </a:p>
        </p:txBody>
      </p:sp>
      <p:sp>
        <p:nvSpPr>
          <p:cNvPr id="9" name="box-11"/>
          <p:cNvSpPr/>
          <p:nvPr/>
        </p:nvSpPr>
        <p:spPr>
          <a:xfrm>
            <a:off x="4338218" y="192024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/>
        </p:spPr>
      </p:sp>
      <p:sp>
        <p:nvSpPr>
          <p:cNvPr id="10" name="text-12"/>
          <p:cNvSpPr txBox="1"/>
          <p:nvPr/>
        </p:nvSpPr>
        <p:spPr>
          <a:xfrm>
            <a:off x="4612538" y="21031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-13"/>
          <p:cNvSpPr txBox="1"/>
          <p:nvPr/>
        </p:nvSpPr>
        <p:spPr>
          <a:xfrm>
            <a:off x="4612538" y="2852928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</a:rPr>
              <a:t>of official units parsed, EN and FR (578 per language)</a:t>
            </a:r>
            <a:endParaRPr lang="en-US" sz="1400" dirty="0"/>
          </a:p>
        </p:txBody>
      </p:sp>
      <p:sp>
        <p:nvSpPr>
          <p:cNvPr id="12" name="box-14"/>
          <p:cNvSpPr/>
          <p:nvPr/>
        </p:nvSpPr>
        <p:spPr>
          <a:xfrm>
            <a:off x="8127797" y="192024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/>
        </p:spPr>
      </p:sp>
      <p:sp>
        <p:nvSpPr>
          <p:cNvPr id="13" name="text-15"/>
          <p:cNvSpPr txBox="1"/>
          <p:nvPr/>
        </p:nvSpPr>
        <p:spPr>
          <a:xfrm>
            <a:off x="8402117" y="21031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4400" dirty="0"/>
          </a:p>
        </p:txBody>
      </p:sp>
      <p:sp>
        <p:nvSpPr>
          <p:cNvPr id="14" name="text-16"/>
          <p:cNvSpPr txBox="1"/>
          <p:nvPr/>
        </p:nvSpPr>
        <p:spPr>
          <a:xfrm>
            <a:off x="8402117" y="2852928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</a:rPr>
              <a:t>tests passing, 93% coverage on src/</a:t>
            </a:r>
            <a:endParaRPr lang="en-US" sz="1400" dirty="0"/>
          </a:p>
        </p:txBody>
      </p:sp>
      <p:sp>
        <p:nvSpPr>
          <p:cNvPr id="15" name="chip-17"/>
          <p:cNvSpPr txBox="1"/>
          <p:nvPr/>
        </p:nvSpPr>
        <p:spPr>
          <a:xfrm>
            <a:off x="548640" y="3831336"/>
            <a:ext cx="960120" cy="310896"/>
          </a:xfrm>
          <a:prstGeom prst="roundRect">
            <a:avLst>
              <a:gd name="adj" fmla="val 38235"/>
            </a:avLst>
          </a:prstGeom>
          <a:solidFill>
            <a:srgbClr val="1491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Done</a:t>
            </a:r>
            <a:endParaRPr lang="en-US" sz="1200" dirty="0"/>
          </a:p>
        </p:txBody>
      </p:sp>
      <p:sp>
        <p:nvSpPr>
          <p:cNvPr id="16" name="text-18"/>
          <p:cNvSpPr txBox="1"/>
          <p:nvPr/>
        </p:nvSpPr>
        <p:spPr>
          <a:xfrm>
            <a:off x="1737360" y="379476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3A"/>
                </a:solidFill>
              </a:rPr>
              <a:t>Steps 0 to 2: repo and CI config, four EUR-Lex texts, parser, chunker, stable IDs. M0 at 30/33 checklist items.</a:t>
            </a:r>
            <a:endParaRPr lang="en-US" sz="1500" dirty="0"/>
          </a:p>
        </p:txBody>
      </p:sp>
      <p:sp>
        <p:nvSpPr>
          <p:cNvPr id="17" name="chip-19"/>
          <p:cNvSpPr txBox="1"/>
          <p:nvPr/>
        </p:nvSpPr>
        <p:spPr>
          <a:xfrm>
            <a:off x="548640" y="4434840"/>
            <a:ext cx="960120" cy="310896"/>
          </a:xfrm>
          <a:prstGeom prst="roundRect">
            <a:avLst>
              <a:gd name="adj" fmla="val 38235"/>
            </a:avLst>
          </a:prstGeom>
          <a:solidFill>
            <a:srgbClr val="1491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Found</a:t>
            </a:r>
            <a:endParaRPr lang="en-US" sz="1200" dirty="0"/>
          </a:p>
        </p:txBody>
      </p:sp>
      <p:sp>
        <p:nvSpPr>
          <p:cNvPr id="18" name="text-20"/>
          <p:cNvSpPr txBox="1"/>
          <p:nvPr/>
        </p:nvSpPr>
        <p:spPr>
          <a:xfrm>
            <a:off x="1737360" y="4398264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3A"/>
                </a:solidFill>
              </a:rPr>
              <a:t>The reference parser missed 6 real-text edge cases. All fixed and pinned by tests.</a:t>
            </a:r>
            <a:endParaRPr lang="en-US" sz="1500" dirty="0"/>
          </a:p>
        </p:txBody>
      </p:sp>
      <p:sp>
        <p:nvSpPr>
          <p:cNvPr id="19" name="chip-21"/>
          <p:cNvSpPr txBox="1"/>
          <p:nvPr/>
        </p:nvSpPr>
        <p:spPr>
          <a:xfrm>
            <a:off x="548640" y="5038344"/>
            <a:ext cx="960120" cy="310896"/>
          </a:xfrm>
          <a:prstGeom prst="roundRect">
            <a:avLst>
              <a:gd name="adj" fmla="val 38235"/>
            </a:avLst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03A"/>
                </a:solidFill>
              </a:rPr>
              <a:t>Watch</a:t>
            </a:r>
            <a:endParaRPr lang="en-US" sz="1200" dirty="0"/>
          </a:p>
        </p:txBody>
      </p:sp>
      <p:sp>
        <p:nvSpPr>
          <p:cNvPr id="20" name="text-22"/>
          <p:cNvSpPr txBox="1"/>
          <p:nvPr/>
        </p:nvSpPr>
        <p:spPr>
          <a:xfrm>
            <a:off x="1737360" y="500176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3A"/>
                </a:solidFill>
              </a:rPr>
              <a:t>36% of chunks are overlapping windows, and a proportional split leaves about 8 dev questions.</a:t>
            </a:r>
            <a:endParaRPr lang="en-US" sz="1500" dirty="0"/>
          </a:p>
        </p:txBody>
      </p:sp>
      <p:sp>
        <p:nvSpPr>
          <p:cNvPr id="21" name="chip-23"/>
          <p:cNvSpPr txBox="1"/>
          <p:nvPr/>
        </p:nvSpPr>
        <p:spPr>
          <a:xfrm>
            <a:off x="548640" y="5641848"/>
            <a:ext cx="960120" cy="310896"/>
          </a:xfrm>
          <a:prstGeom prst="roundRect">
            <a:avLst>
              <a:gd name="adj" fmla="val 38235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A55"/>
                </a:solidFill>
              </a:rPr>
              <a:t>Next</a:t>
            </a:r>
            <a:endParaRPr lang="en-US" sz="1200" dirty="0"/>
          </a:p>
        </p:txBody>
      </p:sp>
      <p:sp>
        <p:nvSpPr>
          <p:cNvPr id="22" name="text-24"/>
          <p:cNvSpPr txBox="1"/>
          <p:nvPr/>
        </p:nvSpPr>
        <p:spPr>
          <a:xfrm>
            <a:off x="1737360" y="5605272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3A"/>
                </a:solidFill>
              </a:rPr>
              <a:t>Step 3: split by article, 50 hand-written questions, naive dense baseline (week 2).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PRODUCT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the product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Teams shipping AI in Europe need answers they can check, in their own language.</a:t>
            </a:r>
            <a:endParaRPr lang="en-US" sz="1600" dirty="0"/>
          </a:p>
        </p:txBody>
      </p:sp>
      <p:sp>
        <p:nvSpPr>
          <p:cNvPr id="6" name="text-25"/>
          <p:cNvSpPr txBox="1"/>
          <p:nvPr/>
        </p:nvSpPr>
        <p:spPr>
          <a:xfrm>
            <a:off x="548640" y="1920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icon-bg-26"/>
          <p:cNvSpPr/>
          <p:nvPr/>
        </p:nvSpPr>
        <p:spPr>
          <a:xfrm>
            <a:off x="548640" y="2468880"/>
            <a:ext cx="566928" cy="566928"/>
          </a:xfrm>
          <a:prstGeom prst="ellipse">
            <a:avLst/>
          </a:prstGeom>
          <a:solidFill>
            <a:srgbClr val="D6573B"/>
          </a:solidFill>
          <a:ln/>
        </p:spPr>
      </p:sp>
      <p:pic>
        <p:nvPicPr>
          <p:cNvPr id="8" name="icon-27" descr="law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2604943"/>
            <a:ext cx="294803" cy="294803"/>
          </a:xfrm>
          <a:prstGeom prst="rect">
            <a:avLst/>
          </a:prstGeom>
        </p:spPr>
      </p:pic>
      <p:sp>
        <p:nvSpPr>
          <p:cNvPr id="9" name="text-28"/>
          <p:cNvSpPr txBox="1"/>
          <p:nvPr/>
        </p:nvSpPr>
        <p:spPr>
          <a:xfrm>
            <a:off x="1325880" y="24505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Two long regulations</a:t>
            </a:r>
            <a:endParaRPr lang="en-US" sz="1600" dirty="0"/>
          </a:p>
        </p:txBody>
      </p:sp>
      <p:sp>
        <p:nvSpPr>
          <p:cNvPr id="10" name="text-29"/>
          <p:cNvSpPr txBox="1"/>
          <p:nvPr/>
        </p:nvSpPr>
        <p:spPr>
          <a:xfrm>
            <a:off x="1325880" y="275234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AI Act: 113 articles, 13 annexes, 180 recitals. GDPR: 99 articles, 173 recitals.</a:t>
            </a:r>
            <a:endParaRPr lang="en-US" sz="1400" dirty="0"/>
          </a:p>
        </p:txBody>
      </p:sp>
      <p:sp>
        <p:nvSpPr>
          <p:cNvPr id="11" name="icon-bg-30"/>
          <p:cNvSpPr/>
          <p:nvPr/>
        </p:nvSpPr>
        <p:spPr>
          <a:xfrm>
            <a:off x="548640" y="3493008"/>
            <a:ext cx="566928" cy="566928"/>
          </a:xfrm>
          <a:prstGeom prst="ellipse">
            <a:avLst/>
          </a:prstGeom>
          <a:solidFill>
            <a:srgbClr val="D6573B"/>
          </a:solidFill>
          <a:ln/>
        </p:spPr>
      </p:sp>
      <p:pic>
        <p:nvPicPr>
          <p:cNvPr id="12" name="icon-31" descr="war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3629071"/>
            <a:ext cx="294803" cy="294803"/>
          </a:xfrm>
          <a:prstGeom prst="rect">
            <a:avLst/>
          </a:prstGeom>
        </p:spPr>
      </p:pic>
      <p:sp>
        <p:nvSpPr>
          <p:cNvPr id="13" name="text-32"/>
          <p:cNvSpPr txBox="1"/>
          <p:nvPr/>
        </p:nvSpPr>
        <p:spPr>
          <a:xfrm>
            <a:off x="1325880" y="34747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Unverifiable chatbots</a:t>
            </a:r>
            <a:endParaRPr lang="en-US" sz="1600" dirty="0"/>
          </a:p>
        </p:txBody>
      </p:sp>
      <p:sp>
        <p:nvSpPr>
          <p:cNvPr id="14" name="text-33"/>
          <p:cNvSpPr txBox="1"/>
          <p:nvPr/>
        </p:nvSpPr>
        <p:spPr>
          <a:xfrm>
            <a:off x="1325880" y="37764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Generic chat-with-PDF answers cannot be checked, and they rarely refuse.</a:t>
            </a:r>
            <a:endParaRPr lang="en-US" sz="1400" dirty="0"/>
          </a:p>
        </p:txBody>
      </p:sp>
      <p:sp>
        <p:nvSpPr>
          <p:cNvPr id="15" name="icon-bg-34"/>
          <p:cNvSpPr/>
          <p:nvPr/>
        </p:nvSpPr>
        <p:spPr>
          <a:xfrm>
            <a:off x="548640" y="4517136"/>
            <a:ext cx="566928" cy="566928"/>
          </a:xfrm>
          <a:prstGeom prst="ellipse">
            <a:avLst/>
          </a:prstGeom>
          <a:solidFill>
            <a:srgbClr val="D6573B"/>
          </a:solidFill>
          <a:ln/>
        </p:spPr>
      </p:sp>
      <p:pic>
        <p:nvPicPr>
          <p:cNvPr id="16" name="icon-35" descr="lan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4653199"/>
            <a:ext cx="294803" cy="294803"/>
          </a:xfrm>
          <a:prstGeom prst="rect">
            <a:avLst/>
          </a:prstGeom>
        </p:spPr>
      </p:pic>
      <p:sp>
        <p:nvSpPr>
          <p:cNvPr id="17" name="text-36"/>
          <p:cNvSpPr txBox="1"/>
          <p:nvPr/>
        </p:nvSpPr>
        <p:spPr>
          <a:xfrm>
            <a:off x="1325880" y="4498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Bilingual teams</a:t>
            </a:r>
            <a:endParaRPr lang="en-US" sz="1600" dirty="0"/>
          </a:p>
        </p:txBody>
      </p:sp>
      <p:sp>
        <p:nvSpPr>
          <p:cNvPr id="18" name="text-37"/>
          <p:cNvSpPr txBox="1"/>
          <p:nvPr/>
        </p:nvSpPr>
        <p:spPr>
          <a:xfrm>
            <a:off x="1325880" y="48006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French and English readers need the same answer, citing the same article.</a:t>
            </a:r>
            <a:endParaRPr lang="en-US" sz="1400" dirty="0"/>
          </a:p>
        </p:txBody>
      </p:sp>
      <p:sp>
        <p:nvSpPr>
          <p:cNvPr id="19" name="text-38"/>
          <p:cNvSpPr txBox="1"/>
          <p:nvPr/>
        </p:nvSpPr>
        <p:spPr>
          <a:xfrm>
            <a:off x="6568135" y="1920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ActWise does</a:t>
            </a:r>
            <a:endParaRPr lang="en-US" sz="2000" dirty="0"/>
          </a:p>
        </p:txBody>
      </p:sp>
      <p:sp>
        <p:nvSpPr>
          <p:cNvPr id="20" name="icon-bg-39"/>
          <p:cNvSpPr/>
          <p:nvPr/>
        </p:nvSpPr>
        <p:spPr>
          <a:xfrm>
            <a:off x="6568135" y="2468880"/>
            <a:ext cx="566928" cy="566928"/>
          </a:xfrm>
          <a:prstGeom prst="ellipse">
            <a:avLst/>
          </a:prstGeom>
          <a:solidFill>
            <a:srgbClr val="14917F"/>
          </a:solidFill>
          <a:ln/>
        </p:spPr>
      </p:sp>
      <p:pic>
        <p:nvPicPr>
          <p:cNvPr id="21" name="icon-40" descr="quot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198" y="2604943"/>
            <a:ext cx="294803" cy="294803"/>
          </a:xfrm>
          <a:prstGeom prst="rect">
            <a:avLst/>
          </a:prstGeom>
        </p:spPr>
      </p:pic>
      <p:sp>
        <p:nvSpPr>
          <p:cNvPr id="22" name="text-41"/>
          <p:cNvSpPr txBox="1"/>
          <p:nvPr/>
        </p:nvSpPr>
        <p:spPr>
          <a:xfrm>
            <a:off x="7345375" y="24505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Cited Q&amp;A</a:t>
            </a:r>
            <a:endParaRPr lang="en-US" sz="1600" dirty="0"/>
          </a:p>
        </p:txBody>
      </p:sp>
      <p:sp>
        <p:nvSpPr>
          <p:cNvPr id="23" name="text-42"/>
          <p:cNvSpPr txBox="1"/>
          <p:nvPr/>
        </p:nvSpPr>
        <p:spPr>
          <a:xfrm>
            <a:off x="7345375" y="275234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Every rule ends with an article ID that was actually retrieved, shown as "AI Act, Art. 6(2)".</a:t>
            </a:r>
            <a:endParaRPr lang="en-US" sz="1400" dirty="0"/>
          </a:p>
        </p:txBody>
      </p:sp>
      <p:sp>
        <p:nvSpPr>
          <p:cNvPr id="24" name="icon-bg-43"/>
          <p:cNvSpPr/>
          <p:nvPr/>
        </p:nvSpPr>
        <p:spPr>
          <a:xfrm>
            <a:off x="6568135" y="3493008"/>
            <a:ext cx="566928" cy="566928"/>
          </a:xfrm>
          <a:prstGeom prst="ellipse">
            <a:avLst/>
          </a:prstGeom>
          <a:solidFill>
            <a:srgbClr val="14917F"/>
          </a:solidFill>
          <a:ln/>
        </p:spPr>
      </p:sp>
      <p:pic>
        <p:nvPicPr>
          <p:cNvPr id="25" name="icon-44" descr="sca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198" y="3629071"/>
            <a:ext cx="294803" cy="294803"/>
          </a:xfrm>
          <a:prstGeom prst="rect">
            <a:avLst/>
          </a:prstGeom>
        </p:spPr>
      </p:pic>
      <p:sp>
        <p:nvSpPr>
          <p:cNvPr id="26" name="text-45"/>
          <p:cNvSpPr txBox="1"/>
          <p:nvPr/>
        </p:nvSpPr>
        <p:spPr>
          <a:xfrm>
            <a:off x="7345375" y="34747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Risk-tier classifier</a:t>
            </a:r>
            <a:endParaRPr lang="en-US" sz="1600" dirty="0"/>
          </a:p>
        </p:txBody>
      </p:sp>
      <p:sp>
        <p:nvSpPr>
          <p:cNvPr id="27" name="text-46"/>
          <p:cNvSpPr txBox="1"/>
          <p:nvPr/>
        </p:nvSpPr>
        <p:spPr>
          <a:xfrm>
            <a:off x="7345375" y="37764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Describe a system, get prohibited, high risk, transparency, minimal or needs more info.</a:t>
            </a:r>
            <a:endParaRPr lang="en-US" sz="1400" dirty="0"/>
          </a:p>
        </p:txBody>
      </p:sp>
      <p:sp>
        <p:nvSpPr>
          <p:cNvPr id="28" name="icon-bg-47"/>
          <p:cNvSpPr/>
          <p:nvPr/>
        </p:nvSpPr>
        <p:spPr>
          <a:xfrm>
            <a:off x="6568135" y="4517136"/>
            <a:ext cx="566928" cy="566928"/>
          </a:xfrm>
          <a:prstGeom prst="ellipse">
            <a:avLst/>
          </a:prstGeom>
          <a:solidFill>
            <a:srgbClr val="14917F"/>
          </a:solidFill>
          <a:ln/>
        </p:spPr>
      </p:sp>
      <p:pic>
        <p:nvPicPr>
          <p:cNvPr id="29" name="icon-48" descr="plug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198" y="4653199"/>
            <a:ext cx="294803" cy="294803"/>
          </a:xfrm>
          <a:prstGeom prst="rect">
            <a:avLst/>
          </a:prstGeom>
        </p:spPr>
      </p:pic>
      <p:sp>
        <p:nvSpPr>
          <p:cNvPr id="30" name="text-49"/>
          <p:cNvSpPr txBox="1"/>
          <p:nvPr/>
        </p:nvSpPr>
        <p:spPr>
          <a:xfrm>
            <a:off x="7345375" y="4498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Where teams work</a:t>
            </a:r>
            <a:endParaRPr lang="en-US" sz="1600" dirty="0"/>
          </a:p>
        </p:txBody>
      </p:sp>
      <p:sp>
        <p:nvSpPr>
          <p:cNvPr id="31" name="text-50"/>
          <p:cNvSpPr txBox="1"/>
          <p:nvPr/>
        </p:nvSpPr>
        <p:spPr>
          <a:xfrm>
            <a:off x="7345375" y="48006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REST API, Slack, MCP clients and a Google Sheets register.</a:t>
            </a:r>
            <a:endParaRPr lang="en-US" sz="1400" dirty="0"/>
          </a:p>
        </p:txBody>
      </p:sp>
      <p:sp>
        <p:nvSpPr>
          <p:cNvPr id="32" name="arrow-51"/>
          <p:cNvSpPr/>
          <p:nvPr/>
        </p:nvSpPr>
        <p:spPr>
          <a:xfrm>
            <a:off x="5916168" y="3429000"/>
            <a:ext cx="566928" cy="457200"/>
          </a:xfrm>
          <a:prstGeom prst="rightArrow">
            <a:avLst/>
          </a:prstGeom>
          <a:solidFill>
            <a:srgbClr val="E3A21A"/>
          </a:solidFill>
          <a:ln/>
        </p:spPr>
      </p:sp>
      <p:sp>
        <p:nvSpPr>
          <p:cNvPr id="33" name="box-52"/>
          <p:cNvSpPr/>
          <p:nvPr/>
        </p:nvSpPr>
        <p:spPr>
          <a:xfrm>
            <a:off x="548640" y="555955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/>
        </p:spPr>
      </p:sp>
      <p:sp>
        <p:nvSpPr>
          <p:cNvPr id="34" name="text-53"/>
          <p:cNvSpPr txBox="1"/>
          <p:nvPr/>
        </p:nvSpPr>
        <p:spPr>
          <a:xfrm>
            <a:off x="822960" y="555955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Users: compliance officers and DPOs, product managers, ML engineers. Information only, never legal advice.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PRODUCT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scope: eight features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None is user-facing yet. The corpus work underneath all eight is done.</a:t>
            </a:r>
            <a:endParaRPr lang="en-US" sz="1600" dirty="0"/>
          </a:p>
        </p:txBody>
      </p:sp>
      <p:sp>
        <p:nvSpPr>
          <p:cNvPr id="6" name="box-54"/>
          <p:cNvSpPr/>
          <p:nvPr/>
        </p:nvSpPr>
        <p:spPr>
          <a:xfrm>
            <a:off x="548640" y="1920240"/>
            <a:ext cx="2602154" cy="1993392"/>
          </a:xfrm>
          <a:prstGeom prst="roundRect">
            <a:avLst>
              <a:gd name="adj" fmla="val 3670"/>
            </a:avLst>
          </a:prstGeom>
          <a:solidFill>
            <a:srgbClr val="EEF1F6"/>
          </a:solidFill>
          <a:ln/>
        </p:spPr>
      </p:sp>
      <p:sp>
        <p:nvSpPr>
          <p:cNvPr id="7" name="icon-bg-55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13203A"/>
          </a:solidFill>
          <a:ln/>
        </p:spPr>
      </p:sp>
      <p:pic>
        <p:nvPicPr>
          <p:cNvPr id="8" name="icon-56" descr="quot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269541"/>
            <a:ext cx="261518" cy="261518"/>
          </a:xfrm>
          <a:prstGeom prst="rect">
            <a:avLst/>
          </a:prstGeom>
        </p:spPr>
      </p:pic>
      <p:sp>
        <p:nvSpPr>
          <p:cNvPr id="9" name="text-57"/>
          <p:cNvSpPr txBox="1"/>
          <p:nvPr/>
        </p:nvSpPr>
        <p:spPr>
          <a:xfrm>
            <a:off x="1417320" y="2194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F1 · M3</a:t>
            </a:r>
            <a:endParaRPr lang="en-US" sz="1200" dirty="0"/>
          </a:p>
        </p:txBody>
      </p:sp>
      <p:sp>
        <p:nvSpPr>
          <p:cNvPr id="10" name="chip-58"/>
          <p:cNvSpPr txBox="1"/>
          <p:nvPr/>
        </p:nvSpPr>
        <p:spPr>
          <a:xfrm>
            <a:off x="2099234" y="2194560"/>
            <a:ext cx="822960" cy="274320"/>
          </a:xfrm>
          <a:prstGeom prst="roundRect">
            <a:avLst>
              <a:gd name="adj" fmla="val 43333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11" name="text-59"/>
          <p:cNvSpPr txBox="1"/>
          <p:nvPr/>
        </p:nvSpPr>
        <p:spPr>
          <a:xfrm>
            <a:off x="777240" y="2788920"/>
            <a:ext cx="21449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Cited Q&amp;A</a:t>
            </a:r>
            <a:endParaRPr lang="en-US" sz="1600" dirty="0"/>
          </a:p>
        </p:txBody>
      </p:sp>
      <p:sp>
        <p:nvSpPr>
          <p:cNvPr id="12" name="text-60"/>
          <p:cNvSpPr txBox="1"/>
          <p:nvPr/>
        </p:nvSpPr>
        <p:spPr>
          <a:xfrm>
            <a:off x="777240" y="3127248"/>
            <a:ext cx="219067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EN/FR answers with verified article citations</a:t>
            </a:r>
            <a:endParaRPr lang="en-US" sz="1400" dirty="0"/>
          </a:p>
        </p:txBody>
      </p:sp>
      <p:sp>
        <p:nvSpPr>
          <p:cNvPr id="13" name="box-61"/>
          <p:cNvSpPr/>
          <p:nvPr/>
        </p:nvSpPr>
        <p:spPr>
          <a:xfrm>
            <a:off x="3379394" y="1920240"/>
            <a:ext cx="2602154" cy="1993392"/>
          </a:xfrm>
          <a:prstGeom prst="roundRect">
            <a:avLst>
              <a:gd name="adj" fmla="val 3670"/>
            </a:avLst>
          </a:prstGeom>
          <a:solidFill>
            <a:srgbClr val="EEF1F6"/>
          </a:solidFill>
          <a:ln/>
        </p:spPr>
      </p:sp>
      <p:sp>
        <p:nvSpPr>
          <p:cNvPr id="14" name="icon-bg-62"/>
          <p:cNvSpPr/>
          <p:nvPr/>
        </p:nvSpPr>
        <p:spPr>
          <a:xfrm>
            <a:off x="3607994" y="2148840"/>
            <a:ext cx="502920" cy="502920"/>
          </a:xfrm>
          <a:prstGeom prst="ellipse">
            <a:avLst/>
          </a:prstGeom>
          <a:solidFill>
            <a:srgbClr val="13203A"/>
          </a:solidFill>
          <a:ln/>
        </p:spPr>
      </p:sp>
      <p:pic>
        <p:nvPicPr>
          <p:cNvPr id="15" name="icon-63" descr="shiel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695" y="2269541"/>
            <a:ext cx="261518" cy="261518"/>
          </a:xfrm>
          <a:prstGeom prst="rect">
            <a:avLst/>
          </a:prstGeom>
        </p:spPr>
      </p:pic>
      <p:sp>
        <p:nvSpPr>
          <p:cNvPr id="16" name="text-64"/>
          <p:cNvSpPr txBox="1"/>
          <p:nvPr/>
        </p:nvSpPr>
        <p:spPr>
          <a:xfrm>
            <a:off x="4248074" y="2194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F2 · M3</a:t>
            </a:r>
            <a:endParaRPr lang="en-US" sz="1200" dirty="0"/>
          </a:p>
        </p:txBody>
      </p:sp>
      <p:sp>
        <p:nvSpPr>
          <p:cNvPr id="17" name="chip-65"/>
          <p:cNvSpPr txBox="1"/>
          <p:nvPr/>
        </p:nvSpPr>
        <p:spPr>
          <a:xfrm>
            <a:off x="4929988" y="2194560"/>
            <a:ext cx="822960" cy="274320"/>
          </a:xfrm>
          <a:prstGeom prst="roundRect">
            <a:avLst>
              <a:gd name="adj" fmla="val 43333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18" name="text-66"/>
          <p:cNvSpPr txBox="1"/>
          <p:nvPr/>
        </p:nvSpPr>
        <p:spPr>
          <a:xfrm>
            <a:off x="3607994" y="2788920"/>
            <a:ext cx="21449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Honest refusal</a:t>
            </a:r>
            <a:endParaRPr lang="en-US" sz="1600" dirty="0"/>
          </a:p>
        </p:txBody>
      </p:sp>
      <p:sp>
        <p:nvSpPr>
          <p:cNvPr id="19" name="text-67"/>
          <p:cNvSpPr txBox="1"/>
          <p:nvPr/>
        </p:nvSpPr>
        <p:spPr>
          <a:xfrm>
            <a:off x="3607994" y="3127248"/>
            <a:ext cx="219067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NOT_COVERED becomes a polite refusal in the user's language</a:t>
            </a:r>
            <a:endParaRPr lang="en-US" sz="1400" dirty="0"/>
          </a:p>
        </p:txBody>
      </p:sp>
      <p:sp>
        <p:nvSpPr>
          <p:cNvPr id="20" name="box-68"/>
          <p:cNvSpPr/>
          <p:nvPr/>
        </p:nvSpPr>
        <p:spPr>
          <a:xfrm>
            <a:off x="6210148" y="1920240"/>
            <a:ext cx="2602154" cy="1993392"/>
          </a:xfrm>
          <a:prstGeom prst="roundRect">
            <a:avLst>
              <a:gd name="adj" fmla="val 3670"/>
            </a:avLst>
          </a:prstGeom>
          <a:solidFill>
            <a:srgbClr val="EEF1F6"/>
          </a:solidFill>
          <a:ln/>
        </p:spPr>
      </p:sp>
      <p:sp>
        <p:nvSpPr>
          <p:cNvPr id="21" name="icon-bg-69"/>
          <p:cNvSpPr/>
          <p:nvPr/>
        </p:nvSpPr>
        <p:spPr>
          <a:xfrm>
            <a:off x="6438748" y="2148840"/>
            <a:ext cx="502920" cy="502920"/>
          </a:xfrm>
          <a:prstGeom prst="ellipse">
            <a:avLst/>
          </a:prstGeom>
          <a:solidFill>
            <a:srgbClr val="13203A"/>
          </a:solidFill>
          <a:ln/>
        </p:spPr>
      </p:sp>
      <p:pic>
        <p:nvPicPr>
          <p:cNvPr id="22" name="icon-70" descr="sca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448" y="2269541"/>
            <a:ext cx="261518" cy="261518"/>
          </a:xfrm>
          <a:prstGeom prst="rect">
            <a:avLst/>
          </a:prstGeom>
        </p:spPr>
      </p:pic>
      <p:sp>
        <p:nvSpPr>
          <p:cNvPr id="23" name="text-71"/>
          <p:cNvSpPr txBox="1"/>
          <p:nvPr/>
        </p:nvSpPr>
        <p:spPr>
          <a:xfrm>
            <a:off x="7078828" y="2194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F3 · M4</a:t>
            </a:r>
            <a:endParaRPr lang="en-US" sz="1200" dirty="0"/>
          </a:p>
        </p:txBody>
      </p:sp>
      <p:sp>
        <p:nvSpPr>
          <p:cNvPr id="24" name="chip-72"/>
          <p:cNvSpPr txBox="1"/>
          <p:nvPr/>
        </p:nvSpPr>
        <p:spPr>
          <a:xfrm>
            <a:off x="7760741" y="2194560"/>
            <a:ext cx="822960" cy="274320"/>
          </a:xfrm>
          <a:prstGeom prst="roundRect">
            <a:avLst>
              <a:gd name="adj" fmla="val 43333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25" name="text-73"/>
          <p:cNvSpPr txBox="1"/>
          <p:nvPr/>
        </p:nvSpPr>
        <p:spPr>
          <a:xfrm>
            <a:off x="6438748" y="2788920"/>
            <a:ext cx="21449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Risk-tier classifier</a:t>
            </a:r>
            <a:endParaRPr lang="en-US" sz="1600" dirty="0"/>
          </a:p>
        </p:txBody>
      </p:sp>
      <p:sp>
        <p:nvSpPr>
          <p:cNvPr id="26" name="text-74"/>
          <p:cNvSpPr txBox="1"/>
          <p:nvPr/>
        </p:nvSpPr>
        <p:spPr>
          <a:xfrm>
            <a:off x="6438748" y="3127248"/>
            <a:ext cx="219067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Five tiers, cited reasons, follow-up questions</a:t>
            </a:r>
            <a:endParaRPr lang="en-US" sz="1400" dirty="0"/>
          </a:p>
        </p:txBody>
      </p:sp>
      <p:sp>
        <p:nvSpPr>
          <p:cNvPr id="27" name="box-75"/>
          <p:cNvSpPr/>
          <p:nvPr/>
        </p:nvSpPr>
        <p:spPr>
          <a:xfrm>
            <a:off x="9040901" y="1920240"/>
            <a:ext cx="2602154" cy="1993392"/>
          </a:xfrm>
          <a:prstGeom prst="roundRect">
            <a:avLst>
              <a:gd name="adj" fmla="val 3670"/>
            </a:avLst>
          </a:prstGeom>
          <a:solidFill>
            <a:srgbClr val="EEF1F6"/>
          </a:solidFill>
          <a:ln/>
        </p:spPr>
      </p:sp>
      <p:sp>
        <p:nvSpPr>
          <p:cNvPr id="28" name="icon-bg-76"/>
          <p:cNvSpPr/>
          <p:nvPr/>
        </p:nvSpPr>
        <p:spPr>
          <a:xfrm>
            <a:off x="9269501" y="2148840"/>
            <a:ext cx="502920" cy="502920"/>
          </a:xfrm>
          <a:prstGeom prst="ellipse">
            <a:avLst/>
          </a:prstGeom>
          <a:solidFill>
            <a:srgbClr val="13203A"/>
          </a:solidFill>
          <a:ln/>
        </p:spPr>
      </p:sp>
      <p:pic>
        <p:nvPicPr>
          <p:cNvPr id="29" name="icon-77" descr="fi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202" y="2269541"/>
            <a:ext cx="261518" cy="261518"/>
          </a:xfrm>
          <a:prstGeom prst="rect">
            <a:avLst/>
          </a:prstGeom>
        </p:spPr>
      </p:pic>
      <p:sp>
        <p:nvSpPr>
          <p:cNvPr id="30" name="text-78"/>
          <p:cNvSpPr txBox="1"/>
          <p:nvPr/>
        </p:nvSpPr>
        <p:spPr>
          <a:xfrm>
            <a:off x="9909581" y="2194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F4 · M4</a:t>
            </a:r>
            <a:endParaRPr lang="en-US" sz="1200" dirty="0"/>
          </a:p>
        </p:txBody>
      </p:sp>
      <p:sp>
        <p:nvSpPr>
          <p:cNvPr id="31" name="chip-79"/>
          <p:cNvSpPr txBox="1"/>
          <p:nvPr/>
        </p:nvSpPr>
        <p:spPr>
          <a:xfrm>
            <a:off x="10591495" y="2194560"/>
            <a:ext cx="822960" cy="274320"/>
          </a:xfrm>
          <a:prstGeom prst="roundRect">
            <a:avLst>
              <a:gd name="adj" fmla="val 43333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32" name="text-80"/>
          <p:cNvSpPr txBox="1"/>
          <p:nvPr/>
        </p:nvSpPr>
        <p:spPr>
          <a:xfrm>
            <a:off x="9269501" y="2788920"/>
            <a:ext cx="21449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Document upload</a:t>
            </a:r>
            <a:endParaRPr lang="en-US" sz="1600" dirty="0"/>
          </a:p>
        </p:txBody>
      </p:sp>
      <p:sp>
        <p:nvSpPr>
          <p:cNvPr id="33" name="text-81"/>
          <p:cNvSpPr txBox="1"/>
          <p:nvPr/>
        </p:nvSpPr>
        <p:spPr>
          <a:xfrm>
            <a:off x="9269501" y="3127248"/>
            <a:ext cx="219067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PDF, DOCX or TXT system description, classified</a:t>
            </a:r>
            <a:endParaRPr lang="en-US" sz="1400" dirty="0"/>
          </a:p>
        </p:txBody>
      </p:sp>
      <p:sp>
        <p:nvSpPr>
          <p:cNvPr id="34" name="box-82"/>
          <p:cNvSpPr/>
          <p:nvPr/>
        </p:nvSpPr>
        <p:spPr>
          <a:xfrm>
            <a:off x="548640" y="4142232"/>
            <a:ext cx="2602154" cy="1993392"/>
          </a:xfrm>
          <a:prstGeom prst="roundRect">
            <a:avLst>
              <a:gd name="adj" fmla="val 3670"/>
            </a:avLst>
          </a:prstGeom>
          <a:solidFill>
            <a:srgbClr val="EEF1F6"/>
          </a:solidFill>
          <a:ln/>
        </p:spPr>
      </p:sp>
      <p:sp>
        <p:nvSpPr>
          <p:cNvPr id="35" name="icon-bg-83"/>
          <p:cNvSpPr/>
          <p:nvPr/>
        </p:nvSpPr>
        <p:spPr>
          <a:xfrm>
            <a:off x="777240" y="4370832"/>
            <a:ext cx="502920" cy="502920"/>
          </a:xfrm>
          <a:prstGeom prst="ellipse">
            <a:avLst/>
          </a:prstGeom>
          <a:solidFill>
            <a:srgbClr val="13203A"/>
          </a:solidFill>
          <a:ln/>
        </p:spPr>
      </p:sp>
      <p:pic>
        <p:nvPicPr>
          <p:cNvPr id="36" name="icon-84" descr="api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491533"/>
            <a:ext cx="261518" cy="261518"/>
          </a:xfrm>
          <a:prstGeom prst="rect">
            <a:avLst/>
          </a:prstGeom>
        </p:spPr>
      </p:pic>
      <p:sp>
        <p:nvSpPr>
          <p:cNvPr id="37" name="text-85"/>
          <p:cNvSpPr txBox="1"/>
          <p:nvPr/>
        </p:nvSpPr>
        <p:spPr>
          <a:xfrm>
            <a:off x="1417320" y="44165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F5 · M4</a:t>
            </a:r>
            <a:endParaRPr lang="en-US" sz="1200" dirty="0"/>
          </a:p>
        </p:txBody>
      </p:sp>
      <p:sp>
        <p:nvSpPr>
          <p:cNvPr id="38" name="chip-86"/>
          <p:cNvSpPr txBox="1"/>
          <p:nvPr/>
        </p:nvSpPr>
        <p:spPr>
          <a:xfrm>
            <a:off x="2099234" y="4416552"/>
            <a:ext cx="822960" cy="274320"/>
          </a:xfrm>
          <a:prstGeom prst="roundRect">
            <a:avLst>
              <a:gd name="adj" fmla="val 43333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39" name="text-87"/>
          <p:cNvSpPr txBox="1"/>
          <p:nvPr/>
        </p:nvSpPr>
        <p:spPr>
          <a:xfrm>
            <a:off x="777240" y="5010912"/>
            <a:ext cx="21449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REST API + UI</a:t>
            </a:r>
            <a:endParaRPr lang="en-US" sz="1600" dirty="0"/>
          </a:p>
        </p:txBody>
      </p:sp>
      <p:sp>
        <p:nvSpPr>
          <p:cNvPr id="40" name="text-88"/>
          <p:cNvSpPr txBox="1"/>
          <p:nvPr/>
        </p:nvSpPr>
        <p:spPr>
          <a:xfrm>
            <a:off x="777240" y="5349240"/>
            <a:ext cx="219067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/ask, /classify, /search, /upload and a Streamlit UI</a:t>
            </a:r>
            <a:endParaRPr lang="en-US" sz="1400" dirty="0"/>
          </a:p>
        </p:txBody>
      </p:sp>
      <p:sp>
        <p:nvSpPr>
          <p:cNvPr id="41" name="box-89"/>
          <p:cNvSpPr/>
          <p:nvPr/>
        </p:nvSpPr>
        <p:spPr>
          <a:xfrm>
            <a:off x="3379394" y="4142232"/>
            <a:ext cx="2602154" cy="1993392"/>
          </a:xfrm>
          <a:prstGeom prst="roundRect">
            <a:avLst>
              <a:gd name="adj" fmla="val 3670"/>
            </a:avLst>
          </a:prstGeom>
          <a:solidFill>
            <a:srgbClr val="EEF1F6"/>
          </a:solidFill>
          <a:ln/>
        </p:spPr>
      </p:sp>
      <p:sp>
        <p:nvSpPr>
          <p:cNvPr id="42" name="icon-bg-90"/>
          <p:cNvSpPr/>
          <p:nvPr/>
        </p:nvSpPr>
        <p:spPr>
          <a:xfrm>
            <a:off x="3607994" y="4370832"/>
            <a:ext cx="502920" cy="502920"/>
          </a:xfrm>
          <a:prstGeom prst="ellipse">
            <a:avLst/>
          </a:prstGeom>
          <a:solidFill>
            <a:srgbClr val="13203A"/>
          </a:solidFill>
          <a:ln/>
        </p:spPr>
      </p:sp>
      <p:pic>
        <p:nvPicPr>
          <p:cNvPr id="43" name="icon-91" descr="cha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8695" y="4491533"/>
            <a:ext cx="261518" cy="261518"/>
          </a:xfrm>
          <a:prstGeom prst="rect">
            <a:avLst/>
          </a:prstGeom>
        </p:spPr>
      </p:pic>
      <p:sp>
        <p:nvSpPr>
          <p:cNvPr id="44" name="text-92"/>
          <p:cNvSpPr txBox="1"/>
          <p:nvPr/>
        </p:nvSpPr>
        <p:spPr>
          <a:xfrm>
            <a:off x="4248074" y="44165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F6 · M6</a:t>
            </a:r>
            <a:endParaRPr lang="en-US" sz="1200" dirty="0"/>
          </a:p>
        </p:txBody>
      </p:sp>
      <p:sp>
        <p:nvSpPr>
          <p:cNvPr id="45" name="chip-93"/>
          <p:cNvSpPr txBox="1"/>
          <p:nvPr/>
        </p:nvSpPr>
        <p:spPr>
          <a:xfrm>
            <a:off x="4929988" y="4416552"/>
            <a:ext cx="822960" cy="274320"/>
          </a:xfrm>
          <a:prstGeom prst="roundRect">
            <a:avLst>
              <a:gd name="adj" fmla="val 43333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46" name="text-94"/>
          <p:cNvSpPr txBox="1"/>
          <p:nvPr/>
        </p:nvSpPr>
        <p:spPr>
          <a:xfrm>
            <a:off x="3607994" y="5010912"/>
            <a:ext cx="21449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Slack command</a:t>
            </a:r>
            <a:endParaRPr lang="en-US" sz="1600" dirty="0"/>
          </a:p>
        </p:txBody>
      </p:sp>
      <p:sp>
        <p:nvSpPr>
          <p:cNvPr id="47" name="text-95"/>
          <p:cNvSpPr txBox="1"/>
          <p:nvPr/>
        </p:nvSpPr>
        <p:spPr>
          <a:xfrm>
            <a:off x="3607994" y="5349240"/>
            <a:ext cx="219067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/actwise ask and /actwise classify</a:t>
            </a:r>
            <a:endParaRPr lang="en-US" sz="1400" dirty="0"/>
          </a:p>
        </p:txBody>
      </p:sp>
      <p:sp>
        <p:nvSpPr>
          <p:cNvPr id="48" name="box-96"/>
          <p:cNvSpPr/>
          <p:nvPr/>
        </p:nvSpPr>
        <p:spPr>
          <a:xfrm>
            <a:off x="6210148" y="4142232"/>
            <a:ext cx="2602154" cy="1993392"/>
          </a:xfrm>
          <a:prstGeom prst="roundRect">
            <a:avLst>
              <a:gd name="adj" fmla="val 3670"/>
            </a:avLst>
          </a:prstGeom>
          <a:solidFill>
            <a:srgbClr val="EEF1F6"/>
          </a:solidFill>
          <a:ln/>
        </p:spPr>
      </p:sp>
      <p:sp>
        <p:nvSpPr>
          <p:cNvPr id="49" name="icon-bg-97"/>
          <p:cNvSpPr/>
          <p:nvPr/>
        </p:nvSpPr>
        <p:spPr>
          <a:xfrm>
            <a:off x="6438748" y="4370832"/>
            <a:ext cx="502920" cy="502920"/>
          </a:xfrm>
          <a:prstGeom prst="ellipse">
            <a:avLst/>
          </a:prstGeom>
          <a:solidFill>
            <a:srgbClr val="13203A"/>
          </a:solidFill>
          <a:ln/>
        </p:spPr>
      </p:sp>
      <p:pic>
        <p:nvPicPr>
          <p:cNvPr id="50" name="icon-98" descr="plug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448" y="4491533"/>
            <a:ext cx="261518" cy="261518"/>
          </a:xfrm>
          <a:prstGeom prst="rect">
            <a:avLst/>
          </a:prstGeom>
        </p:spPr>
      </p:pic>
      <p:sp>
        <p:nvSpPr>
          <p:cNvPr id="51" name="text-99"/>
          <p:cNvSpPr txBox="1"/>
          <p:nvPr/>
        </p:nvSpPr>
        <p:spPr>
          <a:xfrm>
            <a:off x="7078828" y="44165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F7 · M6</a:t>
            </a:r>
            <a:endParaRPr lang="en-US" sz="1200" dirty="0"/>
          </a:p>
        </p:txBody>
      </p:sp>
      <p:sp>
        <p:nvSpPr>
          <p:cNvPr id="52" name="chip-100"/>
          <p:cNvSpPr txBox="1"/>
          <p:nvPr/>
        </p:nvSpPr>
        <p:spPr>
          <a:xfrm>
            <a:off x="7760741" y="4416552"/>
            <a:ext cx="822960" cy="274320"/>
          </a:xfrm>
          <a:prstGeom prst="roundRect">
            <a:avLst>
              <a:gd name="adj" fmla="val 43333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53" name="text-101"/>
          <p:cNvSpPr txBox="1"/>
          <p:nvPr/>
        </p:nvSpPr>
        <p:spPr>
          <a:xfrm>
            <a:off x="6438748" y="5010912"/>
            <a:ext cx="21449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MCP server</a:t>
            </a:r>
            <a:endParaRPr lang="en-US" sz="1600" dirty="0"/>
          </a:p>
        </p:txBody>
      </p:sp>
      <p:sp>
        <p:nvSpPr>
          <p:cNvPr id="54" name="text-102"/>
          <p:cNvSpPr txBox="1"/>
          <p:nvPr/>
        </p:nvSpPr>
        <p:spPr>
          <a:xfrm>
            <a:off x="6438748" y="5349240"/>
            <a:ext cx="219067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ask_ai_act and classify_ai_system tools</a:t>
            </a:r>
            <a:endParaRPr lang="en-US" sz="1400" dirty="0"/>
          </a:p>
        </p:txBody>
      </p:sp>
      <p:sp>
        <p:nvSpPr>
          <p:cNvPr id="55" name="box-103"/>
          <p:cNvSpPr/>
          <p:nvPr/>
        </p:nvSpPr>
        <p:spPr>
          <a:xfrm>
            <a:off x="9040901" y="4142232"/>
            <a:ext cx="2602154" cy="1993392"/>
          </a:xfrm>
          <a:prstGeom prst="roundRect">
            <a:avLst>
              <a:gd name="adj" fmla="val 3670"/>
            </a:avLst>
          </a:prstGeom>
          <a:solidFill>
            <a:srgbClr val="EEF1F6"/>
          </a:solidFill>
          <a:ln/>
        </p:spPr>
      </p:sp>
      <p:sp>
        <p:nvSpPr>
          <p:cNvPr id="56" name="icon-bg-104"/>
          <p:cNvSpPr/>
          <p:nvPr/>
        </p:nvSpPr>
        <p:spPr>
          <a:xfrm>
            <a:off x="9269501" y="4370832"/>
            <a:ext cx="502920" cy="502920"/>
          </a:xfrm>
          <a:prstGeom prst="ellipse">
            <a:avLst/>
          </a:prstGeom>
          <a:solidFill>
            <a:srgbClr val="13203A"/>
          </a:solidFill>
          <a:ln/>
        </p:spPr>
      </p:sp>
      <p:pic>
        <p:nvPicPr>
          <p:cNvPr id="57" name="icon-105" descr="tabl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0202" y="4491533"/>
            <a:ext cx="261518" cy="261518"/>
          </a:xfrm>
          <a:prstGeom prst="rect">
            <a:avLst/>
          </a:prstGeom>
        </p:spPr>
      </p:pic>
      <p:sp>
        <p:nvSpPr>
          <p:cNvPr id="58" name="text-106"/>
          <p:cNvSpPr txBox="1"/>
          <p:nvPr/>
        </p:nvSpPr>
        <p:spPr>
          <a:xfrm>
            <a:off x="9909581" y="44165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F8 · M6</a:t>
            </a:r>
            <a:endParaRPr lang="en-US" sz="1200" dirty="0"/>
          </a:p>
        </p:txBody>
      </p:sp>
      <p:sp>
        <p:nvSpPr>
          <p:cNvPr id="59" name="chip-107"/>
          <p:cNvSpPr txBox="1"/>
          <p:nvPr/>
        </p:nvSpPr>
        <p:spPr>
          <a:xfrm>
            <a:off x="10591495" y="4416552"/>
            <a:ext cx="822960" cy="274320"/>
          </a:xfrm>
          <a:prstGeom prst="roundRect">
            <a:avLst>
              <a:gd name="adj" fmla="val 43333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60" name="text-108"/>
          <p:cNvSpPr txBox="1"/>
          <p:nvPr/>
        </p:nvSpPr>
        <p:spPr>
          <a:xfrm>
            <a:off x="9269501" y="5010912"/>
            <a:ext cx="21449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AI system register</a:t>
            </a:r>
            <a:endParaRPr lang="en-US" sz="1600" dirty="0"/>
          </a:p>
        </p:txBody>
      </p:sp>
      <p:sp>
        <p:nvSpPr>
          <p:cNvPr id="61" name="text-109"/>
          <p:cNvSpPr txBox="1"/>
          <p:nvPr/>
        </p:nvSpPr>
        <p:spPr>
          <a:xfrm>
            <a:off x="9269501" y="5349240"/>
            <a:ext cx="219067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One Sheets row per classification, hash only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PRODUCT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built vs planned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One API serves every client. Today the offline ingestion path exists; everything downstream is planned.</a:t>
            </a:r>
            <a:endParaRPr lang="en-US" sz="1600" dirty="0"/>
          </a:p>
        </p:txBody>
      </p:sp>
      <p:sp>
        <p:nvSpPr>
          <p:cNvPr id="6" name="chip-110"/>
          <p:cNvSpPr txBox="1"/>
          <p:nvPr/>
        </p:nvSpPr>
        <p:spPr>
          <a:xfrm>
            <a:off x="9646920" y="384048"/>
            <a:ext cx="822960" cy="256032"/>
          </a:xfrm>
          <a:prstGeom prst="roundRect">
            <a:avLst>
              <a:gd name="adj" fmla="val 46429"/>
            </a:avLst>
          </a:prstGeom>
          <a:solidFill>
            <a:srgbClr val="1491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Built</a:t>
            </a:r>
            <a:endParaRPr lang="en-US" sz="1100" dirty="0"/>
          </a:p>
        </p:txBody>
      </p:sp>
      <p:sp>
        <p:nvSpPr>
          <p:cNvPr id="7" name="legend-111"/>
          <p:cNvSpPr txBox="1"/>
          <p:nvPr/>
        </p:nvSpPr>
        <p:spPr>
          <a:xfrm>
            <a:off x="10607040" y="384048"/>
            <a:ext cx="100584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8C98AA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8" name="box-112"/>
          <p:cNvSpPr/>
          <p:nvPr/>
        </p:nvSpPr>
        <p:spPr>
          <a:xfrm>
            <a:off x="548640" y="1920240"/>
            <a:ext cx="3291840" cy="3401568"/>
          </a:xfrm>
          <a:prstGeom prst="roundRect">
            <a:avLst>
              <a:gd name="adj" fmla="val 2222"/>
            </a:avLst>
          </a:prstGeom>
          <a:solidFill>
            <a:srgbClr val="EEF1F6"/>
          </a:solidFill>
          <a:ln/>
        </p:spPr>
      </p:sp>
      <p:sp>
        <p:nvSpPr>
          <p:cNvPr id="9" name="text-113"/>
          <p:cNvSpPr txBox="1"/>
          <p:nvPr/>
        </p:nvSpPr>
        <p:spPr>
          <a:xfrm>
            <a:off x="731520" y="2048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Offline pipeline</a:t>
            </a:r>
            <a:endParaRPr lang="en-US" sz="1500" dirty="0"/>
          </a:p>
        </p:txBody>
      </p:sp>
      <p:sp>
        <p:nvSpPr>
          <p:cNvPr id="10" name="text-114"/>
          <p:cNvSpPr txBox="1"/>
          <p:nvPr/>
        </p:nvSpPr>
        <p:spPr>
          <a:xfrm>
            <a:off x="731520" y="23408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runs once per corpus version</a:t>
            </a:r>
            <a:endParaRPr lang="en-US" sz="1200" dirty="0"/>
          </a:p>
        </p:txBody>
      </p:sp>
      <p:sp>
        <p:nvSpPr>
          <p:cNvPr id="11" name="component-115"/>
          <p:cNvSpPr txBox="1"/>
          <p:nvPr/>
        </p:nvSpPr>
        <p:spPr>
          <a:xfrm>
            <a:off x="731520" y="2724912"/>
            <a:ext cx="2926080" cy="512064"/>
          </a:xfrm>
          <a:prstGeom prst="roundRect">
            <a:avLst>
              <a:gd name="adj" fmla="val 12500"/>
            </a:avLst>
          </a:prstGeom>
          <a:solidFill>
            <a:srgbClr val="14917F"/>
          </a:solidFill>
          <a:ln/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EUR-Lex HTML, EN + FR</a:t>
            </a:r>
            <a:endParaRPr lang="en-US" sz="1300" dirty="0"/>
          </a:p>
        </p:txBody>
      </p:sp>
      <p:sp>
        <p:nvSpPr>
          <p:cNvPr id="12" name="component-116"/>
          <p:cNvSpPr txBox="1"/>
          <p:nvPr/>
        </p:nvSpPr>
        <p:spPr>
          <a:xfrm>
            <a:off x="731520" y="3364992"/>
            <a:ext cx="2926080" cy="512064"/>
          </a:xfrm>
          <a:prstGeom prst="roundRect">
            <a:avLst>
              <a:gd name="adj" fmla="val 12500"/>
            </a:avLst>
          </a:prstGeom>
          <a:solidFill>
            <a:srgbClr val="14917F"/>
          </a:solidFill>
          <a:ln/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Parser + chunker, stable IDs</a:t>
            </a:r>
            <a:endParaRPr lang="en-US" sz="1300" dirty="0"/>
          </a:p>
        </p:txBody>
      </p:sp>
      <p:sp>
        <p:nvSpPr>
          <p:cNvPr id="13" name="component-117"/>
          <p:cNvSpPr txBox="1"/>
          <p:nvPr/>
        </p:nvSpPr>
        <p:spPr>
          <a:xfrm>
            <a:off x="731520" y="4005072"/>
            <a:ext cx="2926080" cy="512064"/>
          </a:xfrm>
          <a:prstGeom prst="roundRect">
            <a:avLst>
              <a:gd name="adj" fmla="val 12500"/>
            </a:avLst>
          </a:prstGeom>
          <a:solidFill>
            <a:srgbClr val="14917F"/>
          </a:solidFill>
          <a:ln/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chunks.jsonl (3,799 chunks)</a:t>
            </a:r>
            <a:endParaRPr lang="en-US" sz="1300" dirty="0"/>
          </a:p>
        </p:txBody>
      </p:sp>
      <p:sp>
        <p:nvSpPr>
          <p:cNvPr id="14" name="component-118"/>
          <p:cNvSpPr txBox="1"/>
          <p:nvPr/>
        </p:nvSpPr>
        <p:spPr>
          <a:xfrm>
            <a:off x="731520" y="4645152"/>
            <a:ext cx="29260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8AA"/>
            </a:solidFill>
            <a:prstDash val="dash"/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Embed + index (Qdrant, NumPy)</a:t>
            </a:r>
            <a:endParaRPr lang="en-US" sz="1300" dirty="0"/>
          </a:p>
        </p:txBody>
      </p:sp>
      <p:sp>
        <p:nvSpPr>
          <p:cNvPr id="15" name="arrow-119"/>
          <p:cNvSpPr/>
          <p:nvPr/>
        </p:nvSpPr>
        <p:spPr>
          <a:xfrm>
            <a:off x="3962324" y="3438144"/>
            <a:ext cx="365760" cy="365760"/>
          </a:xfrm>
          <a:prstGeom prst="rightArrow">
            <a:avLst/>
          </a:prstGeom>
          <a:solidFill>
            <a:srgbClr val="E3A21A"/>
          </a:solidFill>
          <a:ln/>
        </p:spPr>
      </p:sp>
      <p:sp>
        <p:nvSpPr>
          <p:cNvPr id="16" name="box-120"/>
          <p:cNvSpPr/>
          <p:nvPr/>
        </p:nvSpPr>
        <p:spPr>
          <a:xfrm>
            <a:off x="4449928" y="1920240"/>
            <a:ext cx="3291840" cy="3401568"/>
          </a:xfrm>
          <a:prstGeom prst="roundRect">
            <a:avLst>
              <a:gd name="adj" fmla="val 2222"/>
            </a:avLst>
          </a:prstGeom>
          <a:solidFill>
            <a:srgbClr val="EEF1F6"/>
          </a:solidFill>
          <a:ln/>
        </p:spPr>
      </p:sp>
      <p:sp>
        <p:nvSpPr>
          <p:cNvPr id="17" name="text-121"/>
          <p:cNvSpPr txBox="1"/>
          <p:nvPr/>
        </p:nvSpPr>
        <p:spPr>
          <a:xfrm>
            <a:off x="4632808" y="2048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Serving (FastAPI on Cloud Run)</a:t>
            </a:r>
            <a:endParaRPr lang="en-US" sz="1500" dirty="0"/>
          </a:p>
        </p:txBody>
      </p:sp>
      <p:sp>
        <p:nvSpPr>
          <p:cNvPr id="18" name="text-122"/>
          <p:cNvSpPr txBox="1"/>
          <p:nvPr/>
        </p:nvSpPr>
        <p:spPr>
          <a:xfrm>
            <a:off x="4632808" y="23408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per request</a:t>
            </a:r>
            <a:endParaRPr lang="en-US" sz="1200" dirty="0"/>
          </a:p>
        </p:txBody>
      </p:sp>
      <p:sp>
        <p:nvSpPr>
          <p:cNvPr id="19" name="component-123"/>
          <p:cNvSpPr txBox="1"/>
          <p:nvPr/>
        </p:nvSpPr>
        <p:spPr>
          <a:xfrm>
            <a:off x="4632808" y="2724912"/>
            <a:ext cx="29260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8AA"/>
            </a:solidFill>
            <a:prstDash val="dash"/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Hybrid retrieval: dense + BM25 + RRF</a:t>
            </a:r>
            <a:endParaRPr lang="en-US" sz="1300" dirty="0"/>
          </a:p>
        </p:txBody>
      </p:sp>
      <p:sp>
        <p:nvSpPr>
          <p:cNvPr id="20" name="component-124"/>
          <p:cNvSpPr txBox="1"/>
          <p:nvPr/>
        </p:nvSpPr>
        <p:spPr>
          <a:xfrm>
            <a:off x="4632808" y="3364992"/>
            <a:ext cx="29260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8AA"/>
            </a:solidFill>
            <a:prstDash val="dash"/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LLM gateway: cache, retry, fallback</a:t>
            </a:r>
            <a:endParaRPr lang="en-US" sz="1300" dirty="0"/>
          </a:p>
        </p:txBody>
      </p:sp>
      <p:sp>
        <p:nvSpPr>
          <p:cNvPr id="21" name="component-125"/>
          <p:cNvSpPr txBox="1"/>
          <p:nvPr/>
        </p:nvSpPr>
        <p:spPr>
          <a:xfrm>
            <a:off x="4632808" y="4005072"/>
            <a:ext cx="29260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8AA"/>
            </a:solidFill>
            <a:prstDash val="dash"/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Cited Q&amp;A + citation check</a:t>
            </a:r>
            <a:endParaRPr lang="en-US" sz="1300" dirty="0"/>
          </a:p>
        </p:txBody>
      </p:sp>
      <p:sp>
        <p:nvSpPr>
          <p:cNvPr id="22" name="component-126"/>
          <p:cNvSpPr txBox="1"/>
          <p:nvPr/>
        </p:nvSpPr>
        <p:spPr>
          <a:xfrm>
            <a:off x="4632808" y="4645152"/>
            <a:ext cx="29260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8AA"/>
            </a:solidFill>
            <a:prstDash val="dash"/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Risk classifier agent</a:t>
            </a:r>
            <a:endParaRPr lang="en-US" sz="1300" dirty="0"/>
          </a:p>
        </p:txBody>
      </p:sp>
      <p:sp>
        <p:nvSpPr>
          <p:cNvPr id="23" name="arrow-127"/>
          <p:cNvSpPr/>
          <p:nvPr/>
        </p:nvSpPr>
        <p:spPr>
          <a:xfrm>
            <a:off x="7863611" y="3438144"/>
            <a:ext cx="365760" cy="365760"/>
          </a:xfrm>
          <a:prstGeom prst="rightArrow">
            <a:avLst/>
          </a:prstGeom>
          <a:solidFill>
            <a:srgbClr val="E3A21A"/>
          </a:solidFill>
          <a:ln/>
        </p:spPr>
      </p:sp>
      <p:sp>
        <p:nvSpPr>
          <p:cNvPr id="24" name="box-128"/>
          <p:cNvSpPr/>
          <p:nvPr/>
        </p:nvSpPr>
        <p:spPr>
          <a:xfrm>
            <a:off x="8351215" y="1920240"/>
            <a:ext cx="3291840" cy="3401568"/>
          </a:xfrm>
          <a:prstGeom prst="roundRect">
            <a:avLst>
              <a:gd name="adj" fmla="val 2222"/>
            </a:avLst>
          </a:prstGeom>
          <a:solidFill>
            <a:srgbClr val="EEF1F6"/>
          </a:solidFill>
          <a:ln/>
        </p:spPr>
      </p:sp>
      <p:sp>
        <p:nvSpPr>
          <p:cNvPr id="25" name="text-129"/>
          <p:cNvSpPr txBox="1"/>
          <p:nvPr/>
        </p:nvSpPr>
        <p:spPr>
          <a:xfrm>
            <a:off x="8534095" y="2048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Clients</a:t>
            </a:r>
            <a:endParaRPr lang="en-US" sz="1500" dirty="0"/>
          </a:p>
        </p:txBody>
      </p:sp>
      <p:sp>
        <p:nvSpPr>
          <p:cNvPr id="26" name="text-130"/>
          <p:cNvSpPr txBox="1"/>
          <p:nvPr/>
        </p:nvSpPr>
        <p:spPr>
          <a:xfrm>
            <a:off x="8534095" y="23408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thin HTTP clients</a:t>
            </a:r>
            <a:endParaRPr lang="en-US" sz="1200" dirty="0"/>
          </a:p>
        </p:txBody>
      </p:sp>
      <p:sp>
        <p:nvSpPr>
          <p:cNvPr id="27" name="component-131"/>
          <p:cNvSpPr txBox="1"/>
          <p:nvPr/>
        </p:nvSpPr>
        <p:spPr>
          <a:xfrm>
            <a:off x="8534095" y="2724912"/>
            <a:ext cx="29260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8AA"/>
            </a:solidFill>
            <a:prstDash val="dash"/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Streamlit UI + file upload</a:t>
            </a:r>
            <a:endParaRPr lang="en-US" sz="1300" dirty="0"/>
          </a:p>
        </p:txBody>
      </p:sp>
      <p:sp>
        <p:nvSpPr>
          <p:cNvPr id="28" name="component-132"/>
          <p:cNvSpPr txBox="1"/>
          <p:nvPr/>
        </p:nvSpPr>
        <p:spPr>
          <a:xfrm>
            <a:off x="8534095" y="3364992"/>
            <a:ext cx="29260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8AA"/>
            </a:solidFill>
            <a:prstDash val="dash"/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Slack slash command</a:t>
            </a:r>
            <a:endParaRPr lang="en-US" sz="1300" dirty="0"/>
          </a:p>
        </p:txBody>
      </p:sp>
      <p:sp>
        <p:nvSpPr>
          <p:cNvPr id="29" name="component-133"/>
          <p:cNvSpPr txBox="1"/>
          <p:nvPr/>
        </p:nvSpPr>
        <p:spPr>
          <a:xfrm>
            <a:off x="8534095" y="4005072"/>
            <a:ext cx="29260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8AA"/>
            </a:solidFill>
            <a:prstDash val="dash"/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MCP server</a:t>
            </a:r>
            <a:endParaRPr lang="en-US" sz="1300" dirty="0"/>
          </a:p>
        </p:txBody>
      </p:sp>
      <p:sp>
        <p:nvSpPr>
          <p:cNvPr id="30" name="component-134"/>
          <p:cNvSpPr txBox="1"/>
          <p:nvPr/>
        </p:nvSpPr>
        <p:spPr>
          <a:xfrm>
            <a:off x="8534095" y="4645152"/>
            <a:ext cx="29260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8AA"/>
            </a:solidFill>
            <a:prstDash val="dash"/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Google Sheets register</a:t>
            </a:r>
            <a:endParaRPr lang="en-US" sz="1300" dirty="0"/>
          </a:p>
        </p:txBody>
      </p:sp>
      <p:sp>
        <p:nvSpPr>
          <p:cNvPr id="31" name="text-135"/>
          <p:cNvSpPr txBox="1"/>
          <p:nvPr/>
        </p:nvSpPr>
        <p:spPr>
          <a:xfrm>
            <a:off x="548640" y="54681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Across all layers</a:t>
            </a:r>
            <a:endParaRPr lang="en-US" sz="1200" dirty="0"/>
          </a:p>
        </p:txBody>
      </p:sp>
      <p:sp>
        <p:nvSpPr>
          <p:cNvPr id="32" name="component-136"/>
          <p:cNvSpPr txBox="1"/>
          <p:nvPr/>
        </p:nvSpPr>
        <p:spPr>
          <a:xfrm>
            <a:off x="548640" y="5742432"/>
            <a:ext cx="5432908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8C98AA"/>
            </a:solidFill>
            <a:prstDash val="dash"/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Evaluation harness (splits, golden set, judge)</a:t>
            </a:r>
            <a:endParaRPr lang="en-US" sz="1300" dirty="0"/>
          </a:p>
        </p:txBody>
      </p:sp>
      <p:sp>
        <p:nvSpPr>
          <p:cNvPr id="33" name="component-137"/>
          <p:cNvSpPr txBox="1"/>
          <p:nvPr/>
        </p:nvSpPr>
        <p:spPr>
          <a:xfrm>
            <a:off x="6210148" y="5742432"/>
            <a:ext cx="5432908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8C98AA"/>
            </a:solidFill>
            <a:prstDash val="dash"/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Observability (Langfuse, JSON logs, cost)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PLAN AND PROGRESS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M0 nearly closed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Progress is counted from the TODO.md checkboxes, so this slide updates itself.</a:t>
            </a:r>
            <a:endParaRPr lang="en-US" sz="1600" dirty="0"/>
          </a:p>
        </p:txBody>
      </p:sp>
      <p:sp>
        <p:nvSpPr>
          <p:cNvPr id="6" name="text-138"/>
          <p:cNvSpPr txBox="1"/>
          <p:nvPr/>
        </p:nvSpPr>
        <p:spPr>
          <a:xfrm>
            <a:off x="54864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Milestone</a:t>
            </a:r>
            <a:endParaRPr lang="en-US" sz="1200" dirty="0"/>
          </a:p>
        </p:txBody>
      </p:sp>
      <p:sp>
        <p:nvSpPr>
          <p:cNvPr id="7" name="text-139"/>
          <p:cNvSpPr txBox="1"/>
          <p:nvPr/>
        </p:nvSpPr>
        <p:spPr>
          <a:xfrm>
            <a:off x="457200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When</a:t>
            </a:r>
            <a:endParaRPr lang="en-US" sz="1200" dirty="0"/>
          </a:p>
        </p:txBody>
      </p:sp>
      <p:sp>
        <p:nvSpPr>
          <p:cNvPr id="8" name="text-140"/>
          <p:cNvSpPr txBox="1"/>
          <p:nvPr/>
        </p:nvSpPr>
        <p:spPr>
          <a:xfrm>
            <a:off x="5897880" y="1874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Checklist items done (TODO.md)</a:t>
            </a:r>
            <a:endParaRPr lang="en-US" sz="1200" dirty="0"/>
          </a:p>
        </p:txBody>
      </p:sp>
      <p:sp>
        <p:nvSpPr>
          <p:cNvPr id="9" name="band-141"/>
          <p:cNvSpPr/>
          <p:nvPr/>
        </p:nvSpPr>
        <p:spPr>
          <a:xfrm>
            <a:off x="548640" y="2157984"/>
            <a:ext cx="11094415" cy="32918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0" name="text-142"/>
          <p:cNvSpPr txBox="1"/>
          <p:nvPr/>
        </p:nvSpPr>
        <p:spPr>
          <a:xfrm>
            <a:off x="640080" y="21762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Setup</a:t>
            </a:r>
            <a:endParaRPr lang="en-US" sz="1400" dirty="0"/>
          </a:p>
        </p:txBody>
      </p:sp>
      <p:sp>
        <p:nvSpPr>
          <p:cNvPr id="11" name="text-143"/>
          <p:cNvSpPr txBox="1"/>
          <p:nvPr/>
        </p:nvSpPr>
        <p:spPr>
          <a:xfrm>
            <a:off x="1371600" y="21762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03A"/>
                </a:solidFill>
              </a:rPr>
              <a:t>Before you start</a:t>
            </a:r>
            <a:endParaRPr lang="en-US" sz="1400" dirty="0"/>
          </a:p>
        </p:txBody>
      </p:sp>
      <p:sp>
        <p:nvSpPr>
          <p:cNvPr id="12" name="text-144"/>
          <p:cNvSpPr txBox="1"/>
          <p:nvPr/>
        </p:nvSpPr>
        <p:spPr>
          <a:xfrm>
            <a:off x="4572000" y="21762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Before week 1</a:t>
            </a:r>
            <a:endParaRPr lang="en-US" sz="1300" dirty="0"/>
          </a:p>
        </p:txBody>
      </p:sp>
      <p:sp>
        <p:nvSpPr>
          <p:cNvPr id="13" name="box-145"/>
          <p:cNvSpPr/>
          <p:nvPr/>
        </p:nvSpPr>
        <p:spPr>
          <a:xfrm>
            <a:off x="5897880" y="2249424"/>
            <a:ext cx="3749040" cy="146304"/>
          </a:xfrm>
          <a:prstGeom prst="roundRect">
            <a:avLst>
              <a:gd name="adj" fmla="val 50000"/>
            </a:avLst>
          </a:prstGeom>
          <a:solidFill>
            <a:srgbClr val="D9DEE6"/>
          </a:solidFill>
          <a:ln/>
        </p:spPr>
      </p:sp>
      <p:sp>
        <p:nvSpPr>
          <p:cNvPr id="14" name="text-146"/>
          <p:cNvSpPr txBox="1"/>
          <p:nvPr/>
        </p:nvSpPr>
        <p:spPr>
          <a:xfrm>
            <a:off x="9784080" y="21762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0/10</a:t>
            </a:r>
            <a:endParaRPr lang="en-US" sz="1300" dirty="0"/>
          </a:p>
        </p:txBody>
      </p:sp>
      <p:sp>
        <p:nvSpPr>
          <p:cNvPr id="15" name="chip-147"/>
          <p:cNvSpPr txBox="1"/>
          <p:nvPr/>
        </p:nvSpPr>
        <p:spPr>
          <a:xfrm>
            <a:off x="10618927" y="2203704"/>
            <a:ext cx="1005840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16" name="text-148"/>
          <p:cNvSpPr txBox="1"/>
          <p:nvPr/>
        </p:nvSpPr>
        <p:spPr>
          <a:xfrm>
            <a:off x="640080" y="25054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M0</a:t>
            </a:r>
            <a:endParaRPr lang="en-US" sz="1400" dirty="0"/>
          </a:p>
        </p:txBody>
      </p:sp>
      <p:sp>
        <p:nvSpPr>
          <p:cNvPr id="17" name="text-149"/>
          <p:cNvSpPr txBox="1"/>
          <p:nvPr/>
        </p:nvSpPr>
        <p:spPr>
          <a:xfrm>
            <a:off x="1371600" y="250545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03A"/>
                </a:solidFill>
              </a:rPr>
              <a:t>Foundation and corpus</a:t>
            </a:r>
            <a:endParaRPr lang="en-US" sz="1400" dirty="0"/>
          </a:p>
        </p:txBody>
      </p:sp>
      <p:sp>
        <p:nvSpPr>
          <p:cNvPr id="18" name="text-150"/>
          <p:cNvSpPr txBox="1"/>
          <p:nvPr/>
        </p:nvSpPr>
        <p:spPr>
          <a:xfrm>
            <a:off x="4572000" y="25054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Week 1</a:t>
            </a:r>
            <a:endParaRPr lang="en-US" sz="1300" dirty="0"/>
          </a:p>
        </p:txBody>
      </p:sp>
      <p:sp>
        <p:nvSpPr>
          <p:cNvPr id="19" name="box-151"/>
          <p:cNvSpPr/>
          <p:nvPr/>
        </p:nvSpPr>
        <p:spPr>
          <a:xfrm>
            <a:off x="5897880" y="2578608"/>
            <a:ext cx="3749040" cy="146304"/>
          </a:xfrm>
          <a:prstGeom prst="roundRect">
            <a:avLst>
              <a:gd name="adj" fmla="val 50000"/>
            </a:avLst>
          </a:prstGeom>
          <a:solidFill>
            <a:srgbClr val="D9DEE6"/>
          </a:solidFill>
          <a:ln/>
        </p:spPr>
      </p:sp>
      <p:sp>
        <p:nvSpPr>
          <p:cNvPr id="20" name="box-152"/>
          <p:cNvSpPr/>
          <p:nvPr/>
        </p:nvSpPr>
        <p:spPr>
          <a:xfrm>
            <a:off x="5897880" y="2578608"/>
            <a:ext cx="3408218" cy="146304"/>
          </a:xfrm>
          <a:prstGeom prst="roundRect">
            <a:avLst>
              <a:gd name="adj" fmla="val 50000"/>
            </a:avLst>
          </a:prstGeom>
          <a:solidFill>
            <a:srgbClr val="E3A21A"/>
          </a:solidFill>
          <a:ln/>
        </p:spPr>
      </p:sp>
      <p:sp>
        <p:nvSpPr>
          <p:cNvPr id="21" name="text-153"/>
          <p:cNvSpPr txBox="1"/>
          <p:nvPr/>
        </p:nvSpPr>
        <p:spPr>
          <a:xfrm>
            <a:off x="9784080" y="25054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30/33</a:t>
            </a:r>
            <a:endParaRPr lang="en-US" sz="1300" dirty="0"/>
          </a:p>
        </p:txBody>
      </p:sp>
      <p:sp>
        <p:nvSpPr>
          <p:cNvPr id="22" name="chip-154"/>
          <p:cNvSpPr txBox="1"/>
          <p:nvPr/>
        </p:nvSpPr>
        <p:spPr>
          <a:xfrm>
            <a:off x="10618927" y="2532888"/>
            <a:ext cx="1005840" cy="246888"/>
          </a:xfrm>
          <a:prstGeom prst="roundRect">
            <a:avLst>
              <a:gd name="adj" fmla="val 48148"/>
            </a:avLst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A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23" name="band-155"/>
          <p:cNvSpPr/>
          <p:nvPr/>
        </p:nvSpPr>
        <p:spPr>
          <a:xfrm>
            <a:off x="548640" y="2816352"/>
            <a:ext cx="11094415" cy="32918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24" name="text-156"/>
          <p:cNvSpPr txBox="1"/>
          <p:nvPr/>
        </p:nvSpPr>
        <p:spPr>
          <a:xfrm>
            <a:off x="640080" y="28346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M1</a:t>
            </a:r>
            <a:endParaRPr lang="en-US" sz="1400" dirty="0"/>
          </a:p>
        </p:txBody>
      </p:sp>
      <p:sp>
        <p:nvSpPr>
          <p:cNvPr id="25" name="text-157"/>
          <p:cNvSpPr txBox="1"/>
          <p:nvPr/>
        </p:nvSpPr>
        <p:spPr>
          <a:xfrm>
            <a:off x="1371600" y="28346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03A"/>
                </a:solidFill>
              </a:rPr>
              <a:t>Measured baseline</a:t>
            </a:r>
            <a:endParaRPr lang="en-US" sz="1400" dirty="0"/>
          </a:p>
        </p:txBody>
      </p:sp>
      <p:sp>
        <p:nvSpPr>
          <p:cNvPr id="26" name="text-158"/>
          <p:cNvSpPr txBox="1"/>
          <p:nvPr/>
        </p:nvSpPr>
        <p:spPr>
          <a:xfrm>
            <a:off x="4572000" y="2834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Week 2</a:t>
            </a:r>
            <a:endParaRPr lang="en-US" sz="1300" dirty="0"/>
          </a:p>
        </p:txBody>
      </p:sp>
      <p:sp>
        <p:nvSpPr>
          <p:cNvPr id="27" name="box-159"/>
          <p:cNvSpPr/>
          <p:nvPr/>
        </p:nvSpPr>
        <p:spPr>
          <a:xfrm>
            <a:off x="5897880" y="2907792"/>
            <a:ext cx="3749040" cy="146304"/>
          </a:xfrm>
          <a:prstGeom prst="roundRect">
            <a:avLst>
              <a:gd name="adj" fmla="val 50000"/>
            </a:avLst>
          </a:prstGeom>
          <a:solidFill>
            <a:srgbClr val="D9DEE6"/>
          </a:solidFill>
          <a:ln/>
        </p:spPr>
      </p:sp>
      <p:sp>
        <p:nvSpPr>
          <p:cNvPr id="28" name="text-160"/>
          <p:cNvSpPr txBox="1"/>
          <p:nvPr/>
        </p:nvSpPr>
        <p:spPr>
          <a:xfrm>
            <a:off x="9784080" y="28346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0/9</a:t>
            </a:r>
            <a:endParaRPr lang="en-US" sz="1300" dirty="0"/>
          </a:p>
        </p:txBody>
      </p:sp>
      <p:sp>
        <p:nvSpPr>
          <p:cNvPr id="29" name="chip-161"/>
          <p:cNvSpPr txBox="1"/>
          <p:nvPr/>
        </p:nvSpPr>
        <p:spPr>
          <a:xfrm>
            <a:off x="10618927" y="2862072"/>
            <a:ext cx="1005840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30" name="text-162"/>
          <p:cNvSpPr txBox="1"/>
          <p:nvPr/>
        </p:nvSpPr>
        <p:spPr>
          <a:xfrm>
            <a:off x="640080" y="31638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M2</a:t>
            </a:r>
            <a:endParaRPr lang="en-US" sz="1400" dirty="0"/>
          </a:p>
        </p:txBody>
      </p:sp>
      <p:sp>
        <p:nvSpPr>
          <p:cNvPr id="31" name="text-163"/>
          <p:cNvSpPr txBox="1"/>
          <p:nvPr/>
        </p:nvSpPr>
        <p:spPr>
          <a:xfrm>
            <a:off x="1371600" y="31638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03A"/>
                </a:solidFill>
              </a:rPr>
              <a:t>Retrieval quality</a:t>
            </a:r>
            <a:endParaRPr lang="en-US" sz="1400" dirty="0"/>
          </a:p>
        </p:txBody>
      </p:sp>
      <p:sp>
        <p:nvSpPr>
          <p:cNvPr id="32" name="text-164"/>
          <p:cNvSpPr txBox="1"/>
          <p:nvPr/>
        </p:nvSpPr>
        <p:spPr>
          <a:xfrm>
            <a:off x="4572000" y="31638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Weeks 3-4</a:t>
            </a:r>
            <a:endParaRPr lang="en-US" sz="1300" dirty="0"/>
          </a:p>
        </p:txBody>
      </p:sp>
      <p:sp>
        <p:nvSpPr>
          <p:cNvPr id="33" name="box-165"/>
          <p:cNvSpPr/>
          <p:nvPr/>
        </p:nvSpPr>
        <p:spPr>
          <a:xfrm>
            <a:off x="5897880" y="3236976"/>
            <a:ext cx="3749040" cy="146304"/>
          </a:xfrm>
          <a:prstGeom prst="roundRect">
            <a:avLst>
              <a:gd name="adj" fmla="val 50000"/>
            </a:avLst>
          </a:prstGeom>
          <a:solidFill>
            <a:srgbClr val="D9DEE6"/>
          </a:solidFill>
          <a:ln/>
        </p:spPr>
      </p:sp>
      <p:sp>
        <p:nvSpPr>
          <p:cNvPr id="34" name="text-166"/>
          <p:cNvSpPr txBox="1"/>
          <p:nvPr/>
        </p:nvSpPr>
        <p:spPr>
          <a:xfrm>
            <a:off x="9784080" y="31638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0/17</a:t>
            </a:r>
            <a:endParaRPr lang="en-US" sz="1300" dirty="0"/>
          </a:p>
        </p:txBody>
      </p:sp>
      <p:sp>
        <p:nvSpPr>
          <p:cNvPr id="35" name="chip-167"/>
          <p:cNvSpPr txBox="1"/>
          <p:nvPr/>
        </p:nvSpPr>
        <p:spPr>
          <a:xfrm>
            <a:off x="10618927" y="3191256"/>
            <a:ext cx="1005840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36" name="band-168"/>
          <p:cNvSpPr/>
          <p:nvPr/>
        </p:nvSpPr>
        <p:spPr>
          <a:xfrm>
            <a:off x="548640" y="3474720"/>
            <a:ext cx="11094415" cy="32918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7" name="text-169"/>
          <p:cNvSpPr txBox="1"/>
          <p:nvPr/>
        </p:nvSpPr>
        <p:spPr>
          <a:xfrm>
            <a:off x="640080" y="349300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M3</a:t>
            </a:r>
            <a:endParaRPr lang="en-US" sz="1400" dirty="0"/>
          </a:p>
        </p:txBody>
      </p:sp>
      <p:sp>
        <p:nvSpPr>
          <p:cNvPr id="38" name="text-170"/>
          <p:cNvSpPr txBox="1"/>
          <p:nvPr/>
        </p:nvSpPr>
        <p:spPr>
          <a:xfrm>
            <a:off x="1371600" y="34930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03A"/>
                </a:solidFill>
              </a:rPr>
              <a:t>Grounded generation</a:t>
            </a:r>
            <a:endParaRPr lang="en-US" sz="1400" dirty="0"/>
          </a:p>
        </p:txBody>
      </p:sp>
      <p:sp>
        <p:nvSpPr>
          <p:cNvPr id="39" name="text-171"/>
          <p:cNvSpPr txBox="1"/>
          <p:nvPr/>
        </p:nvSpPr>
        <p:spPr>
          <a:xfrm>
            <a:off x="4572000" y="34930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Weeks 3-4</a:t>
            </a:r>
            <a:endParaRPr lang="en-US" sz="1300" dirty="0"/>
          </a:p>
        </p:txBody>
      </p:sp>
      <p:sp>
        <p:nvSpPr>
          <p:cNvPr id="40" name="box-172"/>
          <p:cNvSpPr/>
          <p:nvPr/>
        </p:nvSpPr>
        <p:spPr>
          <a:xfrm>
            <a:off x="5897880" y="3566160"/>
            <a:ext cx="3749040" cy="146304"/>
          </a:xfrm>
          <a:prstGeom prst="roundRect">
            <a:avLst>
              <a:gd name="adj" fmla="val 50000"/>
            </a:avLst>
          </a:prstGeom>
          <a:solidFill>
            <a:srgbClr val="D9DEE6"/>
          </a:solidFill>
          <a:ln/>
        </p:spPr>
      </p:sp>
      <p:sp>
        <p:nvSpPr>
          <p:cNvPr id="41" name="text-173"/>
          <p:cNvSpPr txBox="1"/>
          <p:nvPr/>
        </p:nvSpPr>
        <p:spPr>
          <a:xfrm>
            <a:off x="9784080" y="349300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0/30</a:t>
            </a:r>
            <a:endParaRPr lang="en-US" sz="1300" dirty="0"/>
          </a:p>
        </p:txBody>
      </p:sp>
      <p:sp>
        <p:nvSpPr>
          <p:cNvPr id="42" name="chip-174"/>
          <p:cNvSpPr txBox="1"/>
          <p:nvPr/>
        </p:nvSpPr>
        <p:spPr>
          <a:xfrm>
            <a:off x="10618927" y="3520440"/>
            <a:ext cx="1005840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43" name="text-175"/>
          <p:cNvSpPr txBox="1"/>
          <p:nvPr/>
        </p:nvSpPr>
        <p:spPr>
          <a:xfrm>
            <a:off x="640080" y="38221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M4</a:t>
            </a:r>
            <a:endParaRPr lang="en-US" sz="1400" dirty="0"/>
          </a:p>
        </p:txBody>
      </p:sp>
      <p:sp>
        <p:nvSpPr>
          <p:cNvPr id="44" name="text-176"/>
          <p:cNvSpPr txBox="1"/>
          <p:nvPr/>
        </p:nvSpPr>
        <p:spPr>
          <a:xfrm>
            <a:off x="1371600" y="38221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03A"/>
                </a:solidFill>
              </a:rPr>
              <a:t>Classifier agent and API</a:t>
            </a:r>
            <a:endParaRPr lang="en-US" sz="1400" dirty="0"/>
          </a:p>
        </p:txBody>
      </p:sp>
      <p:sp>
        <p:nvSpPr>
          <p:cNvPr id="45" name="text-177"/>
          <p:cNvSpPr txBox="1"/>
          <p:nvPr/>
        </p:nvSpPr>
        <p:spPr>
          <a:xfrm>
            <a:off x="4572000" y="38221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Week 5</a:t>
            </a:r>
            <a:endParaRPr lang="en-US" sz="1300" dirty="0"/>
          </a:p>
        </p:txBody>
      </p:sp>
      <p:sp>
        <p:nvSpPr>
          <p:cNvPr id="46" name="box-178"/>
          <p:cNvSpPr/>
          <p:nvPr/>
        </p:nvSpPr>
        <p:spPr>
          <a:xfrm>
            <a:off x="5897880" y="3895344"/>
            <a:ext cx="3749040" cy="146304"/>
          </a:xfrm>
          <a:prstGeom prst="roundRect">
            <a:avLst>
              <a:gd name="adj" fmla="val 50000"/>
            </a:avLst>
          </a:prstGeom>
          <a:solidFill>
            <a:srgbClr val="D9DEE6"/>
          </a:solidFill>
          <a:ln/>
        </p:spPr>
      </p:sp>
      <p:sp>
        <p:nvSpPr>
          <p:cNvPr id="47" name="text-179"/>
          <p:cNvSpPr txBox="1"/>
          <p:nvPr/>
        </p:nvSpPr>
        <p:spPr>
          <a:xfrm>
            <a:off x="9784080" y="38221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0/19</a:t>
            </a:r>
            <a:endParaRPr lang="en-US" sz="1300" dirty="0"/>
          </a:p>
        </p:txBody>
      </p:sp>
      <p:sp>
        <p:nvSpPr>
          <p:cNvPr id="48" name="chip-180"/>
          <p:cNvSpPr txBox="1"/>
          <p:nvPr/>
        </p:nvSpPr>
        <p:spPr>
          <a:xfrm>
            <a:off x="10618927" y="3849624"/>
            <a:ext cx="1005840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49" name="band-181"/>
          <p:cNvSpPr/>
          <p:nvPr/>
        </p:nvSpPr>
        <p:spPr>
          <a:xfrm>
            <a:off x="548640" y="4133088"/>
            <a:ext cx="11094415" cy="32918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50" name="text-182"/>
          <p:cNvSpPr txBox="1"/>
          <p:nvPr/>
        </p:nvSpPr>
        <p:spPr>
          <a:xfrm>
            <a:off x="640080" y="41513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M5</a:t>
            </a:r>
            <a:endParaRPr lang="en-US" sz="1400" dirty="0"/>
          </a:p>
        </p:txBody>
      </p:sp>
      <p:sp>
        <p:nvSpPr>
          <p:cNvPr id="51" name="text-183"/>
          <p:cNvSpPr txBox="1"/>
          <p:nvPr/>
        </p:nvSpPr>
        <p:spPr>
          <a:xfrm>
            <a:off x="1371600" y="41513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03A"/>
                </a:solidFill>
              </a:rPr>
              <a:t>Own model and framework comparison</a:t>
            </a:r>
            <a:endParaRPr lang="en-US" sz="1400" dirty="0"/>
          </a:p>
        </p:txBody>
      </p:sp>
      <p:sp>
        <p:nvSpPr>
          <p:cNvPr id="52" name="text-184"/>
          <p:cNvSpPr txBox="1"/>
          <p:nvPr/>
        </p:nvSpPr>
        <p:spPr>
          <a:xfrm>
            <a:off x="4572000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Week 6</a:t>
            </a:r>
            <a:endParaRPr lang="en-US" sz="1300" dirty="0"/>
          </a:p>
        </p:txBody>
      </p:sp>
      <p:sp>
        <p:nvSpPr>
          <p:cNvPr id="53" name="box-185"/>
          <p:cNvSpPr/>
          <p:nvPr/>
        </p:nvSpPr>
        <p:spPr>
          <a:xfrm>
            <a:off x="5897880" y="4224528"/>
            <a:ext cx="3749040" cy="146304"/>
          </a:xfrm>
          <a:prstGeom prst="roundRect">
            <a:avLst>
              <a:gd name="adj" fmla="val 50000"/>
            </a:avLst>
          </a:prstGeom>
          <a:solidFill>
            <a:srgbClr val="D9DEE6"/>
          </a:solidFill>
          <a:ln/>
        </p:spPr>
      </p:sp>
      <p:sp>
        <p:nvSpPr>
          <p:cNvPr id="54" name="text-186"/>
          <p:cNvSpPr txBox="1"/>
          <p:nvPr/>
        </p:nvSpPr>
        <p:spPr>
          <a:xfrm>
            <a:off x="9784080" y="41513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0/13</a:t>
            </a:r>
            <a:endParaRPr lang="en-US" sz="1300" dirty="0"/>
          </a:p>
        </p:txBody>
      </p:sp>
      <p:sp>
        <p:nvSpPr>
          <p:cNvPr id="55" name="chip-187"/>
          <p:cNvSpPr txBox="1"/>
          <p:nvPr/>
        </p:nvSpPr>
        <p:spPr>
          <a:xfrm>
            <a:off x="10618927" y="4178808"/>
            <a:ext cx="1005840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56" name="text-188"/>
          <p:cNvSpPr txBox="1"/>
          <p:nvPr/>
        </p:nvSpPr>
        <p:spPr>
          <a:xfrm>
            <a:off x="640080" y="44805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M6</a:t>
            </a:r>
            <a:endParaRPr lang="en-US" sz="1400" dirty="0"/>
          </a:p>
        </p:txBody>
      </p:sp>
      <p:sp>
        <p:nvSpPr>
          <p:cNvPr id="57" name="text-189"/>
          <p:cNvSpPr txBox="1"/>
          <p:nvPr/>
        </p:nvSpPr>
        <p:spPr>
          <a:xfrm>
            <a:off x="1371600" y="4480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03A"/>
                </a:solidFill>
              </a:rPr>
              <a:t>Integrations and observability</a:t>
            </a:r>
            <a:endParaRPr lang="en-US" sz="1400" dirty="0"/>
          </a:p>
        </p:txBody>
      </p:sp>
      <p:sp>
        <p:nvSpPr>
          <p:cNvPr id="58" name="text-190"/>
          <p:cNvSpPr txBox="1"/>
          <p:nvPr/>
        </p:nvSpPr>
        <p:spPr>
          <a:xfrm>
            <a:off x="4572000" y="4480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Week 7</a:t>
            </a:r>
            <a:endParaRPr lang="en-US" sz="1300" dirty="0"/>
          </a:p>
        </p:txBody>
      </p:sp>
      <p:sp>
        <p:nvSpPr>
          <p:cNvPr id="59" name="box-191"/>
          <p:cNvSpPr/>
          <p:nvPr/>
        </p:nvSpPr>
        <p:spPr>
          <a:xfrm>
            <a:off x="5897880" y="4553712"/>
            <a:ext cx="3749040" cy="146304"/>
          </a:xfrm>
          <a:prstGeom prst="roundRect">
            <a:avLst>
              <a:gd name="adj" fmla="val 50000"/>
            </a:avLst>
          </a:prstGeom>
          <a:solidFill>
            <a:srgbClr val="D9DEE6"/>
          </a:solidFill>
          <a:ln/>
        </p:spPr>
      </p:sp>
      <p:sp>
        <p:nvSpPr>
          <p:cNvPr id="60" name="text-192"/>
          <p:cNvSpPr txBox="1"/>
          <p:nvPr/>
        </p:nvSpPr>
        <p:spPr>
          <a:xfrm>
            <a:off x="9784080" y="44805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0/19</a:t>
            </a:r>
            <a:endParaRPr lang="en-US" sz="1300" dirty="0"/>
          </a:p>
        </p:txBody>
      </p:sp>
      <p:sp>
        <p:nvSpPr>
          <p:cNvPr id="61" name="chip-193"/>
          <p:cNvSpPr txBox="1"/>
          <p:nvPr/>
        </p:nvSpPr>
        <p:spPr>
          <a:xfrm>
            <a:off x="10618927" y="4507992"/>
            <a:ext cx="1005840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62" name="band-194"/>
          <p:cNvSpPr/>
          <p:nvPr/>
        </p:nvSpPr>
        <p:spPr>
          <a:xfrm>
            <a:off x="548640" y="4791456"/>
            <a:ext cx="11094415" cy="32918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63" name="text-195"/>
          <p:cNvSpPr txBox="1"/>
          <p:nvPr/>
        </p:nvSpPr>
        <p:spPr>
          <a:xfrm>
            <a:off x="640080" y="48097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M7</a:t>
            </a:r>
            <a:endParaRPr lang="en-US" sz="1400" dirty="0"/>
          </a:p>
        </p:txBody>
      </p:sp>
      <p:sp>
        <p:nvSpPr>
          <p:cNvPr id="64" name="text-196"/>
          <p:cNvSpPr txBox="1"/>
          <p:nvPr/>
        </p:nvSpPr>
        <p:spPr>
          <a:xfrm>
            <a:off x="1371600" y="48097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03A"/>
                </a:solidFill>
              </a:rPr>
              <a:t>Production on Cloud Run</a:t>
            </a:r>
            <a:endParaRPr lang="en-US" sz="1400" dirty="0"/>
          </a:p>
        </p:txBody>
      </p:sp>
      <p:sp>
        <p:nvSpPr>
          <p:cNvPr id="65" name="text-197"/>
          <p:cNvSpPr txBox="1"/>
          <p:nvPr/>
        </p:nvSpPr>
        <p:spPr>
          <a:xfrm>
            <a:off x="4572000" y="48097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Week 8</a:t>
            </a:r>
            <a:endParaRPr lang="en-US" sz="1300" dirty="0"/>
          </a:p>
        </p:txBody>
      </p:sp>
      <p:sp>
        <p:nvSpPr>
          <p:cNvPr id="66" name="box-198"/>
          <p:cNvSpPr/>
          <p:nvPr/>
        </p:nvSpPr>
        <p:spPr>
          <a:xfrm>
            <a:off x="5897880" y="4882896"/>
            <a:ext cx="3749040" cy="146304"/>
          </a:xfrm>
          <a:prstGeom prst="roundRect">
            <a:avLst>
              <a:gd name="adj" fmla="val 50000"/>
            </a:avLst>
          </a:prstGeom>
          <a:solidFill>
            <a:srgbClr val="D9DEE6"/>
          </a:solidFill>
          <a:ln/>
        </p:spPr>
      </p:sp>
      <p:sp>
        <p:nvSpPr>
          <p:cNvPr id="67" name="text-199"/>
          <p:cNvSpPr txBox="1"/>
          <p:nvPr/>
        </p:nvSpPr>
        <p:spPr>
          <a:xfrm>
            <a:off x="9784080" y="48097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0/12</a:t>
            </a:r>
            <a:endParaRPr lang="en-US" sz="1300" dirty="0"/>
          </a:p>
        </p:txBody>
      </p:sp>
      <p:sp>
        <p:nvSpPr>
          <p:cNvPr id="68" name="chip-200"/>
          <p:cNvSpPr txBox="1"/>
          <p:nvPr/>
        </p:nvSpPr>
        <p:spPr>
          <a:xfrm>
            <a:off x="10618927" y="4837176"/>
            <a:ext cx="1005840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69" name="text-201"/>
          <p:cNvSpPr txBox="1"/>
          <p:nvPr/>
        </p:nvSpPr>
        <p:spPr>
          <a:xfrm>
            <a:off x="640080" y="513892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M8</a:t>
            </a:r>
            <a:endParaRPr lang="en-US" sz="1400" dirty="0"/>
          </a:p>
        </p:txBody>
      </p:sp>
      <p:sp>
        <p:nvSpPr>
          <p:cNvPr id="70" name="text-202"/>
          <p:cNvSpPr txBox="1"/>
          <p:nvPr/>
        </p:nvSpPr>
        <p:spPr>
          <a:xfrm>
            <a:off x="1371600" y="513892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03A"/>
                </a:solidFill>
              </a:rPr>
              <a:t>Hardening</a:t>
            </a:r>
            <a:endParaRPr lang="en-US" sz="1400" dirty="0"/>
          </a:p>
        </p:txBody>
      </p:sp>
      <p:sp>
        <p:nvSpPr>
          <p:cNvPr id="71" name="text-203"/>
          <p:cNvSpPr txBox="1"/>
          <p:nvPr/>
        </p:nvSpPr>
        <p:spPr>
          <a:xfrm>
            <a:off x="4572000" y="5138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Week 9</a:t>
            </a:r>
            <a:endParaRPr lang="en-US" sz="1300" dirty="0"/>
          </a:p>
        </p:txBody>
      </p:sp>
      <p:sp>
        <p:nvSpPr>
          <p:cNvPr id="72" name="box-204"/>
          <p:cNvSpPr/>
          <p:nvPr/>
        </p:nvSpPr>
        <p:spPr>
          <a:xfrm>
            <a:off x="5897880" y="5212080"/>
            <a:ext cx="3749040" cy="146304"/>
          </a:xfrm>
          <a:prstGeom prst="roundRect">
            <a:avLst>
              <a:gd name="adj" fmla="val 50000"/>
            </a:avLst>
          </a:prstGeom>
          <a:solidFill>
            <a:srgbClr val="D9DEE6"/>
          </a:solidFill>
          <a:ln/>
        </p:spPr>
      </p:sp>
      <p:sp>
        <p:nvSpPr>
          <p:cNvPr id="73" name="text-205"/>
          <p:cNvSpPr txBox="1"/>
          <p:nvPr/>
        </p:nvSpPr>
        <p:spPr>
          <a:xfrm>
            <a:off x="9784080" y="513892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0/9</a:t>
            </a:r>
            <a:endParaRPr lang="en-US" sz="1300" dirty="0"/>
          </a:p>
        </p:txBody>
      </p:sp>
      <p:sp>
        <p:nvSpPr>
          <p:cNvPr id="74" name="chip-206"/>
          <p:cNvSpPr txBox="1"/>
          <p:nvPr/>
        </p:nvSpPr>
        <p:spPr>
          <a:xfrm>
            <a:off x="10618927" y="5166360"/>
            <a:ext cx="1005840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75" name="band-207"/>
          <p:cNvSpPr/>
          <p:nvPr/>
        </p:nvSpPr>
        <p:spPr>
          <a:xfrm>
            <a:off x="548640" y="5449824"/>
            <a:ext cx="11094415" cy="32918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76" name="text-208"/>
          <p:cNvSpPr txBox="1"/>
          <p:nvPr/>
        </p:nvSpPr>
        <p:spPr>
          <a:xfrm>
            <a:off x="640080" y="54681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M9</a:t>
            </a:r>
            <a:endParaRPr lang="en-US" sz="1400" dirty="0"/>
          </a:p>
        </p:txBody>
      </p:sp>
      <p:sp>
        <p:nvSpPr>
          <p:cNvPr id="77" name="text-209"/>
          <p:cNvSpPr txBox="1"/>
          <p:nvPr/>
        </p:nvSpPr>
        <p:spPr>
          <a:xfrm>
            <a:off x="1371600" y="54681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03A"/>
                </a:solidFill>
              </a:rPr>
              <a:t>Showcase</a:t>
            </a:r>
            <a:endParaRPr lang="en-US" sz="1400" dirty="0"/>
          </a:p>
        </p:txBody>
      </p:sp>
      <p:sp>
        <p:nvSpPr>
          <p:cNvPr id="78" name="text-210"/>
          <p:cNvSpPr txBox="1"/>
          <p:nvPr/>
        </p:nvSpPr>
        <p:spPr>
          <a:xfrm>
            <a:off x="4572000" y="54681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Week 10</a:t>
            </a:r>
            <a:endParaRPr lang="en-US" sz="1300" dirty="0"/>
          </a:p>
        </p:txBody>
      </p:sp>
      <p:sp>
        <p:nvSpPr>
          <p:cNvPr id="79" name="box-211"/>
          <p:cNvSpPr/>
          <p:nvPr/>
        </p:nvSpPr>
        <p:spPr>
          <a:xfrm>
            <a:off x="5897880" y="5541264"/>
            <a:ext cx="3749040" cy="146304"/>
          </a:xfrm>
          <a:prstGeom prst="roundRect">
            <a:avLst>
              <a:gd name="adj" fmla="val 50000"/>
            </a:avLst>
          </a:prstGeom>
          <a:solidFill>
            <a:srgbClr val="D9DEE6"/>
          </a:solidFill>
          <a:ln/>
        </p:spPr>
      </p:sp>
      <p:sp>
        <p:nvSpPr>
          <p:cNvPr id="80" name="text-212"/>
          <p:cNvSpPr txBox="1"/>
          <p:nvPr/>
        </p:nvSpPr>
        <p:spPr>
          <a:xfrm>
            <a:off x="9784080" y="54681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0/5</a:t>
            </a:r>
            <a:endParaRPr lang="en-US" sz="1300" dirty="0"/>
          </a:p>
        </p:txBody>
      </p:sp>
      <p:sp>
        <p:nvSpPr>
          <p:cNvPr id="81" name="chip-213"/>
          <p:cNvSpPr txBox="1"/>
          <p:nvPr/>
        </p:nvSpPr>
        <p:spPr>
          <a:xfrm>
            <a:off x="10618927" y="5495544"/>
            <a:ext cx="1005840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Planned</a:t>
            </a:r>
            <a:endParaRPr lang="en-US" sz="1100" dirty="0"/>
          </a:p>
        </p:txBody>
      </p:sp>
      <p:sp>
        <p:nvSpPr>
          <p:cNvPr id="82" name="text-214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</a:rPr>
              <a:t>Open in M0: confirm the CI badge is green, run make install locally, read 20 random chunks per language.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MEASUREMENT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means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One proposed north star, four drivers we can move, four guardrails we must not break.</a:t>
            </a:r>
            <a:endParaRPr lang="en-US" sz="1600" dirty="0"/>
          </a:p>
        </p:txBody>
      </p:sp>
      <p:sp>
        <p:nvSpPr>
          <p:cNvPr id="6" name="text-215"/>
          <p:cNvSpPr txBox="1"/>
          <p:nvPr/>
        </p:nvSpPr>
        <p:spPr>
          <a:xfrm>
            <a:off x="54864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North star</a:t>
            </a:r>
            <a:endParaRPr lang="en-US" sz="1600" dirty="0"/>
          </a:p>
        </p:txBody>
      </p:sp>
      <p:sp>
        <p:nvSpPr>
          <p:cNvPr id="7" name="text-216"/>
          <p:cNvSpPr txBox="1"/>
          <p:nvPr/>
        </p:nvSpPr>
        <p:spPr>
          <a:xfrm>
            <a:off x="548640" y="2487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what we optimise</a:t>
            </a:r>
            <a:endParaRPr lang="en-US" sz="1200" dirty="0"/>
          </a:p>
        </p:txBody>
      </p:sp>
      <p:sp>
        <p:nvSpPr>
          <p:cNvPr id="8" name="text-217"/>
          <p:cNvSpPr txBox="1"/>
          <p:nvPr/>
        </p:nvSpPr>
        <p:spPr>
          <a:xfrm>
            <a:off x="548640" y="35433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Drivers</a:t>
            </a:r>
            <a:endParaRPr lang="en-US" sz="1600" dirty="0"/>
          </a:p>
        </p:txBody>
      </p:sp>
      <p:sp>
        <p:nvSpPr>
          <p:cNvPr id="9" name="text-218"/>
          <p:cNvSpPr txBox="1"/>
          <p:nvPr/>
        </p:nvSpPr>
        <p:spPr>
          <a:xfrm>
            <a:off x="548640" y="38359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what we move</a:t>
            </a:r>
            <a:endParaRPr lang="en-US" sz="1200" dirty="0"/>
          </a:p>
        </p:txBody>
      </p:sp>
      <p:sp>
        <p:nvSpPr>
          <p:cNvPr id="10" name="text-219"/>
          <p:cNvSpPr txBox="1"/>
          <p:nvPr/>
        </p:nvSpPr>
        <p:spPr>
          <a:xfrm>
            <a:off x="548640" y="47045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Guardrails</a:t>
            </a:r>
            <a:endParaRPr lang="en-US" sz="1600" dirty="0"/>
          </a:p>
        </p:txBody>
      </p:sp>
      <p:sp>
        <p:nvSpPr>
          <p:cNvPr id="11" name="text-220"/>
          <p:cNvSpPr txBox="1"/>
          <p:nvPr/>
        </p:nvSpPr>
        <p:spPr>
          <a:xfrm>
            <a:off x="548640" y="49971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what must not break</a:t>
            </a:r>
            <a:endParaRPr lang="en-US" sz="1200" dirty="0"/>
          </a:p>
        </p:txBody>
      </p:sp>
      <p:sp>
        <p:nvSpPr>
          <p:cNvPr id="12" name="box-221"/>
          <p:cNvSpPr/>
          <p:nvPr/>
        </p:nvSpPr>
        <p:spPr>
          <a:xfrm>
            <a:off x="3878428" y="1920240"/>
            <a:ext cx="6035040" cy="1097280"/>
          </a:xfrm>
          <a:prstGeom prst="roundRect">
            <a:avLst>
              <a:gd name="adj" fmla="val 6667"/>
            </a:avLst>
          </a:prstGeom>
          <a:solidFill>
            <a:srgbClr val="13203A"/>
          </a:solidFill>
          <a:ln/>
        </p:spPr>
      </p:sp>
      <p:sp>
        <p:nvSpPr>
          <p:cNvPr id="13" name="text-222"/>
          <p:cNvSpPr txBox="1"/>
          <p:nvPr/>
        </p:nvSpPr>
        <p:spPr>
          <a:xfrm>
            <a:off x="4152748" y="2029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answer rate</a:t>
            </a:r>
            <a:endParaRPr lang="en-US" sz="2000" dirty="0"/>
          </a:p>
        </p:txBody>
      </p:sp>
      <p:sp>
        <p:nvSpPr>
          <p:cNvPr id="14" name="text-223"/>
          <p:cNvSpPr txBox="1"/>
          <p:nvPr/>
        </p:nvSpPr>
        <p:spPr>
          <a:xfrm>
            <a:off x="4152748" y="23957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3E1"/>
                </a:solidFill>
              </a:rPr>
              <a:t>Share of questions where ActWise either answers with only verified, faithful citations, or correctly refuses.</a:t>
            </a:r>
            <a:endParaRPr lang="en-US" sz="1400" dirty="0"/>
          </a:p>
        </p:txBody>
      </p:sp>
      <p:sp>
        <p:nvSpPr>
          <p:cNvPr id="15" name="line-224"/>
          <p:cNvSpPr/>
          <p:nvPr/>
        </p:nvSpPr>
        <p:spPr>
          <a:xfrm>
            <a:off x="6895948" y="3017520"/>
            <a:ext cx="0" cy="192024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</p:sp>
      <p:sp>
        <p:nvSpPr>
          <p:cNvPr id="16" name="line-225"/>
          <p:cNvSpPr/>
          <p:nvPr/>
        </p:nvSpPr>
        <p:spPr>
          <a:xfrm>
            <a:off x="3249892" y="3209544"/>
            <a:ext cx="7292111" cy="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</p:sp>
      <p:sp>
        <p:nvSpPr>
          <p:cNvPr id="17" name="line-226"/>
          <p:cNvSpPr/>
          <p:nvPr/>
        </p:nvSpPr>
        <p:spPr>
          <a:xfrm>
            <a:off x="3249892" y="3209544"/>
            <a:ext cx="0" cy="128016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</p:sp>
      <p:sp>
        <p:nvSpPr>
          <p:cNvPr id="18" name="line-227"/>
          <p:cNvSpPr/>
          <p:nvPr/>
        </p:nvSpPr>
        <p:spPr>
          <a:xfrm>
            <a:off x="5680596" y="3209544"/>
            <a:ext cx="0" cy="128016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</p:sp>
      <p:sp>
        <p:nvSpPr>
          <p:cNvPr id="19" name="line-228"/>
          <p:cNvSpPr/>
          <p:nvPr/>
        </p:nvSpPr>
        <p:spPr>
          <a:xfrm>
            <a:off x="8111300" y="3209544"/>
            <a:ext cx="0" cy="128016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</p:sp>
      <p:sp>
        <p:nvSpPr>
          <p:cNvPr id="20" name="line-229"/>
          <p:cNvSpPr/>
          <p:nvPr/>
        </p:nvSpPr>
        <p:spPr>
          <a:xfrm>
            <a:off x="10542003" y="3209544"/>
            <a:ext cx="0" cy="128016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</p:sp>
      <p:sp>
        <p:nvSpPr>
          <p:cNvPr id="21" name="box-230"/>
          <p:cNvSpPr/>
          <p:nvPr/>
        </p:nvSpPr>
        <p:spPr>
          <a:xfrm>
            <a:off x="2148840" y="3337560"/>
            <a:ext cx="2202104" cy="960120"/>
          </a:xfrm>
          <a:prstGeom prst="roundRect">
            <a:avLst>
              <a:gd name="adj" fmla="val 7619"/>
            </a:avLst>
          </a:prstGeom>
          <a:solidFill>
            <a:srgbClr val="DDF1EE"/>
          </a:solidFill>
          <a:ln/>
        </p:spPr>
      </p:sp>
      <p:sp>
        <p:nvSpPr>
          <p:cNvPr id="22" name="text-231"/>
          <p:cNvSpPr txBox="1"/>
          <p:nvPr/>
        </p:nvSpPr>
        <p:spPr>
          <a:xfrm>
            <a:off x="2331720" y="3429000"/>
            <a:ext cx="188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Retrieval Recall@5</a:t>
            </a:r>
            <a:endParaRPr lang="en-US" sz="1500" dirty="0"/>
          </a:p>
        </p:txBody>
      </p:sp>
      <p:sp>
        <p:nvSpPr>
          <p:cNvPr id="23" name="text-232"/>
          <p:cNvSpPr txBox="1"/>
          <p:nvPr/>
        </p:nvSpPr>
        <p:spPr>
          <a:xfrm>
            <a:off x="2331720" y="3941064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A6B"/>
                </a:solidFill>
              </a:rPr>
              <a:t>Target ≥ 0.85</a:t>
            </a:r>
            <a:endParaRPr lang="en-US" sz="1400" dirty="0"/>
          </a:p>
        </p:txBody>
      </p:sp>
      <p:sp>
        <p:nvSpPr>
          <p:cNvPr id="24" name="box-233"/>
          <p:cNvSpPr/>
          <p:nvPr/>
        </p:nvSpPr>
        <p:spPr>
          <a:xfrm>
            <a:off x="4579544" y="3337560"/>
            <a:ext cx="2202104" cy="960120"/>
          </a:xfrm>
          <a:prstGeom prst="roundRect">
            <a:avLst>
              <a:gd name="adj" fmla="val 7619"/>
            </a:avLst>
          </a:prstGeom>
          <a:solidFill>
            <a:srgbClr val="DDF1EE"/>
          </a:solidFill>
          <a:ln/>
        </p:spPr>
      </p:sp>
      <p:sp>
        <p:nvSpPr>
          <p:cNvPr id="25" name="text-234"/>
          <p:cNvSpPr txBox="1"/>
          <p:nvPr/>
        </p:nvSpPr>
        <p:spPr>
          <a:xfrm>
            <a:off x="4762424" y="3429000"/>
            <a:ext cx="188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Faithfulness (judge)</a:t>
            </a:r>
            <a:endParaRPr lang="en-US" sz="1500" dirty="0"/>
          </a:p>
        </p:txBody>
      </p:sp>
      <p:sp>
        <p:nvSpPr>
          <p:cNvPr id="26" name="text-235"/>
          <p:cNvSpPr txBox="1"/>
          <p:nvPr/>
        </p:nvSpPr>
        <p:spPr>
          <a:xfrm>
            <a:off x="4762424" y="3941064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A6B"/>
                </a:solidFill>
              </a:rPr>
              <a:t>Target ≥ 0.85</a:t>
            </a:r>
            <a:endParaRPr lang="en-US" sz="1400" dirty="0"/>
          </a:p>
        </p:txBody>
      </p:sp>
      <p:sp>
        <p:nvSpPr>
          <p:cNvPr id="27" name="box-236"/>
          <p:cNvSpPr/>
          <p:nvPr/>
        </p:nvSpPr>
        <p:spPr>
          <a:xfrm>
            <a:off x="7010248" y="3337560"/>
            <a:ext cx="2202104" cy="960120"/>
          </a:xfrm>
          <a:prstGeom prst="roundRect">
            <a:avLst>
              <a:gd name="adj" fmla="val 7619"/>
            </a:avLst>
          </a:prstGeom>
          <a:solidFill>
            <a:srgbClr val="DDF1EE"/>
          </a:solidFill>
          <a:ln/>
        </p:spPr>
      </p:sp>
      <p:sp>
        <p:nvSpPr>
          <p:cNvPr id="28" name="text-237"/>
          <p:cNvSpPr txBox="1"/>
          <p:nvPr/>
        </p:nvSpPr>
        <p:spPr>
          <a:xfrm>
            <a:off x="7193128" y="3429000"/>
            <a:ext cx="188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Citation precision</a:t>
            </a:r>
            <a:endParaRPr lang="en-US" sz="1500" dirty="0"/>
          </a:p>
        </p:txBody>
      </p:sp>
      <p:sp>
        <p:nvSpPr>
          <p:cNvPr id="29" name="text-238"/>
          <p:cNvSpPr txBox="1"/>
          <p:nvPr/>
        </p:nvSpPr>
        <p:spPr>
          <a:xfrm>
            <a:off x="7193128" y="3941064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A6B"/>
                </a:solidFill>
              </a:rPr>
              <a:t>Target ≥ 0.90</a:t>
            </a:r>
            <a:endParaRPr lang="en-US" sz="1400" dirty="0"/>
          </a:p>
        </p:txBody>
      </p:sp>
      <p:sp>
        <p:nvSpPr>
          <p:cNvPr id="30" name="box-239"/>
          <p:cNvSpPr/>
          <p:nvPr/>
        </p:nvSpPr>
        <p:spPr>
          <a:xfrm>
            <a:off x="9440951" y="3337560"/>
            <a:ext cx="2202104" cy="960120"/>
          </a:xfrm>
          <a:prstGeom prst="roundRect">
            <a:avLst>
              <a:gd name="adj" fmla="val 7619"/>
            </a:avLst>
          </a:prstGeom>
          <a:solidFill>
            <a:srgbClr val="DDF1EE"/>
          </a:solidFill>
          <a:ln/>
        </p:spPr>
      </p:sp>
      <p:sp>
        <p:nvSpPr>
          <p:cNvPr id="31" name="text-240"/>
          <p:cNvSpPr txBox="1"/>
          <p:nvPr/>
        </p:nvSpPr>
        <p:spPr>
          <a:xfrm>
            <a:off x="9623831" y="3429000"/>
            <a:ext cx="188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Correct refusals</a:t>
            </a:r>
            <a:endParaRPr lang="en-US" sz="1500" dirty="0"/>
          </a:p>
        </p:txBody>
      </p:sp>
      <p:sp>
        <p:nvSpPr>
          <p:cNvPr id="32" name="text-241"/>
          <p:cNvSpPr txBox="1"/>
          <p:nvPr/>
        </p:nvSpPr>
        <p:spPr>
          <a:xfrm>
            <a:off x="9623831" y="3941064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A6B"/>
                </a:solidFill>
              </a:rPr>
              <a:t>Target ≥ 95%</a:t>
            </a:r>
            <a:endParaRPr lang="en-US" sz="1400" dirty="0"/>
          </a:p>
        </p:txBody>
      </p:sp>
      <p:sp>
        <p:nvSpPr>
          <p:cNvPr id="33" name="box-242"/>
          <p:cNvSpPr/>
          <p:nvPr/>
        </p:nvSpPr>
        <p:spPr>
          <a:xfrm>
            <a:off x="2148840" y="4498848"/>
            <a:ext cx="220210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4" name="text-243"/>
          <p:cNvSpPr txBox="1"/>
          <p:nvPr/>
        </p:nvSpPr>
        <p:spPr>
          <a:xfrm>
            <a:off x="2331720" y="4590288"/>
            <a:ext cx="188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Invented citations shown</a:t>
            </a:r>
            <a:endParaRPr lang="en-US" sz="1500" dirty="0"/>
          </a:p>
        </p:txBody>
      </p:sp>
      <p:sp>
        <p:nvSpPr>
          <p:cNvPr id="35" name="text-244"/>
          <p:cNvSpPr txBox="1"/>
          <p:nvPr/>
        </p:nvSpPr>
        <p:spPr>
          <a:xfrm>
            <a:off x="2331720" y="5102352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</a:rPr>
              <a:t>Limit 0</a:t>
            </a:r>
            <a:endParaRPr lang="en-US" sz="1400" dirty="0"/>
          </a:p>
        </p:txBody>
      </p:sp>
      <p:sp>
        <p:nvSpPr>
          <p:cNvPr id="36" name="box-245"/>
          <p:cNvSpPr/>
          <p:nvPr/>
        </p:nvSpPr>
        <p:spPr>
          <a:xfrm>
            <a:off x="4579544" y="4498848"/>
            <a:ext cx="220210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7" name="text-246"/>
          <p:cNvSpPr txBox="1"/>
          <p:nvPr/>
        </p:nvSpPr>
        <p:spPr>
          <a:xfrm>
            <a:off x="4762424" y="4590288"/>
            <a:ext cx="188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Adversarial prompts handled</a:t>
            </a:r>
            <a:endParaRPr lang="en-US" sz="1500" dirty="0"/>
          </a:p>
        </p:txBody>
      </p:sp>
      <p:sp>
        <p:nvSpPr>
          <p:cNvPr id="38" name="text-247"/>
          <p:cNvSpPr txBox="1"/>
          <p:nvPr/>
        </p:nvSpPr>
        <p:spPr>
          <a:xfrm>
            <a:off x="4762424" y="5102352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</a:rPr>
              <a:t>Limit ≥ 95%</a:t>
            </a:r>
            <a:endParaRPr lang="en-US" sz="1400" dirty="0"/>
          </a:p>
        </p:txBody>
      </p:sp>
      <p:sp>
        <p:nvSpPr>
          <p:cNvPr id="39" name="box-248"/>
          <p:cNvSpPr/>
          <p:nvPr/>
        </p:nvSpPr>
        <p:spPr>
          <a:xfrm>
            <a:off x="7010248" y="4498848"/>
            <a:ext cx="220210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0" name="text-249"/>
          <p:cNvSpPr txBox="1"/>
          <p:nvPr/>
        </p:nvSpPr>
        <p:spPr>
          <a:xfrm>
            <a:off x="7193128" y="4590288"/>
            <a:ext cx="188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p95 latency, /ask warm</a:t>
            </a:r>
            <a:endParaRPr lang="en-US" sz="1500" dirty="0"/>
          </a:p>
        </p:txBody>
      </p:sp>
      <p:sp>
        <p:nvSpPr>
          <p:cNvPr id="41" name="text-250"/>
          <p:cNvSpPr txBox="1"/>
          <p:nvPr/>
        </p:nvSpPr>
        <p:spPr>
          <a:xfrm>
            <a:off x="7193128" y="5102352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</a:rPr>
              <a:t>Limit ≤ 6 s</a:t>
            </a:r>
            <a:endParaRPr lang="en-US" sz="1400" dirty="0"/>
          </a:p>
        </p:txBody>
      </p:sp>
      <p:sp>
        <p:nvSpPr>
          <p:cNvPr id="42" name="box-251"/>
          <p:cNvSpPr/>
          <p:nvPr/>
        </p:nvSpPr>
        <p:spPr>
          <a:xfrm>
            <a:off x="9440951" y="4498848"/>
            <a:ext cx="220210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3" name="text-252"/>
          <p:cNvSpPr txBox="1"/>
          <p:nvPr/>
        </p:nvSpPr>
        <p:spPr>
          <a:xfrm>
            <a:off x="9623831" y="4590288"/>
            <a:ext cx="188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Monthly cloud bill</a:t>
            </a:r>
            <a:endParaRPr lang="en-US" sz="1500" dirty="0"/>
          </a:p>
        </p:txBody>
      </p:sp>
      <p:sp>
        <p:nvSpPr>
          <p:cNvPr id="44" name="text-253"/>
          <p:cNvSpPr txBox="1"/>
          <p:nvPr/>
        </p:nvSpPr>
        <p:spPr>
          <a:xfrm>
            <a:off x="9623831" y="5102352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</a:rPr>
              <a:t>Limit EUR 0.00</a:t>
            </a:r>
            <a:endParaRPr lang="en-US" sz="1400" dirty="0"/>
          </a:p>
        </p:txBody>
      </p:sp>
      <p:sp>
        <p:nvSpPr>
          <p:cNvPr id="45" name="text-254"/>
          <p:cNvSpPr txBox="1"/>
          <p:nvPr/>
        </p:nvSpPr>
        <p:spPr>
          <a:xfrm>
            <a:off x="548640" y="562356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6A0B"/>
                </a:solidFill>
              </a:rPr>
              <a:t>Proposed. Definition to confirm once the judge is calibrated (Step 6).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Companion metric for the classifier: tier accuracy ≥ 85%, and 0 prohibited systems labelled minimal risk.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MEASUREMENT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Scorecard: answer quality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Targets are set. Nothing is measured yet: the baseline column fills in at Step 3.</a:t>
            </a:r>
            <a:endParaRPr lang="en-US" sz="1600" dirty="0"/>
          </a:p>
        </p:txBody>
      </p:sp>
      <p:graphicFrame>
        <p:nvGraphicFramePr>
          <p:cNvPr id="9" name="table-2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67912"/>
                <a:gridCol w="1371600"/>
                <a:gridCol w="1371600"/>
                <a:gridCol w="137160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</a:tr>
              <a:tr h="384048"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Recall@5, test split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MRR@10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Recall@5, French questions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(LLM judge)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Invented citations shown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Out-of-scope refusals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accuracy, 40 scenarios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Prohibited labelled minimal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vs human, Cohen's kappa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MEASUREMENT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Scorecard: model, operations, cost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Only the engineering metrics can be measured today, and they pass.</a:t>
            </a:r>
            <a:endParaRPr lang="en-US" sz="1600" dirty="0"/>
          </a:p>
        </p:txBody>
      </p:sp>
      <p:graphicFrame>
        <p:nvGraphicFramePr>
          <p:cNvPr id="10" name="table-2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325112"/>
                <a:gridCol w="1600200"/>
                <a:gridCol w="16002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units parsed, EN and FR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coverage on src/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 lift, held-out articles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+5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 drop, int8 vs fp32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 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prompts handled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latency, /ask warm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6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start after scale to zero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cloud bill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image, compressed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450 MB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7" name="text-257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Test and coverage source: CHANGELOG, Step 2 (re-run with collect.py --with-tests to refresh).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MEASUREMENT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measure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Split first, then build data, then score at article level. The order is what prevents leakage.</a:t>
            </a:r>
            <a:endParaRPr lang="en-US" sz="1600" dirty="0"/>
          </a:p>
        </p:txBody>
      </p:sp>
      <p:sp>
        <p:nvSpPr>
          <p:cNvPr id="6" name="line-258"/>
          <p:cNvSpPr/>
          <p:nvPr/>
        </p:nvSpPr>
        <p:spPr>
          <a:xfrm>
            <a:off x="1566642" y="2203704"/>
            <a:ext cx="9058412" cy="0"/>
          </a:xfrm>
          <a:prstGeom prst="line">
            <a:avLst/>
          </a:prstGeom>
          <a:noFill/>
          <a:ln w="25400">
            <a:solidFill>
              <a:srgbClr val="E3A21A"/>
            </a:solidFill>
            <a:prstDash val="solid"/>
          </a:ln>
        </p:spPr>
      </p:sp>
      <p:sp>
        <p:nvSpPr>
          <p:cNvPr id="7" name="badge-259"/>
          <p:cNvSpPr txBox="1"/>
          <p:nvPr/>
        </p:nvSpPr>
        <p:spPr>
          <a:xfrm>
            <a:off x="1283178" y="1920240"/>
            <a:ext cx="566928" cy="566928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box-260"/>
          <p:cNvSpPr/>
          <p:nvPr/>
        </p:nvSpPr>
        <p:spPr>
          <a:xfrm>
            <a:off x="548640" y="2743200"/>
            <a:ext cx="2036003" cy="2880360"/>
          </a:xfrm>
          <a:prstGeom prst="roundRect">
            <a:avLst>
              <a:gd name="adj" fmla="val 3593"/>
            </a:avLst>
          </a:prstGeom>
          <a:solidFill>
            <a:srgbClr val="EEF1F6"/>
          </a:solidFill>
          <a:ln/>
        </p:spPr>
      </p:sp>
      <p:sp>
        <p:nvSpPr>
          <p:cNvPr id="9" name="text-261"/>
          <p:cNvSpPr txBox="1"/>
          <p:nvPr/>
        </p:nvSpPr>
        <p:spPr>
          <a:xfrm>
            <a:off x="731520" y="2907792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Split by article</a:t>
            </a:r>
            <a:endParaRPr lang="en-US" sz="1600" dirty="0"/>
          </a:p>
        </p:txBody>
      </p:sp>
      <p:sp>
        <p:nvSpPr>
          <p:cNvPr id="10" name="text-262"/>
          <p:cNvSpPr txBox="1"/>
          <p:nvPr/>
        </p:nvSpPr>
        <p:spPr>
          <a:xfrm>
            <a:off x="731520" y="3291840"/>
            <a:ext cx="17159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70 / 15 / 15 with seed 42. Train articles feed fine-tuning only; test numbers are the ones reported.</a:t>
            </a:r>
            <a:endParaRPr lang="en-US" sz="1400" dirty="0"/>
          </a:p>
        </p:txBody>
      </p:sp>
      <p:sp>
        <p:nvSpPr>
          <p:cNvPr id="11" name="artifact-263"/>
          <p:cNvSpPr txBox="1"/>
          <p:nvPr/>
        </p:nvSpPr>
        <p:spPr>
          <a:xfrm>
            <a:off x="685800" y="5120640"/>
            <a:ext cx="1761683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splits.json</a:t>
            </a:r>
            <a:endParaRPr lang="en-US" sz="1100" dirty="0"/>
          </a:p>
        </p:txBody>
      </p:sp>
      <p:sp>
        <p:nvSpPr>
          <p:cNvPr id="12" name="badge-264"/>
          <p:cNvSpPr txBox="1"/>
          <p:nvPr/>
        </p:nvSpPr>
        <p:spPr>
          <a:xfrm>
            <a:off x="3547781" y="1920240"/>
            <a:ext cx="566928" cy="566928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box-265"/>
          <p:cNvSpPr/>
          <p:nvPr/>
        </p:nvSpPr>
        <p:spPr>
          <a:xfrm>
            <a:off x="2813243" y="2743200"/>
            <a:ext cx="2036003" cy="2880360"/>
          </a:xfrm>
          <a:prstGeom prst="roundRect">
            <a:avLst>
              <a:gd name="adj" fmla="val 3593"/>
            </a:avLst>
          </a:prstGeom>
          <a:solidFill>
            <a:srgbClr val="EEF1F6"/>
          </a:solidFill>
          <a:ln/>
        </p:spPr>
      </p:sp>
      <p:sp>
        <p:nvSpPr>
          <p:cNvPr id="14" name="text-266"/>
          <p:cNvSpPr txBox="1"/>
          <p:nvPr/>
        </p:nvSpPr>
        <p:spPr>
          <a:xfrm>
            <a:off x="2996123" y="2907792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Golden set</a:t>
            </a:r>
            <a:endParaRPr lang="en-US" sz="1600" dirty="0"/>
          </a:p>
        </p:txBody>
      </p:sp>
      <p:sp>
        <p:nvSpPr>
          <p:cNvPr id="15" name="text-267"/>
          <p:cNvSpPr txBox="1"/>
          <p:nvPr/>
        </p:nvSpPr>
        <p:spPr>
          <a:xfrm>
            <a:off x="2996123" y="3291840"/>
            <a:ext cx="17159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50 hand-written questions (15+ in French, 5 types), then 100 synthetic ones reviewed by hand.</a:t>
            </a:r>
            <a:endParaRPr lang="en-US" sz="1400" dirty="0"/>
          </a:p>
        </p:txBody>
      </p:sp>
      <p:sp>
        <p:nvSpPr>
          <p:cNvPr id="16" name="artifact-268"/>
          <p:cNvSpPr txBox="1"/>
          <p:nvPr/>
        </p:nvSpPr>
        <p:spPr>
          <a:xfrm>
            <a:off x="2950403" y="5120640"/>
            <a:ext cx="1761683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golden_qa.jsonl</a:t>
            </a:r>
            <a:endParaRPr lang="en-US" sz="1100" dirty="0"/>
          </a:p>
        </p:txBody>
      </p:sp>
      <p:sp>
        <p:nvSpPr>
          <p:cNvPr id="17" name="badge-269"/>
          <p:cNvSpPr txBox="1"/>
          <p:nvPr/>
        </p:nvSpPr>
        <p:spPr>
          <a:xfrm>
            <a:off x="5812384" y="1920240"/>
            <a:ext cx="566928" cy="566928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box-270"/>
          <p:cNvSpPr/>
          <p:nvPr/>
        </p:nvSpPr>
        <p:spPr>
          <a:xfrm>
            <a:off x="5077846" y="2743200"/>
            <a:ext cx="2036003" cy="2880360"/>
          </a:xfrm>
          <a:prstGeom prst="roundRect">
            <a:avLst>
              <a:gd name="adj" fmla="val 3593"/>
            </a:avLst>
          </a:prstGeom>
          <a:solidFill>
            <a:srgbClr val="EEF1F6"/>
          </a:solidFill>
          <a:ln/>
        </p:spPr>
      </p:sp>
      <p:sp>
        <p:nvSpPr>
          <p:cNvPr id="19" name="text-271"/>
          <p:cNvSpPr txBox="1"/>
          <p:nvPr/>
        </p:nvSpPr>
        <p:spPr>
          <a:xfrm>
            <a:off x="5260726" y="2907792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Retrieval metrics</a:t>
            </a:r>
            <a:endParaRPr lang="en-US" sz="1600" dirty="0"/>
          </a:p>
        </p:txBody>
      </p:sp>
      <p:sp>
        <p:nvSpPr>
          <p:cNvPr id="20" name="text-272"/>
          <p:cNvSpPr txBox="1"/>
          <p:nvPr/>
        </p:nvSpPr>
        <p:spPr>
          <a:xfrm>
            <a:off x="5260726" y="3291840"/>
            <a:ext cx="17159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Recall@5, MRR@10, nDCG@10 at article level, so windows of one article count once.</a:t>
            </a:r>
            <a:endParaRPr lang="en-US" sz="1400" dirty="0"/>
          </a:p>
        </p:txBody>
      </p:sp>
      <p:sp>
        <p:nvSpPr>
          <p:cNvPr id="21" name="artifact-273"/>
          <p:cNvSpPr txBox="1"/>
          <p:nvPr/>
        </p:nvSpPr>
        <p:spPr>
          <a:xfrm>
            <a:off x="5215006" y="5120640"/>
            <a:ext cx="1761683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metrics.py</a:t>
            </a:r>
            <a:endParaRPr lang="en-US" sz="1100" dirty="0"/>
          </a:p>
        </p:txBody>
      </p:sp>
      <p:sp>
        <p:nvSpPr>
          <p:cNvPr id="22" name="badge-274"/>
          <p:cNvSpPr txBox="1"/>
          <p:nvPr/>
        </p:nvSpPr>
        <p:spPr>
          <a:xfrm>
            <a:off x="8076987" y="1920240"/>
            <a:ext cx="566928" cy="566928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box-275"/>
          <p:cNvSpPr/>
          <p:nvPr/>
        </p:nvSpPr>
        <p:spPr>
          <a:xfrm>
            <a:off x="7342449" y="2743200"/>
            <a:ext cx="2036003" cy="2880360"/>
          </a:xfrm>
          <a:prstGeom prst="roundRect">
            <a:avLst>
              <a:gd name="adj" fmla="val 3593"/>
            </a:avLst>
          </a:prstGeom>
          <a:solidFill>
            <a:srgbClr val="EEF1F6"/>
          </a:solidFill>
          <a:ln/>
        </p:spPr>
      </p:sp>
      <p:sp>
        <p:nvSpPr>
          <p:cNvPr id="24" name="text-276"/>
          <p:cNvSpPr txBox="1"/>
          <p:nvPr/>
        </p:nvSpPr>
        <p:spPr>
          <a:xfrm>
            <a:off x="7525329" y="2907792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Generation metrics</a:t>
            </a:r>
            <a:endParaRPr lang="en-US" sz="1600" dirty="0"/>
          </a:p>
        </p:txBody>
      </p:sp>
      <p:sp>
        <p:nvSpPr>
          <p:cNvPr id="25" name="text-277"/>
          <p:cNvSpPr txBox="1"/>
          <p:nvPr/>
        </p:nvSpPr>
        <p:spPr>
          <a:xfrm>
            <a:off x="7525329" y="3291840"/>
            <a:ext cx="17159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Faithfulness judge checked against 60 human labels (kappa ≥ 0.6), citation precision, refusals.</a:t>
            </a:r>
            <a:endParaRPr lang="en-US" sz="1400" dirty="0"/>
          </a:p>
        </p:txBody>
      </p:sp>
      <p:sp>
        <p:nvSpPr>
          <p:cNvPr id="26" name="artifact-278"/>
          <p:cNvSpPr txBox="1"/>
          <p:nvPr/>
        </p:nvSpPr>
        <p:spPr>
          <a:xfrm>
            <a:off x="7479609" y="5120640"/>
            <a:ext cx="1761683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human_labels.csv</a:t>
            </a:r>
            <a:endParaRPr lang="en-US" sz="1100" dirty="0"/>
          </a:p>
        </p:txBody>
      </p:sp>
      <p:sp>
        <p:nvSpPr>
          <p:cNvPr id="27" name="badge-279"/>
          <p:cNvSpPr txBox="1"/>
          <p:nvPr/>
        </p:nvSpPr>
        <p:spPr>
          <a:xfrm>
            <a:off x="10341590" y="1920240"/>
            <a:ext cx="566928" cy="566928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box-280"/>
          <p:cNvSpPr/>
          <p:nvPr/>
        </p:nvSpPr>
        <p:spPr>
          <a:xfrm>
            <a:off x="9607052" y="2743200"/>
            <a:ext cx="2036003" cy="2880360"/>
          </a:xfrm>
          <a:prstGeom prst="roundRect">
            <a:avLst>
              <a:gd name="adj" fmla="val 3593"/>
            </a:avLst>
          </a:prstGeom>
          <a:solidFill>
            <a:srgbClr val="EEF1F6"/>
          </a:solidFill>
          <a:ln/>
        </p:spPr>
      </p:sp>
      <p:sp>
        <p:nvSpPr>
          <p:cNvPr id="29" name="text-281"/>
          <p:cNvSpPr txBox="1"/>
          <p:nvPr/>
        </p:nvSpPr>
        <p:spPr>
          <a:xfrm>
            <a:off x="9789932" y="2907792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Gates</a:t>
            </a:r>
            <a:endParaRPr lang="en-US" sz="1600" dirty="0"/>
          </a:p>
        </p:txBody>
      </p:sp>
      <p:sp>
        <p:nvSpPr>
          <p:cNvPr id="30" name="text-282"/>
          <p:cNvSpPr txBox="1"/>
          <p:nvPr/>
        </p:nvSpPr>
        <p:spPr>
          <a:xfrm>
            <a:off x="9789932" y="3291840"/>
            <a:ext cx="17159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Retrieval eval on every PR, fail on a 2-point drop. LLM eval weekly, in slices, from a disk cache.</a:t>
            </a:r>
            <a:endParaRPr lang="en-US" sz="1400" dirty="0"/>
          </a:p>
        </p:txBody>
      </p:sp>
      <p:sp>
        <p:nvSpPr>
          <p:cNvPr id="31" name="artifact-283"/>
          <p:cNvSpPr txBox="1"/>
          <p:nvPr/>
        </p:nvSpPr>
        <p:spPr>
          <a:xfrm>
            <a:off x="9744212" y="5120640"/>
            <a:ext cx="1761683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+ llm-eval.yml</a:t>
            </a:r>
            <a:endParaRPr lang="en-US" sz="1100" dirty="0"/>
          </a:p>
        </p:txBody>
      </p:sp>
      <p:sp>
        <p:nvSpPr>
          <p:cNvPr id="32" name="text-284"/>
          <p:cNvSpPr txBox="1"/>
          <p:nvPr/>
        </p:nvSpPr>
        <p:spPr>
          <a:xfrm>
            <a:off x="548640" y="5833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</a:rPr>
              <a:t>Leakage guard: test_no_split_leakage fails if any dev or test article appears in the fine-tuning pairs.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MEASUREMENT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backlog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Each design choice is a bet with a test attached. Status changes only with a number.</a:t>
            </a:r>
            <a:endParaRPr lang="en-US" sz="1600" dirty="0"/>
          </a:p>
        </p:txBody>
      </p:sp>
      <p:graphicFrame>
        <p:nvGraphicFramePr>
          <p:cNvPr id="12" name="table-2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977640"/>
                <a:gridCol w="3291840"/>
                <a:gridCol w="731520"/>
                <a:gridCol w="1188720"/>
                <a:gridCol w="1353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test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Structure-aware chunks beat fixed 150-word windows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A vs baseline, Recall@5 on dev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search beats dense-only, most on exact references ("Annex III")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C vs A, sliced by question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French questions retrieve worse than English 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 sliced by 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Overlapping windows crowd the top 5 with one paragraph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top-5 slots taken by windows of one paragraph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cross-encoder rerank is worth its latency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D vs C: MRR gain vs ms/query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MiniLM gains 5+ points, less on hand-written questions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vs FT on test split, hand vs synthetic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9AA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FINDINGS: DATA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Corpus: complete in both languages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Every official recital, article and annex was found in English and French, with identical ID sets.</a:t>
            </a:r>
            <a:endParaRPr lang="en-US" sz="1600" dirty="0"/>
          </a:p>
        </p:txBody>
      </p:sp>
      <p:graphicFrame>
        <p:nvGraphicFramePr>
          <p:cNvPr id="6" name="chart-corpus-286" descr=""/>
          <p:cNvGraphicFramePr/>
          <p:nvPr/>
        </p:nvGraphicFramePr>
        <p:xfrm>
          <a:off x="548640" y="192024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-287"/>
          <p:cNvSpPr txBox="1"/>
          <p:nvPr/>
        </p:nvSpPr>
        <p:spPr>
          <a:xfrm>
            <a:off x="7315200" y="1920240"/>
            <a:ext cx="4327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Official units vs parsed</a:t>
            </a:r>
            <a:endParaRPr lang="en-US" sz="1600" dirty="0"/>
          </a:p>
        </p:txBody>
      </p:sp>
      <p:graphicFrame>
        <p:nvGraphicFramePr>
          <p:cNvPr id="13" name="table-2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331720"/>
          <a:ext cx="432511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188720"/>
                <a:gridCol w="868680"/>
                <a:gridCol w="658368"/>
                <a:gridCol w="64922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</a:tr>
              <a:tr h="384048"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Recitals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Annexes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38404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Recitals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</a:tbl>
          </a:graphicData>
        </a:graphic>
      </p:graphicFrame>
      <p:sp>
        <p:nvSpPr>
          <p:cNvPr id="9" name="text-289"/>
          <p:cNvSpPr txBox="1"/>
          <p:nvPr/>
        </p:nvSpPr>
        <p:spPr>
          <a:xfrm>
            <a:off x="7315200" y="4846320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Green cell: parsed count equals the official numbering. Checked by tests/test_corpus.py on every run.</a:t>
            </a:r>
            <a:endParaRPr lang="en-US" sz="1200" dirty="0"/>
          </a:p>
        </p:txBody>
      </p:sp>
      <p:sp>
        <p:nvSpPr>
          <p:cNvPr id="10" name="text-290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Source: EUR-Lex, saved 2026-10-04. The AI Act text is the 2024 original, without the AI Omnibus (Reg. 2026/1744).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FINDINGS: DATA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long paragraphs dominate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Over a third of all chunks are overlapping windows. Retrieval must not let one paragraph fill the top 5.</a:t>
            </a:r>
            <a:endParaRPr lang="en-US" sz="1600" dirty="0"/>
          </a:p>
        </p:txBody>
      </p:sp>
      <p:graphicFrame>
        <p:nvGraphicFramePr>
          <p:cNvPr id="6" name="chart-lengths-291" descr=""/>
          <p:cNvGraphicFramePr/>
          <p:nvPr/>
        </p:nvGraphicFramePr>
        <p:xfrm>
          <a:off x="548640" y="1920240"/>
          <a:ext cx="60350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box-292"/>
          <p:cNvSpPr/>
          <p:nvPr/>
        </p:nvSpPr>
        <p:spPr>
          <a:xfrm>
            <a:off x="6949440" y="1920240"/>
            <a:ext cx="4693615" cy="603504"/>
          </a:xfrm>
          <a:prstGeom prst="roundRect">
            <a:avLst>
              <a:gd name="adj" fmla="val 12121"/>
            </a:avLst>
          </a:prstGeom>
          <a:solidFill>
            <a:srgbClr val="EEF1F6"/>
          </a:solidFill>
          <a:ln/>
        </p:spPr>
      </p:sp>
      <p:sp>
        <p:nvSpPr>
          <p:cNvPr id="8" name="text-293"/>
          <p:cNvSpPr txBox="1"/>
          <p:nvPr/>
        </p:nvSpPr>
        <p:spPr>
          <a:xfrm>
            <a:off x="7132320" y="192024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6A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2400" dirty="0"/>
          </a:p>
        </p:txBody>
      </p:sp>
      <p:sp>
        <p:nvSpPr>
          <p:cNvPr id="9" name="text-294"/>
          <p:cNvSpPr txBox="1"/>
          <p:nvPr/>
        </p:nvSpPr>
        <p:spPr>
          <a:xfrm>
            <a:off x="8549640" y="1920240"/>
            <a:ext cx="2956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of chunks sit at 126 to 150 words, the window cap</a:t>
            </a:r>
            <a:endParaRPr lang="en-US" sz="1400" dirty="0"/>
          </a:p>
        </p:txBody>
      </p:sp>
      <p:sp>
        <p:nvSpPr>
          <p:cNvPr id="10" name="box-295"/>
          <p:cNvSpPr/>
          <p:nvPr/>
        </p:nvSpPr>
        <p:spPr>
          <a:xfrm>
            <a:off x="6949440" y="2651760"/>
            <a:ext cx="4693615" cy="603504"/>
          </a:xfrm>
          <a:prstGeom prst="roundRect">
            <a:avLst>
              <a:gd name="adj" fmla="val 12121"/>
            </a:avLst>
          </a:prstGeom>
          <a:solidFill>
            <a:srgbClr val="EEF1F6"/>
          </a:solidFill>
          <a:ln/>
        </p:spPr>
      </p:sp>
      <p:sp>
        <p:nvSpPr>
          <p:cNvPr id="11" name="text-296"/>
          <p:cNvSpPr txBox="1"/>
          <p:nvPr/>
        </p:nvSpPr>
        <p:spPr>
          <a:xfrm>
            <a:off x="7132320" y="265176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2400" dirty="0"/>
          </a:p>
        </p:txBody>
      </p:sp>
      <p:sp>
        <p:nvSpPr>
          <p:cNvPr id="12" name="text-297"/>
          <p:cNvSpPr txBox="1"/>
          <p:nvPr/>
        </p:nvSpPr>
        <p:spPr>
          <a:xfrm>
            <a:off x="8549640" y="2651760"/>
            <a:ext cx="2956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are windows of 535 long paragraphs (1,384 chunks)</a:t>
            </a:r>
            <a:endParaRPr lang="en-US" sz="1400" dirty="0"/>
          </a:p>
        </p:txBody>
      </p:sp>
      <p:sp>
        <p:nvSpPr>
          <p:cNvPr id="13" name="box-298"/>
          <p:cNvSpPr/>
          <p:nvPr/>
        </p:nvSpPr>
        <p:spPr>
          <a:xfrm>
            <a:off x="6949440" y="3383280"/>
            <a:ext cx="4693615" cy="603504"/>
          </a:xfrm>
          <a:prstGeom prst="roundRect">
            <a:avLst>
              <a:gd name="adj" fmla="val 12121"/>
            </a:avLst>
          </a:prstGeom>
          <a:solidFill>
            <a:srgbClr val="EEF1F6"/>
          </a:solidFill>
          <a:ln/>
        </p:spPr>
      </p:sp>
      <p:sp>
        <p:nvSpPr>
          <p:cNvPr id="14" name="text-299"/>
          <p:cNvSpPr txBox="1"/>
          <p:nvPr/>
        </p:nvSpPr>
        <p:spPr>
          <a:xfrm>
            <a:off x="7132320" y="338328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vs 67</a:t>
            </a:r>
            <a:endParaRPr lang="en-US" sz="2400" dirty="0"/>
          </a:p>
        </p:txBody>
      </p:sp>
      <p:sp>
        <p:nvSpPr>
          <p:cNvPr id="15" name="text-300"/>
          <p:cNvSpPr txBox="1"/>
          <p:nvPr/>
        </p:nvSpPr>
        <p:spPr>
          <a:xfrm>
            <a:off x="8549640" y="3383280"/>
            <a:ext cx="2956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median words, French vs English (1,955 vs 1,844 chunks)</a:t>
            </a:r>
            <a:endParaRPr lang="en-US" sz="1400" dirty="0"/>
          </a:p>
        </p:txBody>
      </p:sp>
      <p:sp>
        <p:nvSpPr>
          <p:cNvPr id="16" name="text-301"/>
          <p:cNvSpPr txBox="1"/>
          <p:nvPr/>
        </p:nvSpPr>
        <p:spPr>
          <a:xfrm>
            <a:off x="6949440" y="4206240"/>
            <a:ext cx="4693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So what</a:t>
            </a:r>
            <a:endParaRPr lang="en-US" sz="1600" dirty="0"/>
          </a:p>
        </p:txBody>
      </p:sp>
      <p:sp>
        <p:nvSpPr>
          <p:cNvPr id="17" name="text-302"/>
          <p:cNvSpPr txBox="1"/>
          <p:nvPr/>
        </p:nvSpPr>
        <p:spPr>
          <a:xfrm>
            <a:off x="6949440" y="4553712"/>
            <a:ext cx="46936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A55"/>
                </a:solidFill>
              </a:rPr>
              <a:t>Deduplicate windows of the same paragraph before cutting to top-k (tests H4).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A55"/>
                </a:solidFill>
              </a:rPr>
              <a:t>Metrics already count an article once, so the effect hides in recall but shows in context quality.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A55"/>
                </a:solidFill>
              </a:rPr>
              <a:t>French text runs longer, so French questions see more fragments (part of H3).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FINDINGS: ENGINEERING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real text broke the reference parser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Six edge cases the guide's parser missed. Each one is now pinned by a test on the real pages.</a:t>
            </a:r>
            <a:endParaRPr lang="en-US" sz="1600" dirty="0"/>
          </a:p>
        </p:txBody>
      </p:sp>
      <p:sp>
        <p:nvSpPr>
          <p:cNvPr id="6" name="box-303"/>
          <p:cNvSpPr/>
          <p:nvPr/>
        </p:nvSpPr>
        <p:spPr>
          <a:xfrm>
            <a:off x="548640" y="1920240"/>
            <a:ext cx="3545738" cy="1627632"/>
          </a:xfrm>
          <a:prstGeom prst="roundRect">
            <a:avLst>
              <a:gd name="adj" fmla="val 4494"/>
            </a:avLst>
          </a:prstGeom>
          <a:solidFill>
            <a:srgbClr val="EEF1F6"/>
          </a:solidFill>
          <a:ln/>
        </p:spPr>
      </p:sp>
      <p:sp>
        <p:nvSpPr>
          <p:cNvPr id="7" name="badge-304"/>
          <p:cNvSpPr txBox="1"/>
          <p:nvPr/>
        </p:nvSpPr>
        <p:spPr>
          <a:xfrm>
            <a:off x="749808" y="2121408"/>
            <a:ext cx="384048" cy="384048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-305"/>
          <p:cNvSpPr txBox="1"/>
          <p:nvPr/>
        </p:nvSpPr>
        <p:spPr>
          <a:xfrm>
            <a:off x="1298448" y="2103120"/>
            <a:ext cx="2631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FR preamble ends with "ONT ADOPTÉ", not "ONT ARRÊTÉ"</a:t>
            </a:r>
            <a:endParaRPr lang="en-US" sz="1400" dirty="0"/>
          </a:p>
        </p:txBody>
      </p:sp>
      <p:sp>
        <p:nvSpPr>
          <p:cNvPr id="9" name="text-306"/>
          <p:cNvSpPr txBox="1"/>
          <p:nvPr/>
        </p:nvSpPr>
        <p:spPr>
          <a:xfrm>
            <a:off x="1298448" y="2926080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A6B"/>
                </a:solidFill>
              </a:rPr>
              <a:t>Fix: </a:t>
            </a:r>
            <a:pPr indent="0" marL="0">
              <a:buNone/>
            </a:pPr>
            <a:r>
              <a:rPr lang="en-US" sz="1400" dirty="0">
                <a:solidFill>
                  <a:srgbClr val="0F7A6B"/>
                </a:solidFill>
              </a:rPr>
              <a:t>Both forms match</a:t>
            </a:r>
            <a:endParaRPr lang="en-US" sz="1400" dirty="0"/>
          </a:p>
        </p:txBody>
      </p:sp>
      <p:sp>
        <p:nvSpPr>
          <p:cNvPr id="10" name="box-307"/>
          <p:cNvSpPr/>
          <p:nvPr/>
        </p:nvSpPr>
        <p:spPr>
          <a:xfrm>
            <a:off x="4322978" y="1920240"/>
            <a:ext cx="3545738" cy="1627632"/>
          </a:xfrm>
          <a:prstGeom prst="roundRect">
            <a:avLst>
              <a:gd name="adj" fmla="val 4494"/>
            </a:avLst>
          </a:prstGeom>
          <a:solidFill>
            <a:srgbClr val="EEF1F6"/>
          </a:solidFill>
          <a:ln/>
        </p:spPr>
      </p:sp>
      <p:sp>
        <p:nvSpPr>
          <p:cNvPr id="11" name="badge-308"/>
          <p:cNvSpPr txBox="1"/>
          <p:nvPr/>
        </p:nvSpPr>
        <p:spPr>
          <a:xfrm>
            <a:off x="4524146" y="2121408"/>
            <a:ext cx="384048" cy="384048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-309"/>
          <p:cNvSpPr txBox="1"/>
          <p:nvPr/>
        </p:nvSpPr>
        <p:spPr>
          <a:xfrm>
            <a:off x="5072786" y="2103120"/>
            <a:ext cx="2631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FR definitions use 1), EN uses (1)</a:t>
            </a:r>
            <a:endParaRPr lang="en-US" sz="1400" dirty="0"/>
          </a:p>
        </p:txBody>
      </p:sp>
      <p:sp>
        <p:nvSpPr>
          <p:cNvPr id="13" name="text-310"/>
          <p:cNvSpPr txBox="1"/>
          <p:nvPr/>
        </p:nvSpPr>
        <p:spPr>
          <a:xfrm>
            <a:off x="5072786" y="2926080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A6B"/>
                </a:solidFill>
              </a:rPr>
              <a:t>Fix: </a:t>
            </a:r>
            <a:pPr indent="0" marL="0">
              <a:buNone/>
            </a:pPr>
            <a:r>
              <a:rPr lang="en-US" sz="1400" dirty="0">
                <a:solidFill>
                  <a:srgbClr val="0F7A6B"/>
                </a:solidFill>
              </a:rPr>
              <a:t>One regex accepts both</a:t>
            </a:r>
            <a:endParaRPr lang="en-US" sz="1400" dirty="0"/>
          </a:p>
        </p:txBody>
      </p:sp>
      <p:sp>
        <p:nvSpPr>
          <p:cNvPr id="14" name="box-311"/>
          <p:cNvSpPr/>
          <p:nvPr/>
        </p:nvSpPr>
        <p:spPr>
          <a:xfrm>
            <a:off x="8097317" y="1920240"/>
            <a:ext cx="3545738" cy="1627632"/>
          </a:xfrm>
          <a:prstGeom prst="roundRect">
            <a:avLst>
              <a:gd name="adj" fmla="val 4494"/>
            </a:avLst>
          </a:prstGeom>
          <a:solidFill>
            <a:srgbClr val="EEF1F6"/>
          </a:solidFill>
          <a:ln/>
        </p:spPr>
      </p:sp>
      <p:sp>
        <p:nvSpPr>
          <p:cNvPr id="15" name="badge-312"/>
          <p:cNvSpPr txBox="1"/>
          <p:nvPr/>
        </p:nvSpPr>
        <p:spPr>
          <a:xfrm>
            <a:off x="8298485" y="2121408"/>
            <a:ext cx="384048" cy="384048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-313"/>
          <p:cNvSpPr txBox="1"/>
          <p:nvPr/>
        </p:nvSpPr>
        <p:spPr>
          <a:xfrm>
            <a:off x="8847125" y="2103120"/>
            <a:ext cx="2631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Footnote marks broken across several lines inside the text</a:t>
            </a:r>
            <a:endParaRPr lang="en-US" sz="1400" dirty="0"/>
          </a:p>
        </p:txBody>
      </p:sp>
      <p:sp>
        <p:nvSpPr>
          <p:cNvPr id="17" name="text-314"/>
          <p:cNvSpPr txBox="1"/>
          <p:nvPr/>
        </p:nvSpPr>
        <p:spPr>
          <a:xfrm>
            <a:off x="8847125" y="2926080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A6B"/>
                </a:solidFill>
              </a:rPr>
              <a:t>Fix: </a:t>
            </a:r>
            <a:pPr indent="0" marL="0">
              <a:buNone/>
            </a:pPr>
            <a:r>
              <a:rPr lang="en-US" sz="1400" dirty="0">
                <a:solidFill>
                  <a:srgbClr val="0F7A6B"/>
                </a:solidFill>
              </a:rPr>
              <a:t>Removed, trailing punctuation kept</a:t>
            </a:r>
            <a:endParaRPr lang="en-US" sz="1400" dirty="0"/>
          </a:p>
        </p:txBody>
      </p:sp>
      <p:sp>
        <p:nvSpPr>
          <p:cNvPr id="18" name="box-315"/>
          <p:cNvSpPr/>
          <p:nvPr/>
        </p:nvSpPr>
        <p:spPr>
          <a:xfrm>
            <a:off x="548640" y="3749040"/>
            <a:ext cx="3545738" cy="1627632"/>
          </a:xfrm>
          <a:prstGeom prst="roundRect">
            <a:avLst>
              <a:gd name="adj" fmla="val 4494"/>
            </a:avLst>
          </a:prstGeom>
          <a:solidFill>
            <a:srgbClr val="EEF1F6"/>
          </a:solidFill>
          <a:ln/>
        </p:spPr>
      </p:sp>
      <p:sp>
        <p:nvSpPr>
          <p:cNvPr id="19" name="badge-316"/>
          <p:cNvSpPr txBox="1"/>
          <p:nvPr/>
        </p:nvSpPr>
        <p:spPr>
          <a:xfrm>
            <a:off x="749808" y="3950208"/>
            <a:ext cx="384048" cy="384048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-317"/>
          <p:cNvSpPr txBox="1"/>
          <p:nvPr/>
        </p:nvSpPr>
        <p:spPr>
          <a:xfrm>
            <a:off x="1298448" y="3931920"/>
            <a:ext cx="2631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Signatures, footnotes and footer after the body</a:t>
            </a:r>
            <a:endParaRPr lang="en-US" sz="1400" dirty="0"/>
          </a:p>
        </p:txBody>
      </p:sp>
      <p:sp>
        <p:nvSpPr>
          <p:cNvPr id="21" name="text-318"/>
          <p:cNvSpPr txBox="1"/>
          <p:nvPr/>
        </p:nvSpPr>
        <p:spPr>
          <a:xfrm>
            <a:off x="1298448" y="4754880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A6B"/>
                </a:solidFill>
              </a:rPr>
              <a:t>Fix: </a:t>
            </a:r>
            <a:pPr indent="0" marL="0">
              <a:buNone/>
            </a:pPr>
            <a:r>
              <a:rPr lang="en-US" sz="1400" dirty="0">
                <a:solidFill>
                  <a:srgbClr val="0F7A6B"/>
                </a:solidFill>
              </a:rPr>
              <a:t>Ignored after "Done at" / "Fait à" / "ELI:"</a:t>
            </a:r>
            <a:endParaRPr lang="en-US" sz="1400" dirty="0"/>
          </a:p>
        </p:txBody>
      </p:sp>
      <p:sp>
        <p:nvSpPr>
          <p:cNvPr id="22" name="box-319"/>
          <p:cNvSpPr/>
          <p:nvPr/>
        </p:nvSpPr>
        <p:spPr>
          <a:xfrm>
            <a:off x="4322978" y="3749040"/>
            <a:ext cx="3545738" cy="1627632"/>
          </a:xfrm>
          <a:prstGeom prst="roundRect">
            <a:avLst>
              <a:gd name="adj" fmla="val 4494"/>
            </a:avLst>
          </a:prstGeom>
          <a:solidFill>
            <a:srgbClr val="EEF1F6"/>
          </a:solidFill>
          <a:ln/>
        </p:spPr>
      </p:sp>
      <p:sp>
        <p:nvSpPr>
          <p:cNvPr id="23" name="badge-320"/>
          <p:cNvSpPr txBox="1"/>
          <p:nvPr/>
        </p:nvSpPr>
        <p:spPr>
          <a:xfrm>
            <a:off x="4524146" y="3950208"/>
            <a:ext cx="384048" cy="384048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-321"/>
          <p:cNvSpPr txBox="1"/>
          <p:nvPr/>
        </p:nvSpPr>
        <p:spPr>
          <a:xfrm>
            <a:off x="5072786" y="3931920"/>
            <a:ext cx="2631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GDPR uses "Section 1", the AI Act "SECTION 1"</a:t>
            </a:r>
            <a:endParaRPr lang="en-US" sz="1400" dirty="0"/>
          </a:p>
        </p:txBody>
      </p:sp>
      <p:sp>
        <p:nvSpPr>
          <p:cNvPr id="25" name="text-322"/>
          <p:cNvSpPr txBox="1"/>
          <p:nvPr/>
        </p:nvSpPr>
        <p:spPr>
          <a:xfrm>
            <a:off x="5072786" y="4754880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A6B"/>
                </a:solidFill>
              </a:rPr>
              <a:t>Fix: </a:t>
            </a:r>
            <a:pPr indent="0" marL="0">
              <a:buNone/>
            </a:pPr>
            <a:r>
              <a:rPr lang="en-US" sz="1400" dirty="0">
                <a:solidFill>
                  <a:srgbClr val="0F7A6B"/>
                </a:solidFill>
              </a:rPr>
              <a:t>Both skipped as headings</a:t>
            </a:r>
            <a:endParaRPr lang="en-US" sz="1400" dirty="0"/>
          </a:p>
        </p:txBody>
      </p:sp>
      <p:sp>
        <p:nvSpPr>
          <p:cNvPr id="26" name="box-323"/>
          <p:cNvSpPr/>
          <p:nvPr/>
        </p:nvSpPr>
        <p:spPr>
          <a:xfrm>
            <a:off x="8097317" y="3749040"/>
            <a:ext cx="3545738" cy="1627632"/>
          </a:xfrm>
          <a:prstGeom prst="roundRect">
            <a:avLst>
              <a:gd name="adj" fmla="val 4494"/>
            </a:avLst>
          </a:prstGeom>
          <a:solidFill>
            <a:srgbClr val="EEF1F6"/>
          </a:solidFill>
          <a:ln/>
        </p:spPr>
      </p:sp>
      <p:sp>
        <p:nvSpPr>
          <p:cNvPr id="27" name="badge-324"/>
          <p:cNvSpPr txBox="1"/>
          <p:nvPr/>
        </p:nvSpPr>
        <p:spPr>
          <a:xfrm>
            <a:off x="8298485" y="3950208"/>
            <a:ext cx="384048" cy="384048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-325"/>
          <p:cNvSpPr txBox="1"/>
          <p:nvPr/>
        </p:nvSpPr>
        <p:spPr>
          <a:xfrm>
            <a:off x="8847125" y="3931920"/>
            <a:ext cx="2631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Annexes VIII and XI restart their numbering</a:t>
            </a:r>
            <a:endParaRPr lang="en-US" sz="1400" dirty="0"/>
          </a:p>
        </p:txBody>
      </p:sp>
      <p:sp>
        <p:nvSpPr>
          <p:cNvPr id="29" name="text-326"/>
          <p:cNvSpPr txBox="1"/>
          <p:nvPr/>
        </p:nvSpPr>
        <p:spPr>
          <a:xfrm>
            <a:off x="8847125" y="4754880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A6B"/>
                </a:solidFill>
              </a:rPr>
              <a:t>Fix: </a:t>
            </a:r>
            <a:pPr indent="0" marL="0">
              <a:buNone/>
            </a:pPr>
            <a:r>
              <a:rPr lang="en-US" sz="1400" dirty="0">
                <a:solidFill>
                  <a:srgbClr val="0F7A6B"/>
                </a:solidFill>
              </a:rPr>
              <a:t>Points become b.1, 2.1 with clear labels</a:t>
            </a:r>
            <a:endParaRPr lang="en-US" sz="1400" dirty="0"/>
          </a:p>
        </p:txBody>
      </p:sp>
      <p:sp>
        <p:nvSpPr>
          <p:cNvPr id="30" name="box-327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3203A"/>
          </a:solidFill>
          <a:ln/>
        </p:spPr>
      </p:sp>
      <p:sp>
        <p:nvSpPr>
          <p:cNvPr id="31" name="icon-bg-328"/>
          <p:cNvSpPr/>
          <p:nvPr/>
        </p:nvSpPr>
        <p:spPr>
          <a:xfrm>
            <a:off x="731520" y="5669280"/>
            <a:ext cx="420624" cy="420624"/>
          </a:xfrm>
          <a:prstGeom prst="ellipse">
            <a:avLst/>
          </a:prstGeom>
          <a:solidFill>
            <a:srgbClr val="14917F"/>
          </a:solidFill>
          <a:ln/>
        </p:spPr>
      </p:sp>
      <p:pic>
        <p:nvPicPr>
          <p:cNvPr id="32" name="icon-329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470" y="5770230"/>
            <a:ext cx="218724" cy="218724"/>
          </a:xfrm>
          <a:prstGeom prst="rect">
            <a:avLst/>
          </a:prstGeom>
        </p:spPr>
      </p:pic>
      <p:sp>
        <p:nvSpPr>
          <p:cNvPr id="33" name="text-330"/>
          <p:cNvSpPr txBox="1"/>
          <p:nvPr/>
        </p:nvSpPr>
        <p:spPr>
          <a:xfrm>
            <a:off x="1325880" y="5596128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Lesson: test on the real documents from day one. The sample text passed; the real pages did not.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FINDINGS: DECISIONS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and code review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One decision recorded. Ten defects found in the reference code: two fixed, one partly fixed.</a:t>
            </a:r>
            <a:endParaRPr lang="en-US" sz="1600" dirty="0"/>
          </a:p>
        </p:txBody>
      </p:sp>
      <p:sp>
        <p:nvSpPr>
          <p:cNvPr id="6" name="text-331"/>
          <p:cNvSpPr txBox="1"/>
          <p:nvPr/>
        </p:nvSpPr>
        <p:spPr>
          <a:xfrm>
            <a:off x="548640" y="19202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Decision records (docs/decisions)</a:t>
            </a:r>
            <a:endParaRPr lang="en-US" sz="1600" dirty="0"/>
          </a:p>
        </p:txBody>
      </p:sp>
      <p:sp>
        <p:nvSpPr>
          <p:cNvPr id="7" name="box-332"/>
          <p:cNvSpPr/>
          <p:nvPr/>
        </p:nvSpPr>
        <p:spPr>
          <a:xfrm>
            <a:off x="548640" y="2331720"/>
            <a:ext cx="4846320" cy="2514600"/>
          </a:xfrm>
          <a:prstGeom prst="roundRect">
            <a:avLst>
              <a:gd name="adj" fmla="val 2909"/>
            </a:avLst>
          </a:prstGeom>
          <a:solidFill>
            <a:srgbClr val="EEF1F6"/>
          </a:solidFill>
          <a:ln/>
        </p:spPr>
      </p:sp>
      <p:sp>
        <p:nvSpPr>
          <p:cNvPr id="8" name="icon-bg-333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13203A"/>
          </a:solidFill>
          <a:ln/>
        </p:spPr>
      </p:sp>
      <p:pic>
        <p:nvPicPr>
          <p:cNvPr id="9" name="icon-334" descr="targ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635301"/>
            <a:ext cx="261518" cy="261518"/>
          </a:xfrm>
          <a:prstGeom prst="rect">
            <a:avLst/>
          </a:prstGeom>
        </p:spPr>
      </p:pic>
      <p:sp>
        <p:nvSpPr>
          <p:cNvPr id="10" name="text-335"/>
          <p:cNvSpPr txBox="1"/>
          <p:nvPr/>
        </p:nvSpPr>
        <p:spPr>
          <a:xfrm>
            <a:off x="1417320" y="248716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ADR 001: Structure-aware chunking with language-free IDs</a:t>
            </a:r>
            <a:endParaRPr lang="en-US" sz="1500" dirty="0"/>
          </a:p>
        </p:txBody>
      </p:sp>
      <p:sp>
        <p:nvSpPr>
          <p:cNvPr id="11" name="text-336"/>
          <p:cNvSpPr txBox="1"/>
          <p:nvPr/>
        </p:nvSpPr>
        <p:spPr>
          <a:xfrm>
            <a:off x="777240" y="3182112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Chosen: </a:t>
            </a:r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one chunk per paragraph, split into 150-word windows with 25 words of overlap when longer. IDs look like AIA-Art6-2 and never contain the language. Storage uses Chunk.key (id@lang).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3203A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Why: paragraph-level citations are what a lawyer checks, and shared IDs let French questions be scored against the same gold labels. Revisit if fixed windows retrieve as well in Step 4.</a:t>
            </a:r>
            <a:endParaRPr lang="en-US" sz="1300" dirty="0"/>
          </a:p>
        </p:txBody>
      </p:sp>
      <p:sp>
        <p:nvSpPr>
          <p:cNvPr id="12" name="text-337"/>
          <p:cNvSpPr txBox="1"/>
          <p:nvPr/>
        </p:nvSpPr>
        <p:spPr>
          <a:xfrm>
            <a:off x="548640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</a:rPr>
              <a:t>Decisions due next</a:t>
            </a:r>
            <a:endParaRPr lang="en-US" sz="1400" dirty="0"/>
          </a:p>
        </p:txBody>
      </p:sp>
      <p:sp>
        <p:nvSpPr>
          <p:cNvPr id="13" name="text-338"/>
          <p:cNvSpPr txBox="1"/>
          <p:nvPr/>
        </p:nvSpPr>
        <p:spPr>
          <a:xfrm>
            <a:off x="548640" y="5294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002 Fusion: RRF or weighted scores</a:t>
            </a:r>
            <a:endParaRPr lang="en-US" sz="1300" dirty="0"/>
          </a:p>
        </p:txBody>
      </p:sp>
      <p:sp>
        <p:nvSpPr>
          <p:cNvPr id="14" name="text-339"/>
          <p:cNvSpPr txBox="1"/>
          <p:nvPr/>
        </p:nvSpPr>
        <p:spPr>
          <a:xfrm>
            <a:off x="4480560" y="5294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4</a:t>
            </a:r>
            <a:endParaRPr lang="en-US" sz="1200" dirty="0"/>
          </a:p>
        </p:txBody>
      </p:sp>
      <p:sp>
        <p:nvSpPr>
          <p:cNvPr id="15" name="text-340"/>
          <p:cNvSpPr txBox="1"/>
          <p:nvPr/>
        </p:nvSpPr>
        <p:spPr>
          <a:xfrm>
            <a:off x="548640" y="5568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003 Reranker: worth it in the cloud?</a:t>
            </a:r>
            <a:endParaRPr lang="en-US" sz="1300" dirty="0"/>
          </a:p>
        </p:txBody>
      </p:sp>
      <p:sp>
        <p:nvSpPr>
          <p:cNvPr id="16" name="text-341"/>
          <p:cNvSpPr txBox="1"/>
          <p:nvPr/>
        </p:nvSpPr>
        <p:spPr>
          <a:xfrm>
            <a:off x="4480560" y="5568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4</a:t>
            </a:r>
            <a:endParaRPr lang="en-US" sz="1200" dirty="0"/>
          </a:p>
        </p:txBody>
      </p:sp>
      <p:sp>
        <p:nvSpPr>
          <p:cNvPr id="17" name="text-342"/>
          <p:cNvSpPr txBox="1"/>
          <p:nvPr/>
        </p:nvSpPr>
        <p:spPr>
          <a:xfrm>
            <a:off x="548640" y="5843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004 Answer prompt: v1 or v2</a:t>
            </a:r>
            <a:endParaRPr lang="en-US" sz="1300" dirty="0"/>
          </a:p>
        </p:txBody>
      </p:sp>
      <p:sp>
        <p:nvSpPr>
          <p:cNvPr id="18" name="text-343"/>
          <p:cNvSpPr txBox="1"/>
          <p:nvPr/>
        </p:nvSpPr>
        <p:spPr>
          <a:xfrm>
            <a:off x="4480560" y="5843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6</a:t>
            </a:r>
            <a:endParaRPr lang="en-US" sz="1200" dirty="0"/>
          </a:p>
        </p:txBody>
      </p:sp>
      <p:sp>
        <p:nvSpPr>
          <p:cNvPr id="19" name="text-344"/>
          <p:cNvSpPr txBox="1"/>
          <p:nvPr/>
        </p:nvSpPr>
        <p:spPr>
          <a:xfrm>
            <a:off x="5806440" y="1920240"/>
            <a:ext cx="5836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Reference-code review: 2 of 10 fixed</a:t>
            </a:r>
            <a:endParaRPr lang="en-US" sz="1600" dirty="0"/>
          </a:p>
        </p:txBody>
      </p:sp>
      <p:sp>
        <p:nvSpPr>
          <p:cNvPr id="20" name="band-345"/>
          <p:cNvSpPr/>
          <p:nvPr/>
        </p:nvSpPr>
        <p:spPr>
          <a:xfrm>
            <a:off x="5806440" y="2331720"/>
            <a:ext cx="5836615" cy="379476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21" name="text-346"/>
          <p:cNvSpPr txBox="1"/>
          <p:nvPr/>
        </p:nvSpPr>
        <p:spPr>
          <a:xfrm>
            <a:off x="5897880" y="2331720"/>
            <a:ext cx="502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R1</a:t>
            </a:r>
            <a:endParaRPr lang="en-US" sz="1300" dirty="0"/>
          </a:p>
        </p:txBody>
      </p:sp>
      <p:sp>
        <p:nvSpPr>
          <p:cNvPr id="22" name="text-347"/>
          <p:cNvSpPr txBox="1"/>
          <p:nvPr/>
        </p:nvSpPr>
        <p:spPr>
          <a:xfrm>
            <a:off x="6428232" y="2331720"/>
            <a:ext cx="31391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Shared EN/FR IDs overwrite chunks in stores</a:t>
            </a:r>
            <a:endParaRPr lang="en-US" sz="1300" dirty="0"/>
          </a:p>
        </p:txBody>
      </p:sp>
      <p:sp>
        <p:nvSpPr>
          <p:cNvPr id="23" name="text-348"/>
          <p:cNvSpPr txBox="1"/>
          <p:nvPr/>
        </p:nvSpPr>
        <p:spPr>
          <a:xfrm>
            <a:off x="9613087" y="2331720"/>
            <a:ext cx="10058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2 + 4</a:t>
            </a:r>
            <a:endParaRPr lang="en-US" sz="1200" dirty="0"/>
          </a:p>
        </p:txBody>
      </p:sp>
      <p:sp>
        <p:nvSpPr>
          <p:cNvPr id="24" name="chip-349"/>
          <p:cNvSpPr txBox="1"/>
          <p:nvPr/>
        </p:nvSpPr>
        <p:spPr>
          <a:xfrm>
            <a:off x="10682935" y="2398014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A"/>
                </a:solidFill>
              </a:rPr>
              <a:t>Partial</a:t>
            </a:r>
            <a:endParaRPr lang="en-US" sz="1100" dirty="0"/>
          </a:p>
        </p:txBody>
      </p:sp>
      <p:sp>
        <p:nvSpPr>
          <p:cNvPr id="25" name="text-350"/>
          <p:cNvSpPr txBox="1"/>
          <p:nvPr/>
        </p:nvSpPr>
        <p:spPr>
          <a:xfrm>
            <a:off x="5897880" y="2711196"/>
            <a:ext cx="502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R2</a:t>
            </a:r>
            <a:endParaRPr lang="en-US" sz="1300" dirty="0"/>
          </a:p>
        </p:txBody>
      </p:sp>
      <p:sp>
        <p:nvSpPr>
          <p:cNvPr id="26" name="text-351"/>
          <p:cNvSpPr txBox="1"/>
          <p:nvPr/>
        </p:nvSpPr>
        <p:spPr>
          <a:xfrm>
            <a:off x="6428232" y="2711196"/>
            <a:ext cx="31391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Stripping an invented ID damages valid ones</a:t>
            </a:r>
            <a:endParaRPr lang="en-US" sz="1300" dirty="0"/>
          </a:p>
        </p:txBody>
      </p:sp>
      <p:sp>
        <p:nvSpPr>
          <p:cNvPr id="27" name="text-352"/>
          <p:cNvSpPr txBox="1"/>
          <p:nvPr/>
        </p:nvSpPr>
        <p:spPr>
          <a:xfrm>
            <a:off x="9613087" y="2711196"/>
            <a:ext cx="10058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6</a:t>
            </a:r>
            <a:endParaRPr lang="en-US" sz="1200" dirty="0"/>
          </a:p>
        </p:txBody>
      </p:sp>
      <p:sp>
        <p:nvSpPr>
          <p:cNvPr id="28" name="chip-353"/>
          <p:cNvSpPr txBox="1"/>
          <p:nvPr/>
        </p:nvSpPr>
        <p:spPr>
          <a:xfrm>
            <a:off x="10682935" y="2777490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Open</a:t>
            </a:r>
            <a:endParaRPr lang="en-US" sz="1100" dirty="0"/>
          </a:p>
        </p:txBody>
      </p:sp>
      <p:sp>
        <p:nvSpPr>
          <p:cNvPr id="29" name="band-354"/>
          <p:cNvSpPr/>
          <p:nvPr/>
        </p:nvSpPr>
        <p:spPr>
          <a:xfrm>
            <a:off x="5806440" y="3090672"/>
            <a:ext cx="5836615" cy="379476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0" name="text-355"/>
          <p:cNvSpPr txBox="1"/>
          <p:nvPr/>
        </p:nvSpPr>
        <p:spPr>
          <a:xfrm>
            <a:off x="5897880" y="3090672"/>
            <a:ext cx="502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R3</a:t>
            </a:r>
            <a:endParaRPr lang="en-US" sz="1300" dirty="0"/>
          </a:p>
        </p:txBody>
      </p:sp>
      <p:sp>
        <p:nvSpPr>
          <p:cNvPr id="31" name="text-356"/>
          <p:cNvSpPr txBox="1"/>
          <p:nvPr/>
        </p:nvSpPr>
        <p:spPr>
          <a:xfrm>
            <a:off x="6428232" y="3090672"/>
            <a:ext cx="31391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NOT_COVERED variants are not detected</a:t>
            </a:r>
            <a:endParaRPr lang="en-US" sz="1300" dirty="0"/>
          </a:p>
        </p:txBody>
      </p:sp>
      <p:sp>
        <p:nvSpPr>
          <p:cNvPr id="32" name="text-357"/>
          <p:cNvSpPr txBox="1"/>
          <p:nvPr/>
        </p:nvSpPr>
        <p:spPr>
          <a:xfrm>
            <a:off x="9613087" y="3090672"/>
            <a:ext cx="10058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6</a:t>
            </a:r>
            <a:endParaRPr lang="en-US" sz="1200" dirty="0"/>
          </a:p>
        </p:txBody>
      </p:sp>
      <p:sp>
        <p:nvSpPr>
          <p:cNvPr id="33" name="chip-358"/>
          <p:cNvSpPr txBox="1"/>
          <p:nvPr/>
        </p:nvSpPr>
        <p:spPr>
          <a:xfrm>
            <a:off x="10682935" y="3156966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Open</a:t>
            </a:r>
            <a:endParaRPr lang="en-US" sz="1100" dirty="0"/>
          </a:p>
        </p:txBody>
      </p:sp>
      <p:sp>
        <p:nvSpPr>
          <p:cNvPr id="34" name="text-359"/>
          <p:cNvSpPr txBox="1"/>
          <p:nvPr/>
        </p:nvSpPr>
        <p:spPr>
          <a:xfrm>
            <a:off x="5897880" y="3470148"/>
            <a:ext cx="502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R4</a:t>
            </a:r>
            <a:endParaRPr lang="en-US" sz="1300" dirty="0"/>
          </a:p>
        </p:txBody>
      </p:sp>
      <p:sp>
        <p:nvSpPr>
          <p:cNvPr id="35" name="text-360"/>
          <p:cNvSpPr txBox="1"/>
          <p:nvPr/>
        </p:nvSpPr>
        <p:spPr>
          <a:xfrm>
            <a:off x="6428232" y="3470148"/>
            <a:ext cx="31391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LLM cache key ignores model names</a:t>
            </a:r>
            <a:endParaRPr lang="en-US" sz="1300" dirty="0"/>
          </a:p>
        </p:txBody>
      </p:sp>
      <p:sp>
        <p:nvSpPr>
          <p:cNvPr id="36" name="text-361"/>
          <p:cNvSpPr txBox="1"/>
          <p:nvPr/>
        </p:nvSpPr>
        <p:spPr>
          <a:xfrm>
            <a:off x="9613087" y="3470148"/>
            <a:ext cx="10058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5</a:t>
            </a:r>
            <a:endParaRPr lang="en-US" sz="1200" dirty="0"/>
          </a:p>
        </p:txBody>
      </p:sp>
      <p:sp>
        <p:nvSpPr>
          <p:cNvPr id="37" name="chip-362"/>
          <p:cNvSpPr txBox="1"/>
          <p:nvPr/>
        </p:nvSpPr>
        <p:spPr>
          <a:xfrm>
            <a:off x="10682935" y="353644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Open</a:t>
            </a:r>
            <a:endParaRPr lang="en-US" sz="1100" dirty="0"/>
          </a:p>
        </p:txBody>
      </p:sp>
      <p:sp>
        <p:nvSpPr>
          <p:cNvPr id="38" name="band-363"/>
          <p:cNvSpPr/>
          <p:nvPr/>
        </p:nvSpPr>
        <p:spPr>
          <a:xfrm>
            <a:off x="5806440" y="3849624"/>
            <a:ext cx="5836615" cy="379476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9" name="text-364"/>
          <p:cNvSpPr txBox="1"/>
          <p:nvPr/>
        </p:nvSpPr>
        <p:spPr>
          <a:xfrm>
            <a:off x="5897880" y="3849624"/>
            <a:ext cx="502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R5</a:t>
            </a:r>
            <a:endParaRPr lang="en-US" sz="1300" dirty="0"/>
          </a:p>
        </p:txBody>
      </p:sp>
      <p:sp>
        <p:nvSpPr>
          <p:cNvPr id="40" name="text-365"/>
          <p:cNvSpPr txBox="1"/>
          <p:nvPr/>
        </p:nvSpPr>
        <p:spPr>
          <a:xfrm>
            <a:off x="6428232" y="3849624"/>
            <a:ext cx="31391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Retries delay failover past Cloud Run limits</a:t>
            </a:r>
            <a:endParaRPr lang="en-US" sz="1300" dirty="0"/>
          </a:p>
        </p:txBody>
      </p:sp>
      <p:sp>
        <p:nvSpPr>
          <p:cNvPr id="41" name="text-366"/>
          <p:cNvSpPr txBox="1"/>
          <p:nvPr/>
        </p:nvSpPr>
        <p:spPr>
          <a:xfrm>
            <a:off x="9613087" y="3849624"/>
            <a:ext cx="10058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5</a:t>
            </a:r>
            <a:endParaRPr lang="en-US" sz="1200" dirty="0"/>
          </a:p>
        </p:txBody>
      </p:sp>
      <p:sp>
        <p:nvSpPr>
          <p:cNvPr id="42" name="chip-367"/>
          <p:cNvSpPr txBox="1"/>
          <p:nvPr/>
        </p:nvSpPr>
        <p:spPr>
          <a:xfrm>
            <a:off x="10682935" y="3915918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Open</a:t>
            </a:r>
            <a:endParaRPr lang="en-US" sz="1100" dirty="0"/>
          </a:p>
        </p:txBody>
      </p:sp>
      <p:sp>
        <p:nvSpPr>
          <p:cNvPr id="43" name="text-368"/>
          <p:cNvSpPr txBox="1"/>
          <p:nvPr/>
        </p:nvSpPr>
        <p:spPr>
          <a:xfrm>
            <a:off x="5897880" y="4229100"/>
            <a:ext cx="502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R6</a:t>
            </a:r>
            <a:endParaRPr lang="en-US" sz="1300" dirty="0"/>
          </a:p>
        </p:txBody>
      </p:sp>
      <p:sp>
        <p:nvSpPr>
          <p:cNvPr id="44" name="text-369"/>
          <p:cNvSpPr txBox="1"/>
          <p:nvPr/>
        </p:nvSpPr>
        <p:spPr>
          <a:xfrm>
            <a:off x="6428232" y="4229100"/>
            <a:ext cx="31391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Daily cap counts per instance (2x real cap)</a:t>
            </a:r>
            <a:endParaRPr lang="en-US" sz="1300" dirty="0"/>
          </a:p>
        </p:txBody>
      </p:sp>
      <p:sp>
        <p:nvSpPr>
          <p:cNvPr id="45" name="text-370"/>
          <p:cNvSpPr txBox="1"/>
          <p:nvPr/>
        </p:nvSpPr>
        <p:spPr>
          <a:xfrm>
            <a:off x="9613087" y="4229100"/>
            <a:ext cx="10058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8</a:t>
            </a:r>
            <a:endParaRPr lang="en-US" sz="1200" dirty="0"/>
          </a:p>
        </p:txBody>
      </p:sp>
      <p:sp>
        <p:nvSpPr>
          <p:cNvPr id="46" name="chip-371"/>
          <p:cNvSpPr txBox="1"/>
          <p:nvPr/>
        </p:nvSpPr>
        <p:spPr>
          <a:xfrm>
            <a:off x="10682935" y="4295394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Open</a:t>
            </a:r>
            <a:endParaRPr lang="en-US" sz="1100" dirty="0"/>
          </a:p>
        </p:txBody>
      </p:sp>
      <p:sp>
        <p:nvSpPr>
          <p:cNvPr id="47" name="band-372"/>
          <p:cNvSpPr/>
          <p:nvPr/>
        </p:nvSpPr>
        <p:spPr>
          <a:xfrm>
            <a:off x="5806440" y="4608576"/>
            <a:ext cx="5836615" cy="379476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48" name="text-373"/>
          <p:cNvSpPr txBox="1"/>
          <p:nvPr/>
        </p:nvSpPr>
        <p:spPr>
          <a:xfrm>
            <a:off x="5897880" y="4608576"/>
            <a:ext cx="502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R7</a:t>
            </a:r>
            <a:endParaRPr lang="en-US" sz="1300" dirty="0"/>
          </a:p>
        </p:txBody>
      </p:sp>
      <p:sp>
        <p:nvSpPr>
          <p:cNvPr id="49" name="text-374"/>
          <p:cNvSpPr txBox="1"/>
          <p:nvPr/>
        </p:nvSpPr>
        <p:spPr>
          <a:xfrm>
            <a:off x="6428232" y="4608576"/>
            <a:ext cx="31391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Recall crashes on empty-gold questions</a:t>
            </a:r>
            <a:endParaRPr lang="en-US" sz="1300" dirty="0"/>
          </a:p>
        </p:txBody>
      </p:sp>
      <p:sp>
        <p:nvSpPr>
          <p:cNvPr id="50" name="text-375"/>
          <p:cNvSpPr txBox="1"/>
          <p:nvPr/>
        </p:nvSpPr>
        <p:spPr>
          <a:xfrm>
            <a:off x="9613087" y="4608576"/>
            <a:ext cx="10058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3</a:t>
            </a:r>
            <a:endParaRPr lang="en-US" sz="1200" dirty="0"/>
          </a:p>
        </p:txBody>
      </p:sp>
      <p:sp>
        <p:nvSpPr>
          <p:cNvPr id="51" name="chip-376"/>
          <p:cNvSpPr txBox="1"/>
          <p:nvPr/>
        </p:nvSpPr>
        <p:spPr>
          <a:xfrm>
            <a:off x="10682935" y="4674870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Open</a:t>
            </a:r>
            <a:endParaRPr lang="en-US" sz="1100" dirty="0"/>
          </a:p>
        </p:txBody>
      </p:sp>
      <p:sp>
        <p:nvSpPr>
          <p:cNvPr id="52" name="text-377"/>
          <p:cNvSpPr txBox="1"/>
          <p:nvPr/>
        </p:nvSpPr>
        <p:spPr>
          <a:xfrm>
            <a:off x="5897880" y="4988052"/>
            <a:ext cx="502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R8</a:t>
            </a:r>
            <a:endParaRPr lang="en-US" sz="1300" dirty="0"/>
          </a:p>
        </p:txBody>
      </p:sp>
      <p:sp>
        <p:nvSpPr>
          <p:cNvPr id="53" name="text-378"/>
          <p:cNvSpPr txBox="1"/>
          <p:nvPr/>
        </p:nvSpPr>
        <p:spPr>
          <a:xfrm>
            <a:off x="6428232" y="4988052"/>
            <a:ext cx="31391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80% coverage gate vs untested glue code</a:t>
            </a:r>
            <a:endParaRPr lang="en-US" sz="1300" dirty="0"/>
          </a:p>
        </p:txBody>
      </p:sp>
      <p:sp>
        <p:nvSpPr>
          <p:cNvPr id="54" name="text-379"/>
          <p:cNvSpPr txBox="1"/>
          <p:nvPr/>
        </p:nvSpPr>
        <p:spPr>
          <a:xfrm>
            <a:off x="9613087" y="4988052"/>
            <a:ext cx="10058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0</a:t>
            </a:r>
            <a:endParaRPr lang="en-US" sz="1200" dirty="0"/>
          </a:p>
        </p:txBody>
      </p:sp>
      <p:sp>
        <p:nvSpPr>
          <p:cNvPr id="55" name="chip-380"/>
          <p:cNvSpPr txBox="1"/>
          <p:nvPr/>
        </p:nvSpPr>
        <p:spPr>
          <a:xfrm>
            <a:off x="10682935" y="5054346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1491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Fixed</a:t>
            </a:r>
            <a:endParaRPr lang="en-US" sz="1100" dirty="0"/>
          </a:p>
        </p:txBody>
      </p:sp>
      <p:sp>
        <p:nvSpPr>
          <p:cNvPr id="56" name="band-381"/>
          <p:cNvSpPr/>
          <p:nvPr/>
        </p:nvSpPr>
        <p:spPr>
          <a:xfrm>
            <a:off x="5806440" y="5367528"/>
            <a:ext cx="5836615" cy="379476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57" name="text-382"/>
          <p:cNvSpPr txBox="1"/>
          <p:nvPr/>
        </p:nvSpPr>
        <p:spPr>
          <a:xfrm>
            <a:off x="5897880" y="5367528"/>
            <a:ext cx="502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R9</a:t>
            </a:r>
            <a:endParaRPr lang="en-US" sz="1300" dirty="0"/>
          </a:p>
        </p:txBody>
      </p:sp>
      <p:sp>
        <p:nvSpPr>
          <p:cNvPr id="58" name="text-383"/>
          <p:cNvSpPr txBox="1"/>
          <p:nvPr/>
        </p:nvSpPr>
        <p:spPr>
          <a:xfrm>
            <a:off x="6428232" y="5367528"/>
            <a:ext cx="31391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master vs main breaks the deploy trigger</a:t>
            </a:r>
            <a:endParaRPr lang="en-US" sz="1300" dirty="0"/>
          </a:p>
        </p:txBody>
      </p:sp>
      <p:sp>
        <p:nvSpPr>
          <p:cNvPr id="59" name="text-384"/>
          <p:cNvSpPr txBox="1"/>
          <p:nvPr/>
        </p:nvSpPr>
        <p:spPr>
          <a:xfrm>
            <a:off x="9613087" y="5367528"/>
            <a:ext cx="10058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0</a:t>
            </a:r>
            <a:endParaRPr lang="en-US" sz="1200" dirty="0"/>
          </a:p>
        </p:txBody>
      </p:sp>
      <p:sp>
        <p:nvSpPr>
          <p:cNvPr id="60" name="chip-385"/>
          <p:cNvSpPr txBox="1"/>
          <p:nvPr/>
        </p:nvSpPr>
        <p:spPr>
          <a:xfrm>
            <a:off x="10682935" y="543382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1491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Fixed</a:t>
            </a:r>
            <a:endParaRPr lang="en-US" sz="1100" dirty="0"/>
          </a:p>
        </p:txBody>
      </p:sp>
      <p:sp>
        <p:nvSpPr>
          <p:cNvPr id="61" name="text-386"/>
          <p:cNvSpPr txBox="1"/>
          <p:nvPr/>
        </p:nvSpPr>
        <p:spPr>
          <a:xfrm>
            <a:off x="5897880" y="5747004"/>
            <a:ext cx="502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A"/>
                </a:solidFill>
              </a:rPr>
              <a:t>R10</a:t>
            </a:r>
            <a:endParaRPr lang="en-US" sz="1300" dirty="0"/>
          </a:p>
        </p:txBody>
      </p:sp>
      <p:sp>
        <p:nvSpPr>
          <p:cNvPr id="62" name="text-387"/>
          <p:cNvSpPr txBox="1"/>
          <p:nvPr/>
        </p:nvSpPr>
        <p:spPr>
          <a:xfrm>
            <a:off x="6428232" y="5747004"/>
            <a:ext cx="31391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Retry test expects the wrong delays</a:t>
            </a:r>
            <a:endParaRPr lang="en-US" sz="1300" dirty="0"/>
          </a:p>
        </p:txBody>
      </p:sp>
      <p:sp>
        <p:nvSpPr>
          <p:cNvPr id="63" name="text-388"/>
          <p:cNvSpPr txBox="1"/>
          <p:nvPr/>
        </p:nvSpPr>
        <p:spPr>
          <a:xfrm>
            <a:off x="9613087" y="5747004"/>
            <a:ext cx="10058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Step 5</a:t>
            </a:r>
            <a:endParaRPr lang="en-US" sz="1200" dirty="0"/>
          </a:p>
        </p:txBody>
      </p:sp>
      <p:sp>
        <p:nvSpPr>
          <p:cNvPr id="64" name="chip-389"/>
          <p:cNvSpPr txBox="1"/>
          <p:nvPr/>
        </p:nvSpPr>
        <p:spPr>
          <a:xfrm>
            <a:off x="10682935" y="5813298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Open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RISKS AND NEXT STEPS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mitigations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The biggest near-term risk is statistical: too few dev questions to see real differences.</a:t>
            </a:r>
            <a:endParaRPr lang="en-US" sz="1600" dirty="0"/>
          </a:p>
        </p:txBody>
      </p:sp>
      <p:sp>
        <p:nvSpPr>
          <p:cNvPr id="6" name="box-390"/>
          <p:cNvSpPr/>
          <p:nvPr/>
        </p:nvSpPr>
        <p:spPr>
          <a:xfrm>
            <a:off x="548640" y="1920240"/>
            <a:ext cx="3545738" cy="2057400"/>
          </a:xfrm>
          <a:prstGeom prst="roundRect">
            <a:avLst>
              <a:gd name="adj" fmla="val 3556"/>
            </a:avLst>
          </a:prstGeom>
          <a:solidFill>
            <a:srgbClr val="EEF1F6"/>
          </a:solidFill>
          <a:ln/>
        </p:spPr>
      </p:sp>
      <p:sp>
        <p:nvSpPr>
          <p:cNvPr id="7" name="text-391"/>
          <p:cNvSpPr txBox="1"/>
          <p:nvPr/>
        </p:nvSpPr>
        <p:spPr>
          <a:xfrm>
            <a:off x="749808" y="2084832"/>
            <a:ext cx="22198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Too few eval questions</a:t>
            </a:r>
            <a:endParaRPr lang="en-US" sz="1500" dirty="0"/>
          </a:p>
        </p:txBody>
      </p:sp>
      <p:sp>
        <p:nvSpPr>
          <p:cNvPr id="8" name="chip-392"/>
          <p:cNvSpPr txBox="1"/>
          <p:nvPr/>
        </p:nvSpPr>
        <p:spPr>
          <a:xfrm>
            <a:off x="3070250" y="2103120"/>
            <a:ext cx="822960" cy="256032"/>
          </a:xfrm>
          <a:prstGeom prst="roundRect">
            <a:avLst>
              <a:gd name="adj" fmla="val 46429"/>
            </a:avLst>
          </a:prstGeom>
          <a:solidFill>
            <a:srgbClr val="D657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</a:t>
            </a:r>
            <a:endParaRPr lang="en-US" sz="1100" dirty="0"/>
          </a:p>
        </p:txBody>
      </p:sp>
      <p:sp>
        <p:nvSpPr>
          <p:cNvPr id="9" name="text-393"/>
          <p:cNvSpPr txBox="1"/>
          <p:nvPr/>
        </p:nvSpPr>
        <p:spPr>
          <a:xfrm>
            <a:off x="749808" y="2450592"/>
            <a:ext cx="317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50 questions spread 70/15/15 leave about 8 on dev: one question moves Recall@5 by 12 points.</a:t>
            </a:r>
            <a:endParaRPr lang="en-US" sz="1300" dirty="0"/>
          </a:p>
        </p:txBody>
      </p:sp>
      <p:sp>
        <p:nvSpPr>
          <p:cNvPr id="10" name="text-394"/>
          <p:cNvSpPr txBox="1"/>
          <p:nvPr/>
        </p:nvSpPr>
        <p:spPr>
          <a:xfrm>
            <a:off x="749808" y="3273552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A6B"/>
                </a:solidFill>
              </a:rPr>
              <a:t>Mitigation: </a:t>
            </a:r>
            <a:pPr indent="0" marL="0">
              <a:buNone/>
            </a:pPr>
            <a:r>
              <a:rPr lang="en-US" sz="1300" dirty="0">
                <a:solidFill>
                  <a:srgbClr val="0F7A6B"/>
                </a:solidFill>
              </a:rPr>
              <a:t>Write 20+ questions each on dev and test articles; report n and bootstrap intervals.</a:t>
            </a:r>
            <a:endParaRPr lang="en-US" sz="1300" dirty="0"/>
          </a:p>
        </p:txBody>
      </p:sp>
      <p:sp>
        <p:nvSpPr>
          <p:cNvPr id="11" name="box-395"/>
          <p:cNvSpPr/>
          <p:nvPr/>
        </p:nvSpPr>
        <p:spPr>
          <a:xfrm>
            <a:off x="4322978" y="1920240"/>
            <a:ext cx="3545738" cy="2057400"/>
          </a:xfrm>
          <a:prstGeom prst="roundRect">
            <a:avLst>
              <a:gd name="adj" fmla="val 3556"/>
            </a:avLst>
          </a:prstGeom>
          <a:solidFill>
            <a:srgbClr val="EEF1F6"/>
          </a:solidFill>
          <a:ln/>
        </p:spPr>
      </p:sp>
      <p:sp>
        <p:nvSpPr>
          <p:cNvPr id="12" name="text-396"/>
          <p:cNvSpPr txBox="1"/>
          <p:nvPr/>
        </p:nvSpPr>
        <p:spPr>
          <a:xfrm>
            <a:off x="4524146" y="2084832"/>
            <a:ext cx="22198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Free tiers change</a:t>
            </a:r>
            <a:endParaRPr lang="en-US" sz="1500" dirty="0"/>
          </a:p>
        </p:txBody>
      </p:sp>
      <p:sp>
        <p:nvSpPr>
          <p:cNvPr id="13" name="chip-397"/>
          <p:cNvSpPr txBox="1"/>
          <p:nvPr/>
        </p:nvSpPr>
        <p:spPr>
          <a:xfrm>
            <a:off x="6844589" y="2103120"/>
            <a:ext cx="822960" cy="256032"/>
          </a:xfrm>
          <a:prstGeom prst="roundRect">
            <a:avLst>
              <a:gd name="adj" fmla="val 46429"/>
            </a:avLst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A"/>
                </a:solidFill>
              </a:rPr>
              <a:t>Medium</a:t>
            </a:r>
            <a:endParaRPr lang="en-US" sz="1100" dirty="0"/>
          </a:p>
        </p:txBody>
      </p:sp>
      <p:sp>
        <p:nvSpPr>
          <p:cNvPr id="14" name="text-398"/>
          <p:cNvSpPr txBox="1"/>
          <p:nvPr/>
        </p:nvSpPr>
        <p:spPr>
          <a:xfrm>
            <a:off x="4524146" y="2450592"/>
            <a:ext cx="317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Gemini and Groq quotas can shrink without notice and stall evals or the demo.</a:t>
            </a:r>
            <a:endParaRPr lang="en-US" sz="1300" dirty="0"/>
          </a:p>
        </p:txBody>
      </p:sp>
      <p:sp>
        <p:nvSpPr>
          <p:cNvPr id="15" name="text-399"/>
          <p:cNvSpPr txBox="1"/>
          <p:nvPr/>
        </p:nvSpPr>
        <p:spPr>
          <a:xfrm>
            <a:off x="4524146" y="3273552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A6B"/>
                </a:solidFill>
              </a:rPr>
              <a:t>Mitigation: </a:t>
            </a:r>
            <a:pPr indent="0" marL="0">
              <a:buNone/>
            </a:pPr>
            <a:r>
              <a:rPr lang="en-US" sz="1300" dirty="0">
                <a:solidFill>
                  <a:srgbClr val="0F7A6B"/>
                </a:solidFill>
              </a:rPr>
              <a:t>Disk cache, provider fallback, daily cap, eval in slices.</a:t>
            </a:r>
            <a:endParaRPr lang="en-US" sz="1300" dirty="0"/>
          </a:p>
        </p:txBody>
      </p:sp>
      <p:sp>
        <p:nvSpPr>
          <p:cNvPr id="16" name="box-400"/>
          <p:cNvSpPr/>
          <p:nvPr/>
        </p:nvSpPr>
        <p:spPr>
          <a:xfrm>
            <a:off x="8097317" y="1920240"/>
            <a:ext cx="3545738" cy="2057400"/>
          </a:xfrm>
          <a:prstGeom prst="roundRect">
            <a:avLst>
              <a:gd name="adj" fmla="val 3556"/>
            </a:avLst>
          </a:prstGeom>
          <a:solidFill>
            <a:srgbClr val="EEF1F6"/>
          </a:solidFill>
          <a:ln/>
        </p:spPr>
      </p:sp>
      <p:sp>
        <p:nvSpPr>
          <p:cNvPr id="17" name="text-401"/>
          <p:cNvSpPr txBox="1"/>
          <p:nvPr/>
        </p:nvSpPr>
        <p:spPr>
          <a:xfrm>
            <a:off x="8298485" y="2084832"/>
            <a:ext cx="22198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Synthetic questions flatter</a:t>
            </a:r>
            <a:endParaRPr lang="en-US" sz="1500" dirty="0"/>
          </a:p>
        </p:txBody>
      </p:sp>
      <p:sp>
        <p:nvSpPr>
          <p:cNvPr id="18" name="chip-402"/>
          <p:cNvSpPr txBox="1"/>
          <p:nvPr/>
        </p:nvSpPr>
        <p:spPr>
          <a:xfrm>
            <a:off x="10618927" y="2103120"/>
            <a:ext cx="822960" cy="256032"/>
          </a:xfrm>
          <a:prstGeom prst="roundRect">
            <a:avLst>
              <a:gd name="adj" fmla="val 46429"/>
            </a:avLst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A"/>
                </a:solidFill>
              </a:rPr>
              <a:t>Medium</a:t>
            </a:r>
            <a:endParaRPr lang="en-US" sz="1100" dirty="0"/>
          </a:p>
        </p:txBody>
      </p:sp>
      <p:sp>
        <p:nvSpPr>
          <p:cNvPr id="19" name="text-403"/>
          <p:cNvSpPr txBox="1"/>
          <p:nvPr/>
        </p:nvSpPr>
        <p:spPr>
          <a:xfrm>
            <a:off x="8298485" y="2450592"/>
            <a:ext cx="317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A model tuned on LLM-written questions may look better on LLM-written questions.</a:t>
            </a:r>
            <a:endParaRPr lang="en-US" sz="1300" dirty="0"/>
          </a:p>
        </p:txBody>
      </p:sp>
      <p:sp>
        <p:nvSpPr>
          <p:cNvPr id="20" name="text-404"/>
          <p:cNvSpPr txBox="1"/>
          <p:nvPr/>
        </p:nvSpPr>
        <p:spPr>
          <a:xfrm>
            <a:off x="8298485" y="3273552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A6B"/>
                </a:solidFill>
              </a:rPr>
              <a:t>Mitigation: </a:t>
            </a:r>
            <a:pPr indent="0" marL="0">
              <a:buNone/>
            </a:pPr>
            <a:r>
              <a:rPr lang="en-US" sz="1300" dirty="0">
                <a:solidFill>
                  <a:srgbClr val="0F7A6B"/>
                </a:solidFill>
              </a:rPr>
              <a:t>Report hand-written and synthetic results separately.</a:t>
            </a:r>
            <a:endParaRPr lang="en-US" sz="1300" dirty="0"/>
          </a:p>
        </p:txBody>
      </p:sp>
      <p:sp>
        <p:nvSpPr>
          <p:cNvPr id="21" name="box-405"/>
          <p:cNvSpPr/>
          <p:nvPr/>
        </p:nvSpPr>
        <p:spPr>
          <a:xfrm>
            <a:off x="548640" y="4178808"/>
            <a:ext cx="3545738" cy="2057400"/>
          </a:xfrm>
          <a:prstGeom prst="roundRect">
            <a:avLst>
              <a:gd name="adj" fmla="val 3556"/>
            </a:avLst>
          </a:prstGeom>
          <a:solidFill>
            <a:srgbClr val="EEF1F6"/>
          </a:solidFill>
          <a:ln/>
        </p:spPr>
      </p:sp>
      <p:sp>
        <p:nvSpPr>
          <p:cNvPr id="22" name="text-406"/>
          <p:cNvSpPr txBox="1"/>
          <p:nvPr/>
        </p:nvSpPr>
        <p:spPr>
          <a:xfrm>
            <a:off x="749808" y="4343400"/>
            <a:ext cx="22198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Law moved on</a:t>
            </a:r>
            <a:endParaRPr lang="en-US" sz="1500" dirty="0"/>
          </a:p>
        </p:txBody>
      </p:sp>
      <p:sp>
        <p:nvSpPr>
          <p:cNvPr id="23" name="chip-407"/>
          <p:cNvSpPr txBox="1"/>
          <p:nvPr/>
        </p:nvSpPr>
        <p:spPr>
          <a:xfrm>
            <a:off x="3070250" y="4361688"/>
            <a:ext cx="822960" cy="256032"/>
          </a:xfrm>
          <a:prstGeom prst="roundRect">
            <a:avLst>
              <a:gd name="adj" fmla="val 46429"/>
            </a:avLst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A"/>
                </a:solidFill>
              </a:rPr>
              <a:t>Medium</a:t>
            </a:r>
            <a:endParaRPr lang="en-US" sz="1100" dirty="0"/>
          </a:p>
        </p:txBody>
      </p:sp>
      <p:sp>
        <p:nvSpPr>
          <p:cNvPr id="24" name="text-408"/>
          <p:cNvSpPr txBox="1"/>
          <p:nvPr/>
        </p:nvSpPr>
        <p:spPr>
          <a:xfrm>
            <a:off x="749808" y="4709160"/>
            <a:ext cx="317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The AI Omnibus (Reg. 2026/1744) shifts Annex III dates; the corpus is the 2024 text.</a:t>
            </a:r>
            <a:endParaRPr lang="en-US" sz="1300" dirty="0"/>
          </a:p>
        </p:txBody>
      </p:sp>
      <p:sp>
        <p:nvSpPr>
          <p:cNvPr id="25" name="text-409"/>
          <p:cNvSpPr txBox="1"/>
          <p:nvPr/>
        </p:nvSpPr>
        <p:spPr>
          <a:xfrm>
            <a:off x="749808" y="5532120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A6B"/>
                </a:solidFill>
              </a:rPr>
              <a:t>Mitigation: </a:t>
            </a:r>
            <a:pPr indent="0" marL="0">
              <a:buNone/>
            </a:pPr>
            <a:r>
              <a:rPr lang="en-US" sz="1300" dirty="0">
                <a:solidFill>
                  <a:srgbClr val="0F7A6B"/>
                </a:solidFill>
              </a:rPr>
              <a:t>State it in the model card; corpus versioning as a stretch goal.</a:t>
            </a:r>
            <a:endParaRPr lang="en-US" sz="1300" dirty="0"/>
          </a:p>
        </p:txBody>
      </p:sp>
      <p:sp>
        <p:nvSpPr>
          <p:cNvPr id="26" name="box-410"/>
          <p:cNvSpPr/>
          <p:nvPr/>
        </p:nvSpPr>
        <p:spPr>
          <a:xfrm>
            <a:off x="4322978" y="4178808"/>
            <a:ext cx="3545738" cy="2057400"/>
          </a:xfrm>
          <a:prstGeom prst="roundRect">
            <a:avLst>
              <a:gd name="adj" fmla="val 3556"/>
            </a:avLst>
          </a:prstGeom>
          <a:solidFill>
            <a:srgbClr val="EEF1F6"/>
          </a:solidFill>
          <a:ln/>
        </p:spPr>
      </p:sp>
      <p:sp>
        <p:nvSpPr>
          <p:cNvPr id="27" name="text-411"/>
          <p:cNvSpPr txBox="1"/>
          <p:nvPr/>
        </p:nvSpPr>
        <p:spPr>
          <a:xfrm>
            <a:off x="4524146" y="4343400"/>
            <a:ext cx="22198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Users over-trust answers</a:t>
            </a:r>
            <a:endParaRPr lang="en-US" sz="1500" dirty="0"/>
          </a:p>
        </p:txBody>
      </p:sp>
      <p:sp>
        <p:nvSpPr>
          <p:cNvPr id="28" name="chip-412"/>
          <p:cNvSpPr txBox="1"/>
          <p:nvPr/>
        </p:nvSpPr>
        <p:spPr>
          <a:xfrm>
            <a:off x="6844589" y="4361688"/>
            <a:ext cx="822960" cy="256032"/>
          </a:xfrm>
          <a:prstGeom prst="roundRect">
            <a:avLst>
              <a:gd name="adj" fmla="val 46429"/>
            </a:avLst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A"/>
                </a:solidFill>
              </a:rPr>
              <a:t>Medium</a:t>
            </a:r>
            <a:endParaRPr lang="en-US" sz="1100" dirty="0"/>
          </a:p>
        </p:txBody>
      </p:sp>
      <p:sp>
        <p:nvSpPr>
          <p:cNvPr id="29" name="text-413"/>
          <p:cNvSpPr txBox="1"/>
          <p:nvPr/>
        </p:nvSpPr>
        <p:spPr>
          <a:xfrm>
            <a:off x="4524146" y="4709160"/>
            <a:ext cx="317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A cited answer can still be read as legal advice.</a:t>
            </a:r>
            <a:endParaRPr lang="en-US" sz="1300" dirty="0"/>
          </a:p>
        </p:txBody>
      </p:sp>
      <p:sp>
        <p:nvSpPr>
          <p:cNvPr id="30" name="text-414"/>
          <p:cNvSpPr txBox="1"/>
          <p:nvPr/>
        </p:nvSpPr>
        <p:spPr>
          <a:xfrm>
            <a:off x="4524146" y="5532120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A6B"/>
                </a:solidFill>
              </a:rPr>
              <a:t>Mitigation: </a:t>
            </a:r>
            <a:pPr indent="0" marL="0">
              <a:buNone/>
            </a:pPr>
            <a:r>
              <a:rPr lang="en-US" sz="1300" dirty="0">
                <a:solidFill>
                  <a:srgbClr val="0F7A6B"/>
                </a:solidFill>
              </a:rPr>
              <a:t>Refuse when unsure, no compliance verdicts, disclaimer on every result.</a:t>
            </a:r>
            <a:endParaRPr lang="en-US" sz="1300" dirty="0"/>
          </a:p>
        </p:txBody>
      </p:sp>
      <p:sp>
        <p:nvSpPr>
          <p:cNvPr id="31" name="box-415"/>
          <p:cNvSpPr/>
          <p:nvPr/>
        </p:nvSpPr>
        <p:spPr>
          <a:xfrm>
            <a:off x="8097317" y="4178808"/>
            <a:ext cx="3545738" cy="2057400"/>
          </a:xfrm>
          <a:prstGeom prst="roundRect">
            <a:avLst>
              <a:gd name="adj" fmla="val 3556"/>
            </a:avLst>
          </a:prstGeom>
          <a:solidFill>
            <a:srgbClr val="EEF1F6"/>
          </a:solidFill>
          <a:ln/>
        </p:spPr>
      </p:sp>
      <p:sp>
        <p:nvSpPr>
          <p:cNvPr id="32" name="text-416"/>
          <p:cNvSpPr txBox="1"/>
          <p:nvPr/>
        </p:nvSpPr>
        <p:spPr>
          <a:xfrm>
            <a:off x="8298485" y="4343400"/>
            <a:ext cx="22198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Silent data loss</a:t>
            </a:r>
            <a:endParaRPr lang="en-US" sz="1500" dirty="0"/>
          </a:p>
        </p:txBody>
      </p:sp>
      <p:sp>
        <p:nvSpPr>
          <p:cNvPr id="33" name="chip-417"/>
          <p:cNvSpPr txBox="1"/>
          <p:nvPr/>
        </p:nvSpPr>
        <p:spPr>
          <a:xfrm>
            <a:off x="10618927" y="4361688"/>
            <a:ext cx="822960" cy="256032"/>
          </a:xfrm>
          <a:prstGeom prst="roundRect">
            <a:avLst>
              <a:gd name="adj" fmla="val 46429"/>
            </a:avLst>
          </a:prstGeom>
          <a:solidFill>
            <a:srgbClr val="D9DE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55"/>
                </a:solidFill>
              </a:rPr>
              <a:t>Low</a:t>
            </a:r>
            <a:endParaRPr lang="en-US" sz="1100" dirty="0"/>
          </a:p>
        </p:txBody>
      </p:sp>
      <p:sp>
        <p:nvSpPr>
          <p:cNvPr id="34" name="text-418"/>
          <p:cNvSpPr txBox="1"/>
          <p:nvPr/>
        </p:nvSpPr>
        <p:spPr>
          <a:xfrm>
            <a:off x="8298485" y="4709160"/>
            <a:ext cx="317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</a:rPr>
              <a:t>Shared EN/FR IDs would let French chunks overwrite English ones in stores (R1).</a:t>
            </a:r>
            <a:endParaRPr lang="en-US" sz="1300" dirty="0"/>
          </a:p>
        </p:txBody>
      </p:sp>
      <p:sp>
        <p:nvSpPr>
          <p:cNvPr id="35" name="text-419"/>
          <p:cNvSpPr txBox="1"/>
          <p:nvPr/>
        </p:nvSpPr>
        <p:spPr>
          <a:xfrm>
            <a:off x="8298485" y="5532120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A6B"/>
                </a:solidFill>
              </a:rPr>
              <a:t>Mitigation: </a:t>
            </a:r>
            <a:pPr indent="0" marL="0">
              <a:buNone/>
            </a:pPr>
            <a:r>
              <a:rPr lang="en-US" sz="1300" dirty="0">
                <a:solidFill>
                  <a:srgbClr val="0F7A6B"/>
                </a:solidFill>
              </a:rPr>
              <a:t>Storage key id@lang added in Step 2; enforce it when indexing.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RISKS AND NEXT STEPS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Step 3, the measured baseline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Week 2. Without this baseline there is no before/after story.</a:t>
            </a:r>
            <a:endParaRPr lang="en-US" sz="1600" dirty="0"/>
          </a:p>
        </p:txBody>
      </p:sp>
      <p:graphicFrame>
        <p:nvGraphicFramePr>
          <p:cNvPr id="18" name="table-4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840480"/>
                <a:gridCol w="5193792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M0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badge green on main, 20 random chunks per language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splits.json by article, seed 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Committed; no article in two splits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hand-written golden questions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 French, 5 types, 20+ each on dev and test articles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metrics.py + tests, fix R7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 dedup, MRR = 1/3, nDCG by hand all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baseline: fixed windows + BGE-M3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evals/reports/baseline.json committed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this deck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column filled, H3 and H4 first readings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7" name="box-421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BEFD3"/>
          </a:solidFill>
          <a:ln/>
        </p:spPr>
      </p:sp>
      <p:sp>
        <p:nvSpPr>
          <p:cNvPr id="8" name="icon-bg-422"/>
          <p:cNvSpPr/>
          <p:nvPr/>
        </p:nvSpPr>
        <p:spPr>
          <a:xfrm>
            <a:off x="749808" y="5477256"/>
            <a:ext cx="566928" cy="566928"/>
          </a:xfrm>
          <a:prstGeom prst="ellipse">
            <a:avLst/>
          </a:prstGeom>
          <a:solidFill>
            <a:srgbClr val="13203A"/>
          </a:solidFill>
          <a:ln/>
        </p:spPr>
      </p:sp>
      <p:pic>
        <p:nvPicPr>
          <p:cNvPr id="9" name="icon-423" descr="flas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71" y="5613319"/>
            <a:ext cx="294803" cy="294803"/>
          </a:xfrm>
          <a:prstGeom prst="rect">
            <a:avLst/>
          </a:prstGeom>
        </p:spPr>
      </p:pic>
      <p:sp>
        <p:nvSpPr>
          <p:cNvPr id="10" name="text-424"/>
          <p:cNvSpPr txBox="1"/>
          <p:nvPr/>
        </p:nvSpPr>
        <p:spPr>
          <a:xfrm>
            <a:off x="1508760" y="5349240"/>
            <a:ext cx="9905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3A"/>
                </a:solidFill>
              </a:rPr>
              <a:t>Open question for review: score retrieval on all 50 questions until fine-tuning starts in Step 9, and keep the split rule for the test numbers only?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6A0B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 log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2"/>
                </a:solidFill>
              </a:rPr>
              <a:t>This deck is rebuilt after every step or major finding.</a:t>
            </a:r>
            <a:endParaRPr lang="en-US" sz="1600" dirty="0"/>
          </a:p>
        </p:txBody>
      </p:sp>
      <p:graphicFrame>
        <p:nvGraphicFramePr>
          <p:cNvPr id="19" name="table-4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7086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34440"/>
                <a:gridCol w="201168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 committed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version: targets, corpus findings, 6 hypotheses, risks, Step 3 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-426"/>
          <p:cNvSpPr txBox="1"/>
          <p:nvPr/>
        </p:nvSpPr>
        <p:spPr>
          <a:xfrm>
            <a:off x="548640" y="4160520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Rebuild the deck when</a:t>
            </a:r>
            <a:endParaRPr lang="en-US" sz="1600" dirty="0"/>
          </a:p>
        </p:txBody>
      </p:sp>
      <p:sp>
        <p:nvSpPr>
          <p:cNvPr id="8" name="icon-bg-427"/>
          <p:cNvSpPr/>
          <p:nvPr/>
        </p:nvSpPr>
        <p:spPr>
          <a:xfrm>
            <a:off x="548640" y="4590288"/>
            <a:ext cx="292608" cy="292608"/>
          </a:xfrm>
          <a:prstGeom prst="ellipse">
            <a:avLst/>
          </a:prstGeom>
          <a:solidFill>
            <a:srgbClr val="14917F"/>
          </a:solidFill>
          <a:ln/>
        </p:spPr>
      </p:sp>
      <p:pic>
        <p:nvPicPr>
          <p:cNvPr id="9" name="icon-428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866" y="4660514"/>
            <a:ext cx="152156" cy="152156"/>
          </a:xfrm>
          <a:prstGeom prst="rect">
            <a:avLst/>
          </a:prstGeom>
        </p:spPr>
      </p:pic>
      <p:sp>
        <p:nvSpPr>
          <p:cNvPr id="10" name="text-429"/>
          <p:cNvSpPr txBox="1"/>
          <p:nvPr/>
        </p:nvSpPr>
        <p:spPr>
          <a:xfrm>
            <a:off x="960120" y="4572000"/>
            <a:ext cx="3040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A step is committed</a:t>
            </a:r>
            <a:endParaRPr lang="en-US" sz="1400" dirty="0"/>
          </a:p>
        </p:txBody>
      </p:sp>
      <p:sp>
        <p:nvSpPr>
          <p:cNvPr id="11" name="icon-bg-430"/>
          <p:cNvSpPr/>
          <p:nvPr/>
        </p:nvSpPr>
        <p:spPr>
          <a:xfrm>
            <a:off x="4091940" y="4590288"/>
            <a:ext cx="292608" cy="292608"/>
          </a:xfrm>
          <a:prstGeom prst="ellipse">
            <a:avLst/>
          </a:prstGeom>
          <a:solidFill>
            <a:srgbClr val="14917F"/>
          </a:solidFill>
          <a:ln/>
        </p:spPr>
      </p:sp>
      <p:pic>
        <p:nvPicPr>
          <p:cNvPr id="12" name="icon-431" descr="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166" y="4660514"/>
            <a:ext cx="152156" cy="152156"/>
          </a:xfrm>
          <a:prstGeom prst="rect">
            <a:avLst/>
          </a:prstGeom>
        </p:spPr>
      </p:pic>
      <p:sp>
        <p:nvSpPr>
          <p:cNvPr id="13" name="text-432"/>
          <p:cNvSpPr txBox="1"/>
          <p:nvPr/>
        </p:nvSpPr>
        <p:spPr>
          <a:xfrm>
            <a:off x="4503420" y="4572000"/>
            <a:ext cx="3040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A hypothesis changes status</a:t>
            </a:r>
            <a:endParaRPr lang="en-US" sz="1400" dirty="0"/>
          </a:p>
        </p:txBody>
      </p:sp>
      <p:sp>
        <p:nvSpPr>
          <p:cNvPr id="14" name="icon-bg-433"/>
          <p:cNvSpPr/>
          <p:nvPr/>
        </p:nvSpPr>
        <p:spPr>
          <a:xfrm>
            <a:off x="548640" y="5047488"/>
            <a:ext cx="292608" cy="292608"/>
          </a:xfrm>
          <a:prstGeom prst="ellipse">
            <a:avLst/>
          </a:prstGeom>
          <a:solidFill>
            <a:srgbClr val="14917F"/>
          </a:solidFill>
          <a:ln/>
        </p:spPr>
      </p:sp>
      <p:pic>
        <p:nvPicPr>
          <p:cNvPr id="15" name="icon-434" descr="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5117714"/>
            <a:ext cx="152156" cy="152156"/>
          </a:xfrm>
          <a:prstGeom prst="rect">
            <a:avLst/>
          </a:prstGeom>
        </p:spPr>
      </p:pic>
      <p:sp>
        <p:nvSpPr>
          <p:cNvPr id="16" name="text-435"/>
          <p:cNvSpPr txBox="1"/>
          <p:nvPr/>
        </p:nvSpPr>
        <p:spPr>
          <a:xfrm>
            <a:off x="960120" y="5029200"/>
            <a:ext cx="3040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A headline metric moves by 2 points or more</a:t>
            </a:r>
            <a:endParaRPr lang="en-US" sz="1400" dirty="0"/>
          </a:p>
        </p:txBody>
      </p:sp>
      <p:sp>
        <p:nvSpPr>
          <p:cNvPr id="17" name="icon-bg-436"/>
          <p:cNvSpPr/>
          <p:nvPr/>
        </p:nvSpPr>
        <p:spPr>
          <a:xfrm>
            <a:off x="4091940" y="5047488"/>
            <a:ext cx="292608" cy="292608"/>
          </a:xfrm>
          <a:prstGeom prst="ellipse">
            <a:avLst/>
          </a:prstGeom>
          <a:solidFill>
            <a:srgbClr val="14917F"/>
          </a:solidFill>
          <a:ln/>
        </p:spPr>
      </p:sp>
      <p:pic>
        <p:nvPicPr>
          <p:cNvPr id="18" name="icon-437" descr="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166" y="5117714"/>
            <a:ext cx="152156" cy="152156"/>
          </a:xfrm>
          <a:prstGeom prst="rect">
            <a:avLst/>
          </a:prstGeom>
        </p:spPr>
      </p:pic>
      <p:sp>
        <p:nvSpPr>
          <p:cNvPr id="19" name="text-438"/>
          <p:cNvSpPr txBox="1"/>
          <p:nvPr/>
        </p:nvSpPr>
        <p:spPr>
          <a:xfrm>
            <a:off x="4503420" y="5029200"/>
            <a:ext cx="3040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A new risk, decision or scope change</a:t>
            </a:r>
            <a:endParaRPr lang="en-US" sz="1400" dirty="0"/>
          </a:p>
        </p:txBody>
      </p:sp>
      <p:sp>
        <p:nvSpPr>
          <p:cNvPr id="20" name="box-439"/>
          <p:cNvSpPr/>
          <p:nvPr/>
        </p:nvSpPr>
        <p:spPr>
          <a:xfrm>
            <a:off x="7909560" y="1920240"/>
            <a:ext cx="3733495" cy="3520440"/>
          </a:xfrm>
          <a:prstGeom prst="roundRect">
            <a:avLst>
              <a:gd name="adj" fmla="val 2078"/>
            </a:avLst>
          </a:prstGeom>
          <a:solidFill>
            <a:srgbClr val="EEF1F6"/>
          </a:solidFill>
          <a:ln/>
        </p:spPr>
      </p:sp>
      <p:sp>
        <p:nvSpPr>
          <p:cNvPr id="21" name="text-440"/>
          <p:cNvSpPr txBox="1"/>
          <p:nvPr/>
        </p:nvSpPr>
        <p:spPr>
          <a:xfrm>
            <a:off x="8138160" y="2084832"/>
            <a:ext cx="3276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</a:rPr>
              <a:t>How to update this deck</a:t>
            </a:r>
            <a:endParaRPr lang="en-US" sz="1600" dirty="0"/>
          </a:p>
        </p:txBody>
      </p:sp>
      <p:sp>
        <p:nvSpPr>
          <p:cNvPr id="22" name="badge-441"/>
          <p:cNvSpPr txBox="1"/>
          <p:nvPr/>
        </p:nvSpPr>
        <p:spPr>
          <a:xfrm>
            <a:off x="8138160" y="2578608"/>
            <a:ext cx="365760" cy="365760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-442"/>
          <p:cNvSpPr txBox="1"/>
          <p:nvPr/>
        </p:nvSpPr>
        <p:spPr>
          <a:xfrm>
            <a:off x="8641080" y="2560320"/>
            <a:ext cx="2819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Edit docs/deck/content.json: statuses, scorecard values, findings, a new log entry.</a:t>
            </a:r>
            <a:endParaRPr lang="en-US" sz="1400" dirty="0"/>
          </a:p>
        </p:txBody>
      </p:sp>
      <p:sp>
        <p:nvSpPr>
          <p:cNvPr id="24" name="badge-443"/>
          <p:cNvSpPr txBox="1"/>
          <p:nvPr/>
        </p:nvSpPr>
        <p:spPr>
          <a:xfrm>
            <a:off x="8138160" y="3493008"/>
            <a:ext cx="365760" cy="365760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-444"/>
          <p:cNvSpPr txBox="1"/>
          <p:nvPr/>
        </p:nvSpPr>
        <p:spPr>
          <a:xfrm>
            <a:off x="8641080" y="3474720"/>
            <a:ext cx="2819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Run make deck (collects facts from the repo, then builds the .pptx).</a:t>
            </a:r>
            <a:endParaRPr lang="en-US" sz="1400" dirty="0"/>
          </a:p>
        </p:txBody>
      </p:sp>
      <p:sp>
        <p:nvSpPr>
          <p:cNvPr id="26" name="badge-445"/>
          <p:cNvSpPr txBox="1"/>
          <p:nvPr/>
        </p:nvSpPr>
        <p:spPr>
          <a:xfrm>
            <a:off x="8138160" y="4407408"/>
            <a:ext cx="365760" cy="365760"/>
          </a:xfrm>
          <a:prstGeom prst="ellipse">
            <a:avLst/>
          </a:prstGeom>
          <a:solidFill>
            <a:srgbClr val="E3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-446"/>
          <p:cNvSpPr txBox="1"/>
          <p:nvPr/>
        </p:nvSpPr>
        <p:spPr>
          <a:xfrm>
            <a:off x="8641080" y="4389120"/>
            <a:ext cx="2819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</a:rPr>
              <a:t>Commit content.json, facts.json and the .pptx together with the step.</a:t>
            </a:r>
            <a:endParaRPr lang="en-US" sz="1400" dirty="0"/>
          </a:p>
        </p:txBody>
      </p:sp>
      <p:sp>
        <p:nvSpPr>
          <p:cNvPr id="28" name="text-447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Facts collected 2026-10-04 00:15:51 UTC at commit 1020f4f (2026-10-04, 13 commits): Step 2: parse and chunk the AI Act and GDPR with stable IDs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tWise">
  <a:themeElements>
    <a:clrScheme name="ActWise">
      <a:dk1>
        <a:srgbClr val="000000"/>
      </a:dk1>
      <a:lt1>
        <a:srgbClr val="FFFFFF"/>
      </a:lt1>
      <a:dk2>
        <a:srgbClr val="13203A"/>
      </a:dk2>
      <a:lt2>
        <a:srgbClr val="EEF1F6"/>
      </a:lt2>
      <a:accent1>
        <a:srgbClr val="13203A"/>
      </a:accent1>
      <a:accent2>
        <a:srgbClr val="E3A21A"/>
      </a:accent2>
      <a:accent3>
        <a:srgbClr val="14917F"/>
      </a:accent3>
      <a:accent4>
        <a:srgbClr val="D6573B"/>
      </a:accent4>
      <a:accent5>
        <a:srgbClr val="4F6D99"/>
      </a:accent5>
      <a:accent6>
        <a:srgbClr val="5B6B82"/>
      </a:accent6>
      <a:hlink>
        <a:srgbClr val="1F5FA8"/>
      </a:hlink>
      <a:folHlink>
        <a:srgbClr val="6B4E9B"/>
      </a:folHlink>
    </a:clrScheme>
    <a:fontScheme name="ActWi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ActWise project review, iteration 1</dc:title>
  <dc:subject>ActWise: citation-grounded EU AI Act and GDPR assistant</dc:subject>
  <dc:creator>Youssef ADOUIRI ALAOUI</dc:creator>
  <cp:lastModifiedBy>Youssef ADOUIRI ALAOUI</cp:lastModifiedBy>
  <cp:revision>1</cp:revision>
  <dcterms:created xsi:type="dcterms:W3CDTF">2026-10-04T00:35:49Z</dcterms:created>
  <dcterms:modified xsi:type="dcterms:W3CDTF">2026-10-04T00:35:49Z</dcterms:modified>
</cp:coreProperties>
</file>